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74" r:id="rId3"/>
    <p:sldId id="264" r:id="rId4"/>
    <p:sldId id="273" r:id="rId5"/>
    <p:sldId id="265" r:id="rId6"/>
    <p:sldId id="267" r:id="rId7"/>
    <p:sldId id="269" r:id="rId8"/>
    <p:sldId id="27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AB2A32-8875-4B56-AD91-876A54D2D062}" type="doc">
      <dgm:prSet loTypeId="urn:microsoft.com/office/officeart/2005/8/layout/hierarchy3" loCatId="hierarchy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s-ES"/>
        </a:p>
      </dgm:t>
    </dgm:pt>
    <dgm:pt modelId="{6F42CF86-3F54-4A77-B3C6-70D85F4ADA8A}">
      <dgm:prSet phldrT="[Texto]" custT="1"/>
      <dgm:spPr/>
      <dgm:t>
        <a:bodyPr/>
        <a:lstStyle/>
        <a:p>
          <a:pPr algn="l">
            <a:lnSpc>
              <a:spcPct val="100000"/>
            </a:lnSpc>
            <a:spcAft>
              <a:spcPts val="0"/>
            </a:spcAft>
          </a:pPr>
          <a:r>
            <a:rPr lang="es-ES" sz="3600" dirty="0"/>
            <a:t>DELETE [IGNORE] [tabla1, ...] FROM {tabla | </a:t>
          </a:r>
          <a:r>
            <a:rPr lang="es-ES" sz="3600" dirty="0" err="1"/>
            <a:t>combinacion</a:t>
          </a:r>
          <a:r>
            <a:rPr lang="es-ES" sz="3600" dirty="0"/>
            <a:t> de tablas}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s-ES" sz="3600" dirty="0"/>
            <a:t>[WHERE </a:t>
          </a:r>
          <a:r>
            <a:rPr lang="es-ES" sz="3600" dirty="0" err="1"/>
            <a:t>condicion</a:t>
          </a:r>
          <a:r>
            <a:rPr lang="es-ES" sz="3600" dirty="0"/>
            <a:t>]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s-ES" sz="3600" dirty="0"/>
            <a:t>[ORDER BY criterio] </a:t>
          </a:r>
        </a:p>
        <a:p>
          <a:pPr algn="l">
            <a:lnSpc>
              <a:spcPct val="100000"/>
            </a:lnSpc>
            <a:spcAft>
              <a:spcPts val="0"/>
            </a:spcAft>
          </a:pPr>
          <a:r>
            <a:rPr lang="es-ES" sz="3600" dirty="0"/>
            <a:t>[LIMIT </a:t>
          </a:r>
          <a:r>
            <a:rPr lang="es-ES" sz="3600" dirty="0" err="1"/>
            <a:t>num_filas</a:t>
          </a:r>
          <a:r>
            <a:rPr lang="es-ES" sz="3600" dirty="0"/>
            <a:t>] </a:t>
          </a:r>
        </a:p>
      </dgm:t>
    </dgm:pt>
    <dgm:pt modelId="{0D262F37-AE1F-4EAB-A9AE-0190F0B0E7A7}" type="parTrans" cxnId="{B90187B4-F4A5-432B-9CBD-17B697C78A7A}">
      <dgm:prSet/>
      <dgm:spPr/>
      <dgm:t>
        <a:bodyPr/>
        <a:lstStyle/>
        <a:p>
          <a:endParaRPr lang="es-ES"/>
        </a:p>
      </dgm:t>
    </dgm:pt>
    <dgm:pt modelId="{3DE1D365-24B3-4772-9267-C540103F9DAF}" type="sibTrans" cxnId="{B90187B4-F4A5-432B-9CBD-17B697C78A7A}">
      <dgm:prSet/>
      <dgm:spPr/>
      <dgm:t>
        <a:bodyPr/>
        <a:lstStyle/>
        <a:p>
          <a:endParaRPr lang="es-ES"/>
        </a:p>
      </dgm:t>
    </dgm:pt>
    <dgm:pt modelId="{2C857D56-C4DA-4EBC-B09F-85F519E31499}" type="pres">
      <dgm:prSet presAssocID="{0DAB2A32-8875-4B56-AD91-876A54D2D06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BF78430-E7C0-48E1-BD4C-51DFEB182553}" type="pres">
      <dgm:prSet presAssocID="{6F42CF86-3F54-4A77-B3C6-70D85F4ADA8A}" presName="root" presStyleCnt="0"/>
      <dgm:spPr/>
    </dgm:pt>
    <dgm:pt modelId="{3838BDF3-D4A8-451E-9D11-7B42B797287D}" type="pres">
      <dgm:prSet presAssocID="{6F42CF86-3F54-4A77-B3C6-70D85F4ADA8A}" presName="rootComposite" presStyleCnt="0"/>
      <dgm:spPr/>
    </dgm:pt>
    <dgm:pt modelId="{88BEE931-1650-441F-AA44-A38F7B66062B}" type="pres">
      <dgm:prSet presAssocID="{6F42CF86-3F54-4A77-B3C6-70D85F4ADA8A}" presName="rootText" presStyleLbl="node1" presStyleIdx="0" presStyleCnt="1" custScaleY="126653" custLinFactNeighborX="5006" custLinFactNeighborY="23041"/>
      <dgm:spPr/>
    </dgm:pt>
    <dgm:pt modelId="{9B5DBC8D-4EAC-4382-AE8F-C21413BE2CBD}" type="pres">
      <dgm:prSet presAssocID="{6F42CF86-3F54-4A77-B3C6-70D85F4ADA8A}" presName="rootConnector" presStyleLbl="node1" presStyleIdx="0" presStyleCnt="1"/>
      <dgm:spPr/>
    </dgm:pt>
    <dgm:pt modelId="{E34F46FD-85B4-4C6B-A165-4A5EFBC98FD4}" type="pres">
      <dgm:prSet presAssocID="{6F42CF86-3F54-4A77-B3C6-70D85F4ADA8A}" presName="childShape" presStyleCnt="0"/>
      <dgm:spPr/>
    </dgm:pt>
  </dgm:ptLst>
  <dgm:cxnLst>
    <dgm:cxn modelId="{DBC0173A-4FA6-4232-AD04-3B483FBE0877}" type="presOf" srcId="{6F42CF86-3F54-4A77-B3C6-70D85F4ADA8A}" destId="{88BEE931-1650-441F-AA44-A38F7B66062B}" srcOrd="0" destOrd="0" presId="urn:microsoft.com/office/officeart/2005/8/layout/hierarchy3"/>
    <dgm:cxn modelId="{92569749-10FE-4C21-8C22-02AE19116E12}" type="presOf" srcId="{6F42CF86-3F54-4A77-B3C6-70D85F4ADA8A}" destId="{9B5DBC8D-4EAC-4382-AE8F-C21413BE2CBD}" srcOrd="1" destOrd="0" presId="urn:microsoft.com/office/officeart/2005/8/layout/hierarchy3"/>
    <dgm:cxn modelId="{B90187B4-F4A5-432B-9CBD-17B697C78A7A}" srcId="{0DAB2A32-8875-4B56-AD91-876A54D2D062}" destId="{6F42CF86-3F54-4A77-B3C6-70D85F4ADA8A}" srcOrd="0" destOrd="0" parTransId="{0D262F37-AE1F-4EAB-A9AE-0190F0B0E7A7}" sibTransId="{3DE1D365-24B3-4772-9267-C540103F9DAF}"/>
    <dgm:cxn modelId="{14012DDE-D0AE-45D6-A261-FCACD32D8645}" type="presOf" srcId="{0DAB2A32-8875-4B56-AD91-876A54D2D062}" destId="{2C857D56-C4DA-4EBC-B09F-85F519E31499}" srcOrd="0" destOrd="0" presId="urn:microsoft.com/office/officeart/2005/8/layout/hierarchy3"/>
    <dgm:cxn modelId="{0BB08D52-6F60-4677-ADAB-1B190B3804C7}" type="presParOf" srcId="{2C857D56-C4DA-4EBC-B09F-85F519E31499}" destId="{9BF78430-E7C0-48E1-BD4C-51DFEB182553}" srcOrd="0" destOrd="0" presId="urn:microsoft.com/office/officeart/2005/8/layout/hierarchy3"/>
    <dgm:cxn modelId="{98EBA8BA-3E3B-4B37-B5B9-B07DDE44559D}" type="presParOf" srcId="{9BF78430-E7C0-48E1-BD4C-51DFEB182553}" destId="{3838BDF3-D4A8-451E-9D11-7B42B797287D}" srcOrd="0" destOrd="0" presId="urn:microsoft.com/office/officeart/2005/8/layout/hierarchy3"/>
    <dgm:cxn modelId="{4335E4B7-40C0-4891-9289-A4FE1D4D0808}" type="presParOf" srcId="{3838BDF3-D4A8-451E-9D11-7B42B797287D}" destId="{88BEE931-1650-441F-AA44-A38F7B66062B}" srcOrd="0" destOrd="0" presId="urn:microsoft.com/office/officeart/2005/8/layout/hierarchy3"/>
    <dgm:cxn modelId="{7FFD57E2-D924-4687-9DC8-0CF7E0A31F64}" type="presParOf" srcId="{3838BDF3-D4A8-451E-9D11-7B42B797287D}" destId="{9B5DBC8D-4EAC-4382-AE8F-C21413BE2CBD}" srcOrd="1" destOrd="0" presId="urn:microsoft.com/office/officeart/2005/8/layout/hierarchy3"/>
    <dgm:cxn modelId="{A9D9F3D8-B1BC-490D-B70D-2D306FDD3041}" type="presParOf" srcId="{9BF78430-E7C0-48E1-BD4C-51DFEB182553}" destId="{E34F46FD-85B4-4C6B-A165-4A5EFBC98FD4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BEE931-1650-441F-AA44-A38F7B66062B}">
      <dsp:nvSpPr>
        <dsp:cNvPr id="0" name=""/>
        <dsp:cNvSpPr/>
      </dsp:nvSpPr>
      <dsp:spPr>
        <a:xfrm>
          <a:off x="379959" y="4238"/>
          <a:ext cx="6567865" cy="415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45720" rIns="68580" bIns="45720" numCol="1" spcCol="1270" anchor="ctr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s-ES" sz="3600" kern="1200" dirty="0"/>
            <a:t>DELETE [IGNORE] [tabla1, ...] FROM {tabla | </a:t>
          </a:r>
          <a:r>
            <a:rPr lang="es-ES" sz="3600" kern="1200" dirty="0" err="1"/>
            <a:t>combinacion</a:t>
          </a:r>
          <a:r>
            <a:rPr lang="es-ES" sz="3600" kern="1200" dirty="0"/>
            <a:t> de tablas} </a:t>
          </a:r>
        </a:p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s-ES" sz="3600" kern="1200" dirty="0"/>
            <a:t>[WHERE </a:t>
          </a:r>
          <a:r>
            <a:rPr lang="es-ES" sz="3600" kern="1200" dirty="0" err="1"/>
            <a:t>condicion</a:t>
          </a:r>
          <a:r>
            <a:rPr lang="es-ES" sz="3600" kern="1200" dirty="0"/>
            <a:t>] </a:t>
          </a:r>
        </a:p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s-ES" sz="3600" kern="1200" dirty="0"/>
            <a:t>[ORDER BY criterio] </a:t>
          </a:r>
        </a:p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s-ES" sz="3600" kern="1200" dirty="0"/>
            <a:t>[LIMIT </a:t>
          </a:r>
          <a:r>
            <a:rPr lang="es-ES" sz="3600" kern="1200" dirty="0" err="1"/>
            <a:t>num_filas</a:t>
          </a:r>
          <a:r>
            <a:rPr lang="es-ES" sz="3600" kern="1200" dirty="0"/>
            <a:t>] </a:t>
          </a:r>
        </a:p>
      </dsp:txBody>
      <dsp:txXfrm>
        <a:off x="501778" y="126057"/>
        <a:ext cx="6324227" cy="39155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CA3B1-9B74-1E46-F19B-584F528F6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EE93FF-C0D3-98DC-5AE1-F0DC623B8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B9041E-7D72-39A1-3F81-8F907F71B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6B288E-A332-5C72-10D4-6DE1E93CE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2099A9-4A8A-A7CB-2F20-5D4F7110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9438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0EF3E-B5B6-5C2B-F14F-C906016F1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8DBB4C-1B45-6C90-0735-3A098CD5A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943FBC-E7B6-A1E7-B6D3-8232A8257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16ECBC-C93D-8C6E-12FB-A0C138AE0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0477F4-542D-BD01-0E28-3E96A54A4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02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31E19-20C8-349E-425D-F5F26ACF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3A111A-3099-54F7-25F8-6E3CBAE9F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AF5565-B15F-C365-D1CF-72B65B2D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04345A-D46F-EAF6-674A-664792A3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F45F2B-AABF-C70A-ECA7-CFC0F71A3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884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CE9C3-D78F-E3A1-3519-D2D185C0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0A8731-62BD-82D5-731C-54CF27763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AB0C35-8BBA-253B-3309-8B919AE04F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FF237B0-F308-98A9-7F7B-776041D48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FA26E5-A19A-A3A5-7DD4-603695CD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20C404-EEDF-5FDD-1A47-DE5DF2E8B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9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12B266-AB69-28E8-3322-17C5B0DB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AC0816-1817-3CFD-5F89-0C92636DC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354BBF-2025-78B9-7ED5-38165B3DFE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8C624C-4A94-3BDB-FE8A-67E39A400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6B7D376-FF9C-6980-0AAC-BF4E78B53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E598862-C261-7CD2-0FBD-51B96F1A3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8AABCB1-E4DB-0C25-2F5E-15FC3796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0AF35FA-C205-1C68-D328-F456EB609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5102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D6219-31EC-560C-F066-B549E18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EE9B4B-CCAD-D8D1-B67C-030BF037B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5A6F5A3-E0ED-1AF2-79BF-33A69D613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A2CD3E-238B-6B97-7628-BBEC8D7F2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26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8603B24-3B84-FA2C-BB14-61D81E18F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F406DCD-1201-25FB-2DED-6A991A3EC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368216-66EB-184D-2F15-11103AE3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362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61619-9DE6-3006-5B3D-E149EF848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0482A9-3116-E664-46B7-ECBFE3DFB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38FE06-A72B-2E1C-11F0-704BC1B57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2B665D-40F2-E6B8-09C7-695678A49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E6C14F-83E2-A161-F1CE-D572649F3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040BFD-C9BC-72FC-0A28-3896CAC6E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0438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65158-D50A-6533-ACAB-5B4A1A488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1D48538-E2A4-BE88-ACD9-A6BA262A63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865AEF-205E-20F2-C538-E9756C8AC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C794A6D-DB8E-9A10-308A-6B1A36812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F1768F-97EA-B609-7D44-9265EBBF2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6CFCEF-254B-389F-2C4C-4AADA7F0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5431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5B4F4D-15A9-C410-36ED-C21F82285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AB13421-94DE-F04C-E118-BB85AE5D83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F11120-D5FE-055F-F599-192239792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4D04D51-FEDD-9AD4-4311-393250D5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100E7C-110F-2FF8-4796-CBB90184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7678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5CBE97-D978-830B-27D0-C08948F72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CAAEE1-FC78-698E-A084-94CF02BCED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54E23-DBB0-52B2-7160-9C5ACDF3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14223E-2585-D7A1-F9B8-42F2CC6F9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FDE175-4361-5C20-EA17-52AD4F983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534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BFB2BC-6F32-A892-7CE4-F50CA8BA6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B74661-3A20-5F77-2E82-1DC5D986C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0F5479-412B-B880-BEDA-02FB42DC2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D7F5CD-A892-4DA9-A5F6-DDD2D95BCF90}" type="datetimeFigureOut">
              <a:rPr lang="es-ES" smtClean="0"/>
              <a:t>24/03/2026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7960ED-8700-F4E4-A3B9-50A651F67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14A7CC-07DB-679D-4BBF-02E305D67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3858A0-B9D9-42F2-8E45-00E66D4CE99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4942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8699-F1CB-F531-7228-3A16ED4F5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D5D734D-D325-8085-0740-51FF77D83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65125"/>
            <a:ext cx="5257800" cy="1325563"/>
          </a:xfrm>
        </p:spPr>
        <p:txBody>
          <a:bodyPr>
            <a:normAutofit/>
          </a:bodyPr>
          <a:lstStyle/>
          <a:p>
            <a:r>
              <a:rPr lang="es-ES" b="1" dirty="0"/>
              <a:t>INSTRUCCIÓN DELETE</a:t>
            </a:r>
          </a:p>
        </p:txBody>
      </p:sp>
      <p:pic>
        <p:nvPicPr>
          <p:cNvPr id="9" name="Picture 8" descr="Patrón de fondo&#10;&#10;Descripción generada automáticamente">
            <a:extLst>
              <a:ext uri="{FF2B5EF4-FFF2-40B4-BE49-F238E27FC236}">
                <a16:creationId xmlns:a16="http://schemas.microsoft.com/office/drawing/2014/main" id="{95472E13-BE98-1DAE-ED49-2BB65E705F0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12" r="4916" b="2"/>
          <a:stretch/>
        </p:blipFill>
        <p:spPr>
          <a:xfrm>
            <a:off x="726252" y="693100"/>
            <a:ext cx="4643496" cy="3827831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4B696C77-A87E-14EA-EBE9-92A88D3901AC}"/>
              </a:ext>
            </a:extLst>
          </p:cNvPr>
          <p:cNvGraphicFramePr/>
          <p:nvPr/>
        </p:nvGraphicFramePr>
        <p:xfrm>
          <a:off x="4922196" y="1848255"/>
          <a:ext cx="6947825" cy="41634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9810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509AE0-5ECF-D211-1EF6-49FE88DFC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390"/>
            <a:ext cx="6155988" cy="1182927"/>
          </a:xfrm>
        </p:spPr>
        <p:txBody>
          <a:bodyPr anchor="b">
            <a:normAutofit fontScale="90000"/>
          </a:bodyPr>
          <a:lstStyle/>
          <a:p>
            <a:r>
              <a:rPr lang="es-ES" sz="5200"/>
              <a:t>INSTRUCCIÓN DELETE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2B040F-ECC1-900F-4240-1798D18AD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6" y="2829330"/>
            <a:ext cx="6190412" cy="3344459"/>
          </a:xfrm>
        </p:spPr>
        <p:txBody>
          <a:bodyPr anchor="t">
            <a:normAutofit/>
          </a:bodyPr>
          <a:lstStyle/>
          <a:p>
            <a:pPr marL="1343025" indent="0">
              <a:buNone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  <a:latin typeface="Arial Unicode MS" panose="020B0604020202020204" pitchFamily="34" charset="-128"/>
              </a:rPr>
              <a:t>DELETE FROM 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  <a:latin typeface="Arial Unicode MS" panose="020B0604020202020204" pitchFamily="34" charset="-128"/>
              </a:rPr>
              <a:t> WHERE ….. </a:t>
            </a:r>
            <a:endParaRPr kumimoji="0" lang="es-ES" altLang="es-ES" sz="20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  <a:alpha val="80000"/>
                </a:schemeClr>
              </a:solidFill>
              <a:effectLst/>
              <a:latin typeface="Arial" panose="020B0604020202020204" pitchFamily="34" charset="0"/>
            </a:endParaRP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Instrucción para borrar datos de una tabla y las condiciones de borrado son en la misma tabla.</a:t>
            </a:r>
          </a:p>
          <a:p>
            <a:r>
              <a:rPr lang="es-ES" sz="2000" dirty="0">
                <a:solidFill>
                  <a:schemeClr val="tx1">
                    <a:alpha val="80000"/>
                  </a:schemeClr>
                </a:solidFill>
              </a:rPr>
              <a:t>Ejemplo:</a:t>
            </a:r>
          </a:p>
          <a:p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  <a:p>
            <a:pPr marL="1343025" indent="0">
              <a:buNone/>
            </a:pPr>
            <a:r>
              <a:rPr lang="es-ES" altLang="es-ES" sz="2000" dirty="0">
                <a:solidFill>
                  <a:schemeClr val="accent1">
                    <a:lumMod val="75000"/>
                    <a:alpha val="80000"/>
                  </a:schemeClr>
                </a:solidFill>
                <a:latin typeface="Arial Unicode MS" panose="020B0604020202020204" pitchFamily="34" charset="-128"/>
              </a:rPr>
              <a:t>DELETE FROM contratos </a:t>
            </a:r>
          </a:p>
          <a:p>
            <a:pPr marL="1343025" indent="0">
              <a:buNone/>
            </a:pPr>
            <a:r>
              <a:rPr lang="es-ES" altLang="es-ES" sz="2000" dirty="0">
                <a:solidFill>
                  <a:schemeClr val="accent1">
                    <a:lumMod val="75000"/>
                    <a:alpha val="80000"/>
                  </a:schemeClr>
                </a:solidFill>
                <a:latin typeface="Arial Unicode MS" panose="020B0604020202020204" pitchFamily="34" charset="-128"/>
              </a:rPr>
              <a:t>WHERE </a:t>
            </a:r>
            <a:r>
              <a:rPr lang="es-ES" altLang="es-ES" sz="2000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Arial Unicode MS" panose="020B0604020202020204" pitchFamily="34" charset="-128"/>
              </a:rPr>
              <a:t>fini</a:t>
            </a:r>
            <a:r>
              <a:rPr lang="es-ES" altLang="es-ES" sz="2000" dirty="0">
                <a:solidFill>
                  <a:schemeClr val="accent1">
                    <a:lumMod val="75000"/>
                    <a:alpha val="80000"/>
                  </a:schemeClr>
                </a:solidFill>
                <a:latin typeface="Arial Unicode MS" panose="020B0604020202020204" pitchFamily="34" charset="-128"/>
              </a:rPr>
              <a:t>=</a:t>
            </a:r>
            <a:r>
              <a:rPr lang="es-ES" altLang="es-ES" sz="2000" dirty="0" err="1">
                <a:solidFill>
                  <a:schemeClr val="accent1">
                    <a:lumMod val="75000"/>
                    <a:alpha val="80000"/>
                  </a:schemeClr>
                </a:solidFill>
                <a:latin typeface="Arial Unicode MS" panose="020B0604020202020204" pitchFamily="34" charset="-128"/>
              </a:rPr>
              <a:t>curdate</a:t>
            </a:r>
            <a:r>
              <a:rPr lang="es-ES" altLang="es-ES" sz="2000" dirty="0">
                <a:solidFill>
                  <a:schemeClr val="accent1">
                    <a:lumMod val="75000"/>
                    <a:alpha val="80000"/>
                  </a:schemeClr>
                </a:solidFill>
                <a:latin typeface="Arial Unicode MS" panose="020B0604020202020204" pitchFamily="34" charset="-128"/>
              </a:rPr>
              <a:t>(); </a:t>
            </a:r>
          </a:p>
          <a:p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7" name="Graphic 6" descr="Borrador">
            <a:extLst>
              <a:ext uri="{FF2B5EF4-FFF2-40B4-BE49-F238E27FC236}">
                <a16:creationId xmlns:a16="http://schemas.microsoft.com/office/drawing/2014/main" id="{5DF82CD2-C653-F77F-B563-83A346529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72653" y="1980885"/>
            <a:ext cx="3548404" cy="354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865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47099-BD5B-86A0-66A7-5E10F3345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D3CCF06D-3E73-B033-4863-ACFDF06C2FAD}"/>
              </a:ext>
            </a:extLst>
          </p:cNvPr>
          <p:cNvSpPr/>
          <p:nvPr/>
        </p:nvSpPr>
        <p:spPr>
          <a:xfrm>
            <a:off x="4087291" y="294507"/>
            <a:ext cx="2008710" cy="139618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7DA78C-7441-79D4-4366-4925F576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INSTRUCCIÓN DELETE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7A96FF-729D-6D80-5793-790E69CBE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DELETE FROM </a:t>
            </a:r>
            <a:r>
              <a:rPr lang="en-US" dirty="0" err="1">
                <a:solidFill>
                  <a:srgbClr val="FF0000"/>
                </a:solidFill>
              </a:rPr>
              <a:t>contratos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ffin</a:t>
            </a:r>
            <a:r>
              <a:rPr lang="en-US" dirty="0"/>
              <a:t>&lt;</a:t>
            </a:r>
            <a:r>
              <a:rPr lang="en-US" dirty="0" err="1"/>
              <a:t>date_sub</a:t>
            </a:r>
            <a:r>
              <a:rPr lang="en-US" dirty="0"/>
              <a:t>(</a:t>
            </a:r>
            <a:r>
              <a:rPr lang="en-US" dirty="0" err="1"/>
              <a:t>curdate</a:t>
            </a:r>
            <a:r>
              <a:rPr lang="en-US" dirty="0"/>
              <a:t>(),INTERVAL 1 YEAR);</a:t>
            </a:r>
          </a:p>
          <a:p>
            <a:pPr marL="0" indent="0">
              <a:buNone/>
            </a:pPr>
            <a:r>
              <a:rPr lang="es-ES" dirty="0"/>
              <a:t>					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</a:rPr>
              <a:t>START TRANSACTION;</a:t>
            </a:r>
          </a:p>
          <a:p>
            <a:pPr marL="0" indent="0">
              <a:buNone/>
            </a:pPr>
            <a:r>
              <a:rPr lang="es-ES" dirty="0"/>
              <a:t>	DELETE FROM contratos </a:t>
            </a:r>
          </a:p>
          <a:p>
            <a:pPr marL="0" indent="0">
              <a:buNone/>
            </a:pPr>
            <a:r>
              <a:rPr lang="es-ES" dirty="0"/>
              <a:t>	ORDER BY </a:t>
            </a:r>
            <a:r>
              <a:rPr lang="es-ES" dirty="0" err="1"/>
              <a:t>numcontrato</a:t>
            </a:r>
            <a:r>
              <a:rPr lang="es-ES" dirty="0"/>
              <a:t> DESC LIMIT 1;</a:t>
            </a:r>
          </a:p>
          <a:p>
            <a:pPr marL="0" indent="0">
              <a:buNone/>
            </a:pPr>
            <a:r>
              <a:rPr lang="es-ES" dirty="0">
                <a:highlight>
                  <a:srgbClr val="FFFF00"/>
                </a:highlight>
              </a:rPr>
              <a:t>ROLLBACK;</a:t>
            </a:r>
          </a:p>
          <a:p>
            <a:pPr marL="0" indent="0">
              <a:buNone/>
            </a:pPr>
            <a:endParaRPr lang="es-ES" dirty="0"/>
          </a:p>
          <a:p>
            <a:endParaRPr lang="es-ES" dirty="0"/>
          </a:p>
        </p:txBody>
      </p:sp>
      <p:sp>
        <p:nvSpPr>
          <p:cNvPr id="11" name="Rayo 10">
            <a:extLst>
              <a:ext uri="{FF2B5EF4-FFF2-40B4-BE49-F238E27FC236}">
                <a16:creationId xmlns:a16="http://schemas.microsoft.com/office/drawing/2014/main" id="{7154E2E7-2A3F-9389-4273-0414E22AE0F0}"/>
              </a:ext>
            </a:extLst>
          </p:cNvPr>
          <p:cNvSpPr/>
          <p:nvPr/>
        </p:nvSpPr>
        <p:spPr>
          <a:xfrm>
            <a:off x="8813260" y="1341066"/>
            <a:ext cx="1877439" cy="1128409"/>
          </a:xfrm>
          <a:prstGeom prst="lightningBol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1" i="0" u="none" strike="noStrike" kern="1200" cap="none" spc="0" normalizeH="0" baseline="0" noProof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6" descr="Employee Badge">
            <a:extLst>
              <a:ext uri="{FF2B5EF4-FFF2-40B4-BE49-F238E27FC236}">
                <a16:creationId xmlns:a16="http://schemas.microsoft.com/office/drawing/2014/main" id="{02EDD861-315E-12B3-065E-0EEAAAA0AB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2043" y="4793254"/>
            <a:ext cx="1877439" cy="1877439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5926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3FC52D-A0EF-01D7-9488-74403A499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510" y="250112"/>
            <a:ext cx="6155988" cy="461236"/>
          </a:xfrm>
        </p:spPr>
        <p:txBody>
          <a:bodyPr anchor="b">
            <a:normAutofit fontScale="90000"/>
          </a:bodyPr>
          <a:lstStyle/>
          <a:p>
            <a:r>
              <a:rPr lang="es-ES" sz="5200" dirty="0"/>
              <a:t>INSTRUCCIÓN DELETE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33B38F-4D79-5B44-77DB-8EDC72006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775" y="1132610"/>
            <a:ext cx="7980301" cy="5041180"/>
          </a:xfrm>
        </p:spPr>
        <p:txBody>
          <a:bodyPr anchor="t">
            <a:normAutofit lnSpcReduction="10000"/>
          </a:bodyPr>
          <a:lstStyle/>
          <a:p>
            <a:pPr marL="717550" indent="0">
              <a:buNone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DELETE [IGNORE] [tabla1, ...] </a:t>
            </a:r>
          </a:p>
          <a:p>
            <a:pPr marL="717550" indent="0">
              <a:buNone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FROM {tabla |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combinacion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 de tablas} </a:t>
            </a:r>
          </a:p>
          <a:p>
            <a:pPr marL="717550" indent="0">
              <a:buNone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[WHERE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condicion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] </a:t>
            </a:r>
          </a:p>
          <a:p>
            <a:pPr marL="717550" indent="0">
              <a:buNone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[ORDER BY criterio] </a:t>
            </a:r>
          </a:p>
          <a:p>
            <a:pPr marL="717550" indent="0">
              <a:buNone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[LIMIT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num_filas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  <a:alpha val="80000"/>
                  </a:schemeClr>
                </a:solidFill>
                <a:effectLst/>
              </a:rPr>
              <a:t>] </a:t>
            </a:r>
          </a:p>
          <a:p>
            <a:pPr>
              <a:buFont typeface="+mj-lt"/>
              <a:buAutoNum type="arabicPeriod"/>
            </a:pPr>
            <a:r>
              <a:rPr lang="es-ES" sz="2400" dirty="0">
                <a:solidFill>
                  <a:schemeClr val="tx1">
                    <a:alpha val="80000"/>
                  </a:schemeClr>
                </a:solidFill>
              </a:rPr>
              <a:t>Detrás de DELETE se indica la tabla o las tablas en las que se eliminan filas </a:t>
            </a:r>
          </a:p>
          <a:p>
            <a:pPr>
              <a:buFont typeface="+mj-lt"/>
              <a:buAutoNum type="arabicPeriod"/>
            </a:pPr>
            <a:r>
              <a:rPr lang="es-ES" sz="2400" dirty="0">
                <a:solidFill>
                  <a:schemeClr val="tx1">
                    <a:alpha val="80000"/>
                  </a:schemeClr>
                </a:solidFill>
              </a:rPr>
              <a:t>Detrás de FROM o USING se indica la tabla o la combinación de tablas (INNER JOIN, LEFT JOIN, producto cartesiano) sobre las que se va a condicionar el borrado o eliminación. Necesariamente la tabla de la que se eliminan filas tiene que formar parte de la combinación de tablas.</a:t>
            </a:r>
          </a:p>
          <a:p>
            <a:endParaRPr lang="es-ES" sz="1400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7" name="Graphic 6" descr="Basura">
            <a:extLst>
              <a:ext uri="{FF2B5EF4-FFF2-40B4-BE49-F238E27FC236}">
                <a16:creationId xmlns:a16="http://schemas.microsoft.com/office/drawing/2014/main" id="{8B9C7CC5-CC49-A8F1-557A-0C0442D8F9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60339" y="1980885"/>
            <a:ext cx="2560717" cy="256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767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0DCD-19B5-1AD6-7BEC-2A428AA75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6" descr="Employee Badge">
            <a:extLst>
              <a:ext uri="{FF2B5EF4-FFF2-40B4-BE49-F238E27FC236}">
                <a16:creationId xmlns:a16="http://schemas.microsoft.com/office/drawing/2014/main" id="{2ED95223-2AEA-AF23-D602-DB5BE8F56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5311" y="5065629"/>
            <a:ext cx="1877439" cy="1877439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8E48DBCC-8663-481B-147D-2981C25D81CC}"/>
              </a:ext>
            </a:extLst>
          </p:cNvPr>
          <p:cNvSpPr/>
          <p:nvPr/>
        </p:nvSpPr>
        <p:spPr>
          <a:xfrm>
            <a:off x="4087290" y="0"/>
            <a:ext cx="2008710" cy="139618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587F30C-BD8B-2E46-F178-C810C55F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INSTRUCCIÓN DELETE PARA BORRAR EN VARIAS TABLAS.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3E9262-1E45-6CF7-9D45-001A95D71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DELETE </a:t>
            </a:r>
            <a:r>
              <a:rPr lang="es-ES" dirty="0">
                <a:solidFill>
                  <a:srgbClr val="FF0000"/>
                </a:solidFill>
              </a:rPr>
              <a:t>contratos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dirty="0"/>
              <a:t>FROM </a:t>
            </a:r>
            <a:r>
              <a:rPr lang="es-ES" dirty="0">
                <a:highlight>
                  <a:srgbClr val="FFFF00"/>
                </a:highlight>
              </a:rPr>
              <a:t>contratos INNER JOIN clientes </a:t>
            </a:r>
            <a:r>
              <a:rPr lang="es-ES" dirty="0"/>
              <a:t>ON </a:t>
            </a:r>
            <a:r>
              <a:rPr lang="es-ES" dirty="0" err="1"/>
              <a:t>dnicliente</a:t>
            </a:r>
            <a:r>
              <a:rPr lang="es-ES" dirty="0"/>
              <a:t>=</a:t>
            </a:r>
            <a:r>
              <a:rPr lang="es-ES" dirty="0" err="1"/>
              <a:t>dni</a:t>
            </a:r>
            <a:r>
              <a:rPr lang="es-ES" dirty="0"/>
              <a:t> </a:t>
            </a:r>
          </a:p>
          <a:p>
            <a:pPr marL="0" indent="0">
              <a:buNone/>
            </a:pPr>
            <a:r>
              <a:rPr lang="es-ES" dirty="0"/>
              <a:t>WHERE </a:t>
            </a:r>
            <a:r>
              <a:rPr lang="es-ES" dirty="0">
                <a:highlight>
                  <a:srgbClr val="00FFFF"/>
                </a:highlight>
              </a:rPr>
              <a:t>nombre</a:t>
            </a:r>
            <a:r>
              <a:rPr lang="es-ES" dirty="0"/>
              <a:t>='</a:t>
            </a:r>
            <a:r>
              <a:rPr lang="es-ES" dirty="0" err="1"/>
              <a:t>carlos</a:t>
            </a:r>
            <a:r>
              <a:rPr lang="es-ES" dirty="0"/>
              <a:t> </a:t>
            </a:r>
            <a:r>
              <a:rPr lang="es-ES" dirty="0" err="1"/>
              <a:t>javier</a:t>
            </a:r>
            <a:r>
              <a:rPr lang="es-ES" dirty="0"/>
              <a:t>' </a:t>
            </a:r>
          </a:p>
          <a:p>
            <a:pPr marL="0" indent="0">
              <a:buNone/>
            </a:pPr>
            <a:r>
              <a:rPr lang="es-ES" dirty="0"/>
              <a:t>AND </a:t>
            </a:r>
            <a:r>
              <a:rPr lang="es-ES" dirty="0">
                <a:highlight>
                  <a:srgbClr val="00FFFF"/>
                </a:highlight>
              </a:rPr>
              <a:t>apellidos</a:t>
            </a:r>
            <a:r>
              <a:rPr lang="es-ES" dirty="0"/>
              <a:t>='</a:t>
            </a:r>
            <a:r>
              <a:rPr lang="es-ES" dirty="0" err="1"/>
              <a:t>lopez</a:t>
            </a:r>
            <a:r>
              <a:rPr lang="es-ES" dirty="0"/>
              <a:t> </a:t>
            </a:r>
            <a:r>
              <a:rPr lang="es-ES" dirty="0" err="1"/>
              <a:t>carvajal</a:t>
            </a:r>
            <a:r>
              <a:rPr lang="es-ES" dirty="0"/>
              <a:t>’;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Borras de una tabla, pero la condición está en otra tabla.</a:t>
            </a:r>
          </a:p>
          <a:p>
            <a:r>
              <a:rPr lang="es-ES" dirty="0"/>
              <a:t>En este caso, borras los contratos de Carlos Javier </a:t>
            </a:r>
            <a:r>
              <a:rPr lang="es-ES" dirty="0" err="1"/>
              <a:t>Lopez</a:t>
            </a:r>
            <a:r>
              <a:rPr lang="es-ES" dirty="0"/>
              <a:t> Carvajal</a:t>
            </a:r>
          </a:p>
        </p:txBody>
      </p:sp>
      <p:sp>
        <p:nvSpPr>
          <p:cNvPr id="11" name="Rayo 10">
            <a:extLst>
              <a:ext uri="{FF2B5EF4-FFF2-40B4-BE49-F238E27FC236}">
                <a16:creationId xmlns:a16="http://schemas.microsoft.com/office/drawing/2014/main" id="{ABAFB417-36F3-96E5-75A5-C1CC564750B9}"/>
              </a:ext>
            </a:extLst>
          </p:cNvPr>
          <p:cNvSpPr/>
          <p:nvPr/>
        </p:nvSpPr>
        <p:spPr>
          <a:xfrm>
            <a:off x="8813260" y="1341066"/>
            <a:ext cx="1877439" cy="1128409"/>
          </a:xfrm>
          <a:prstGeom prst="lightningBol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1" i="0" u="none" strike="noStrike" kern="1200" cap="none" spc="0" normalizeH="0" baseline="0" noProof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0074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84FEF-5067-1F7F-657C-D54ED32A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yo 10">
            <a:extLst>
              <a:ext uri="{FF2B5EF4-FFF2-40B4-BE49-F238E27FC236}">
                <a16:creationId xmlns:a16="http://schemas.microsoft.com/office/drawing/2014/main" id="{26F57628-567D-956D-6CFF-6C325AD3D84B}"/>
              </a:ext>
            </a:extLst>
          </p:cNvPr>
          <p:cNvSpPr/>
          <p:nvPr/>
        </p:nvSpPr>
        <p:spPr>
          <a:xfrm>
            <a:off x="8813260" y="1341066"/>
            <a:ext cx="1877439" cy="1128409"/>
          </a:xfrm>
          <a:prstGeom prst="lightningBol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1" i="0" u="none" strike="noStrike" kern="1200" cap="none" spc="0" normalizeH="0" baseline="0" noProof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6" descr="Employee Badge">
            <a:extLst>
              <a:ext uri="{FF2B5EF4-FFF2-40B4-BE49-F238E27FC236}">
                <a16:creationId xmlns:a16="http://schemas.microsoft.com/office/drawing/2014/main" id="{820F4C46-3A5A-0038-3CDE-169A3955D9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5311" y="5065629"/>
            <a:ext cx="1877439" cy="1877439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F373438C-7215-1FDE-DEC0-A4A3E95C0E28}"/>
              </a:ext>
            </a:extLst>
          </p:cNvPr>
          <p:cNvSpPr/>
          <p:nvPr/>
        </p:nvSpPr>
        <p:spPr>
          <a:xfrm>
            <a:off x="4087290" y="0"/>
            <a:ext cx="2008710" cy="139618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55C8B9-2C50-E1A0-5B8D-298AC15F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INSTRUCCIÓN DELETE PARA BORRAR EN VARIAS TABLAS.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0DFF91-2963-1303-F409-5108AFA14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Imagina querer borrar todos los contratos de Mariano Dorado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DELETE FROM clientes 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WHERE nombre='mariano' 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AND apellidos='dorado’;</a:t>
            </a:r>
          </a:p>
          <a:p>
            <a:r>
              <a:rPr lang="es-ES" dirty="0"/>
              <a:t>Esto funcionaría si tuviéramos borrado en cascada, al borrar los clientes, borras sus contratos.</a:t>
            </a:r>
          </a:p>
          <a:p>
            <a:r>
              <a:rPr lang="es-ES" dirty="0"/>
              <a:t>Pero si tienes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delete</a:t>
            </a:r>
            <a:r>
              <a:rPr lang="es-ES" dirty="0"/>
              <a:t> no </a:t>
            </a:r>
            <a:r>
              <a:rPr lang="es-ES" dirty="0" err="1"/>
              <a:t>action</a:t>
            </a:r>
            <a:r>
              <a:rPr lang="es-ES" dirty="0"/>
              <a:t>, esto no funciona.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7248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789CA-9C15-0BCE-DF71-2759B27C8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yo 10">
            <a:extLst>
              <a:ext uri="{FF2B5EF4-FFF2-40B4-BE49-F238E27FC236}">
                <a16:creationId xmlns:a16="http://schemas.microsoft.com/office/drawing/2014/main" id="{08E10DA6-246F-B3BE-ABCA-DDA85F0BFCAA}"/>
              </a:ext>
            </a:extLst>
          </p:cNvPr>
          <p:cNvSpPr/>
          <p:nvPr/>
        </p:nvSpPr>
        <p:spPr>
          <a:xfrm>
            <a:off x="8813260" y="1341066"/>
            <a:ext cx="1877439" cy="1128409"/>
          </a:xfrm>
          <a:prstGeom prst="lightningBol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1" i="0" u="none" strike="noStrike" kern="1200" cap="none" spc="0" normalizeH="0" baseline="0" noProof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6" descr="Employee Badge">
            <a:extLst>
              <a:ext uri="{FF2B5EF4-FFF2-40B4-BE49-F238E27FC236}">
                <a16:creationId xmlns:a16="http://schemas.microsoft.com/office/drawing/2014/main" id="{A28F16F9-9FD7-E427-70A0-05D9B2726D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5311" y="5065629"/>
            <a:ext cx="1877439" cy="1877439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353C342D-D897-EFCA-B1C1-34B76A6264D0}"/>
              </a:ext>
            </a:extLst>
          </p:cNvPr>
          <p:cNvSpPr/>
          <p:nvPr/>
        </p:nvSpPr>
        <p:spPr>
          <a:xfrm>
            <a:off x="4087290" y="0"/>
            <a:ext cx="2008710" cy="139618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E3CB26-1003-FE60-2F8E-83E5B37D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INSTRUCCIÓN DELETE PARA BORRAR EN VARIAS TABLAS.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7D397C-59E4-E4D6-7AC8-A14FD8BBA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Una opción para borrar los contratos y al cliente Mariano Dorado podría ser la siguiente: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DELETE </a:t>
            </a:r>
            <a:r>
              <a:rPr lang="es-ES" dirty="0" err="1">
                <a:highlight>
                  <a:srgbClr val="FFFF00"/>
                </a:highlight>
              </a:rPr>
              <a:t>clientes,contratos</a:t>
            </a:r>
            <a:r>
              <a:rPr lang="es-ES" dirty="0">
                <a:highlight>
                  <a:srgbClr val="FFFF00"/>
                </a:highlight>
              </a:rPr>
              <a:t> 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FROM contratos INNER JOIN clientes ON </a:t>
            </a:r>
            <a:r>
              <a:rPr lang="es-ES" dirty="0" err="1">
                <a:highlight>
                  <a:srgbClr val="00FFFF"/>
                </a:highlight>
              </a:rPr>
              <a:t>dnicliente</a:t>
            </a:r>
            <a:r>
              <a:rPr lang="es-ES" dirty="0">
                <a:highlight>
                  <a:srgbClr val="00FFFF"/>
                </a:highlight>
              </a:rPr>
              <a:t>=</a:t>
            </a:r>
            <a:r>
              <a:rPr lang="es-ES" dirty="0" err="1">
                <a:highlight>
                  <a:srgbClr val="00FFFF"/>
                </a:highlight>
              </a:rPr>
              <a:t>dni</a:t>
            </a:r>
            <a:r>
              <a:rPr lang="es-ES" dirty="0">
                <a:highlight>
                  <a:srgbClr val="00FFFF"/>
                </a:highlight>
              </a:rPr>
              <a:t> 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WHERE nombre='mariano' 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AND apellidos='dorado';</a:t>
            </a:r>
          </a:p>
          <a:p>
            <a:r>
              <a:rPr lang="es-ES" dirty="0"/>
              <a:t>Pero si tienes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delete</a:t>
            </a:r>
            <a:r>
              <a:rPr lang="es-ES" dirty="0"/>
              <a:t> no </a:t>
            </a:r>
            <a:r>
              <a:rPr lang="es-ES" dirty="0" err="1"/>
              <a:t>action</a:t>
            </a:r>
            <a:r>
              <a:rPr lang="es-ES" dirty="0"/>
              <a:t>, esto TAMPOCO FUNCIONA.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3291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B046A-9FFA-A7D0-F197-D84611AC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ayo 10">
            <a:extLst>
              <a:ext uri="{FF2B5EF4-FFF2-40B4-BE49-F238E27FC236}">
                <a16:creationId xmlns:a16="http://schemas.microsoft.com/office/drawing/2014/main" id="{8CCE1555-BB69-BB86-D802-C3371BA33E46}"/>
              </a:ext>
            </a:extLst>
          </p:cNvPr>
          <p:cNvSpPr/>
          <p:nvPr/>
        </p:nvSpPr>
        <p:spPr>
          <a:xfrm>
            <a:off x="8813260" y="1341066"/>
            <a:ext cx="1877439" cy="1128409"/>
          </a:xfrm>
          <a:prstGeom prst="lightningBol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1" i="0" u="none" strike="noStrike" kern="1200" cap="none" spc="0" normalizeH="0" baseline="0" noProof="0">
              <a:ln w="22225">
                <a:solidFill>
                  <a:srgbClr val="ED7D31"/>
                </a:solidFill>
                <a:prstDash val="solid"/>
              </a:ln>
              <a:solidFill>
                <a:srgbClr val="ED7D31">
                  <a:lumMod val="40000"/>
                  <a:lumOff val="6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Graphic 6" descr="Employee Badge">
            <a:extLst>
              <a:ext uri="{FF2B5EF4-FFF2-40B4-BE49-F238E27FC236}">
                <a16:creationId xmlns:a16="http://schemas.microsoft.com/office/drawing/2014/main" id="{C551FC2B-B3DD-E0F6-02E1-BA7EBB5DD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5311" y="5065629"/>
            <a:ext cx="1877439" cy="1877439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D51D6F08-70A6-9653-E300-12DD7310160B}"/>
              </a:ext>
            </a:extLst>
          </p:cNvPr>
          <p:cNvSpPr/>
          <p:nvPr/>
        </p:nvSpPr>
        <p:spPr>
          <a:xfrm>
            <a:off x="4087290" y="0"/>
            <a:ext cx="2008710" cy="139618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9C9F37-DCAC-C46D-6296-A73C821BB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INSTRUCCIÓN DELETE PARA BORRAR EN VARIAS TABLAS.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8DEC8C-16D1-3F85-9EB3-53A80B712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La opción más adecuada, entonces, es hacer el borrado en dos instrucciones distintas. Primero borras los contratos y luego al cliente: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DELETE </a:t>
            </a:r>
            <a:r>
              <a:rPr lang="es-ES" dirty="0">
                <a:highlight>
                  <a:srgbClr val="FFFF00"/>
                </a:highlight>
              </a:rPr>
              <a:t>contratos</a:t>
            </a:r>
            <a:r>
              <a:rPr lang="es-ES" dirty="0">
                <a:highlight>
                  <a:srgbClr val="00FFFF"/>
                </a:highlight>
              </a:rPr>
              <a:t> FROM contratos INNER JOIN clientes ON </a:t>
            </a:r>
            <a:r>
              <a:rPr lang="es-ES" dirty="0" err="1">
                <a:highlight>
                  <a:srgbClr val="00FFFF"/>
                </a:highlight>
              </a:rPr>
              <a:t>dnicliente</a:t>
            </a:r>
            <a:r>
              <a:rPr lang="es-ES" dirty="0">
                <a:highlight>
                  <a:srgbClr val="00FFFF"/>
                </a:highlight>
              </a:rPr>
              <a:t>=</a:t>
            </a:r>
            <a:r>
              <a:rPr lang="es-ES" dirty="0" err="1">
                <a:highlight>
                  <a:srgbClr val="00FFFF"/>
                </a:highlight>
              </a:rPr>
              <a:t>dni</a:t>
            </a:r>
            <a:r>
              <a:rPr lang="es-ES" dirty="0">
                <a:highlight>
                  <a:srgbClr val="00FFFF"/>
                </a:highlight>
              </a:rPr>
              <a:t> 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WHERE nombre='mariano' AND apellidos='dorado';</a:t>
            </a:r>
          </a:p>
          <a:p>
            <a:pPr marL="1166813" indent="0">
              <a:buNone/>
            </a:pPr>
            <a:endParaRPr lang="es-ES" dirty="0">
              <a:highlight>
                <a:srgbClr val="00FFFF"/>
              </a:highlight>
            </a:endParaRP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DELETE FROM </a:t>
            </a:r>
            <a:r>
              <a:rPr lang="es-ES" dirty="0">
                <a:highlight>
                  <a:srgbClr val="FFFF00"/>
                </a:highlight>
              </a:rPr>
              <a:t>clientes</a:t>
            </a:r>
            <a:r>
              <a:rPr lang="es-ES" dirty="0">
                <a:highlight>
                  <a:srgbClr val="00FFFF"/>
                </a:highlight>
              </a:rPr>
              <a:t> </a:t>
            </a:r>
          </a:p>
          <a:p>
            <a:pPr marL="1166813" indent="0">
              <a:buNone/>
            </a:pPr>
            <a:r>
              <a:rPr lang="es-ES" dirty="0">
                <a:highlight>
                  <a:srgbClr val="00FFFF"/>
                </a:highlight>
              </a:rPr>
              <a:t>WHERE nombre='mariano' AND apellidos='dorado';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853756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</Words>
  <Application>Microsoft Office PowerPoint</Application>
  <PresentationFormat>Panorámica</PresentationFormat>
  <Paragraphs>57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 Unicode MS</vt:lpstr>
      <vt:lpstr>Aptos</vt:lpstr>
      <vt:lpstr>Aptos Display</vt:lpstr>
      <vt:lpstr>Arial</vt:lpstr>
      <vt:lpstr>Calibri</vt:lpstr>
      <vt:lpstr>Tema de Office</vt:lpstr>
      <vt:lpstr>INSTRUCCIÓN DELETE</vt:lpstr>
      <vt:lpstr>INSTRUCCIÓN DELETE</vt:lpstr>
      <vt:lpstr>INSTRUCCIÓN DELETE</vt:lpstr>
      <vt:lpstr>INSTRUCCIÓN DELETE</vt:lpstr>
      <vt:lpstr>INSTRUCCIÓN DELETE PARA BORRAR EN VARIAS TABLAS.</vt:lpstr>
      <vt:lpstr>INSTRUCCIÓN DELETE PARA BORRAR EN VARIAS TABLAS.</vt:lpstr>
      <vt:lpstr>INSTRUCCIÓN DELETE PARA BORRAR EN VARIAS TABLAS.</vt:lpstr>
      <vt:lpstr>INSTRUCCIÓN DELETE PARA BORRAR EN VARIAS TABLAS.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Nuria Celis Nieto</dc:creator>
  <cp:lastModifiedBy>Nuria Celis Nieto</cp:lastModifiedBy>
  <cp:revision>1</cp:revision>
  <dcterms:created xsi:type="dcterms:W3CDTF">2026-03-24T18:46:19Z</dcterms:created>
  <dcterms:modified xsi:type="dcterms:W3CDTF">2026-03-24T18:46:51Z</dcterms:modified>
</cp:coreProperties>
</file>