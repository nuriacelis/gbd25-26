
<file path=[Content_Types].xml><?xml version="1.0" encoding="utf-8"?>
<Types xmlns="http://schemas.openxmlformats.org/package/2006/content-types">
  <Default Extension="jpeg" ContentType="image/jpeg"/>
  <Default Extension="mp4" ContentType="video/mp4"/>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22"/>
  </p:notesMasterIdLst>
  <p:sldIdLst>
    <p:sldId id="256" r:id="rId2"/>
    <p:sldId id="2563" r:id="rId3"/>
    <p:sldId id="277" r:id="rId4"/>
    <p:sldId id="295" r:id="rId5"/>
    <p:sldId id="303" r:id="rId6"/>
    <p:sldId id="304" r:id="rId7"/>
    <p:sldId id="278" r:id="rId8"/>
    <p:sldId id="296" r:id="rId9"/>
    <p:sldId id="279" r:id="rId10"/>
    <p:sldId id="280" r:id="rId11"/>
    <p:sldId id="297" r:id="rId12"/>
    <p:sldId id="281" r:id="rId13"/>
    <p:sldId id="298" r:id="rId14"/>
    <p:sldId id="282" r:id="rId15"/>
    <p:sldId id="283" r:id="rId16"/>
    <p:sldId id="299" r:id="rId17"/>
    <p:sldId id="284" r:id="rId18"/>
    <p:sldId id="285" r:id="rId19"/>
    <p:sldId id="306" r:id="rId20"/>
    <p:sldId id="305" r:id="rId21"/>
  </p:sldIdLst>
  <p:sldSz cx="12192000" cy="6858000"/>
  <p:notesSz cx="6858000" cy="9144000"/>
  <p:defaultTextStyle>
    <a:defPPr>
      <a:defRPr lang="es-E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4995" autoAdjust="0"/>
    <p:restoredTop sz="94660"/>
  </p:normalViewPr>
  <p:slideViewPr>
    <p:cSldViewPr snapToGrid="0">
      <p:cViewPr varScale="1">
        <p:scale>
          <a:sx n="75" d="100"/>
          <a:sy n="75" d="100"/>
        </p:scale>
        <p:origin x="902" y="43"/>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tableStyles" Target="tableStyle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Marcador de encabezado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s-ES"/>
          </a:p>
        </p:txBody>
      </p:sp>
      <p:sp>
        <p:nvSpPr>
          <p:cNvPr id="3" name="Marcador de fecha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EDE86C53-7760-44D1-8DDF-EE9F931C7372}" type="datetimeFigureOut">
              <a:rPr lang="es-ES" smtClean="0"/>
              <a:t>07/04/2026</a:t>
            </a:fld>
            <a:endParaRPr lang="es-ES"/>
          </a:p>
        </p:txBody>
      </p:sp>
      <p:sp>
        <p:nvSpPr>
          <p:cNvPr id="4" name="Marcador de imagen de diapositiva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s-ES"/>
          </a:p>
        </p:txBody>
      </p:sp>
      <p:sp>
        <p:nvSpPr>
          <p:cNvPr id="5" name="Marcador de notas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p>
        </p:txBody>
      </p:sp>
      <p:sp>
        <p:nvSpPr>
          <p:cNvPr id="6" name="Marcador de pie de página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s-ES"/>
          </a:p>
        </p:txBody>
      </p:sp>
      <p:sp>
        <p:nvSpPr>
          <p:cNvPr id="7" name="Marcador de número de diapositiva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5384ED90-76A4-42DC-8842-F1D9D40CBAE5}" type="slidenum">
              <a:rPr lang="es-ES" smtClean="0"/>
              <a:t>‹Nº›</a:t>
            </a:fld>
            <a:endParaRPr lang="es-ES"/>
          </a:p>
        </p:txBody>
      </p:sp>
    </p:spTree>
    <p:extLst>
      <p:ext uri="{BB962C8B-B14F-4D97-AF65-F5344CB8AC3E}">
        <p14:creationId xmlns:p14="http://schemas.microsoft.com/office/powerpoint/2010/main" val="356607948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s-ES"/>
          </a:p>
        </p:txBody>
      </p:sp>
      <p:sp>
        <p:nvSpPr>
          <p:cNvPr id="3" name="Notes Placeholder 2"/>
          <p:cNvSpPr>
            <a:spLocks noGrp="1"/>
          </p:cNvSpPr>
          <p:nvPr>
            <p:ph type="body" idx="1"/>
          </p:nvPr>
        </p:nvSpPr>
        <p:spPr/>
        <p:txBody>
          <a:bodyPr/>
          <a:lstStyle/>
          <a:p>
            <a:r>
              <a:rPr lang="en-US" dirty="0"/>
              <a:t>
Esta </a:t>
            </a:r>
            <a:r>
              <a:rPr lang="en-US" dirty="0" err="1"/>
              <a:t>diapositiva</a:t>
            </a:r>
            <a:r>
              <a:rPr lang="en-US" dirty="0"/>
              <a:t> </a:t>
            </a:r>
            <a:r>
              <a:rPr lang="en-US" dirty="0" err="1"/>
              <a:t>funciona</a:t>
            </a:r>
            <a:r>
              <a:rPr lang="en-US" dirty="0"/>
              <a:t> </a:t>
            </a:r>
            <a:r>
              <a:rPr lang="en-US" dirty="0" err="1"/>
              <a:t>como</a:t>
            </a:r>
            <a:r>
              <a:rPr lang="en-US" dirty="0"/>
              <a:t> un </a:t>
            </a:r>
            <a:r>
              <a:rPr lang="en-US" dirty="0" err="1"/>
              <a:t>índice</a:t>
            </a:r>
            <a:r>
              <a:rPr lang="en-US" dirty="0"/>
              <a:t> visual y conceptual de </a:t>
            </a:r>
            <a:r>
              <a:rPr lang="en-US" dirty="0" err="1"/>
              <a:t>los</a:t>
            </a:r>
            <a:r>
              <a:rPr lang="en-US" dirty="0"/>
              <a:t> </a:t>
            </a:r>
            <a:r>
              <a:rPr lang="en-US" dirty="0" err="1"/>
              <a:t>diez</a:t>
            </a:r>
            <a:r>
              <a:rPr lang="en-US" dirty="0"/>
              <a:t> </a:t>
            </a:r>
            <a:r>
              <a:rPr lang="en-US" dirty="0" err="1"/>
              <a:t>ejemplos</a:t>
            </a:r>
            <a:r>
              <a:rPr lang="en-US" dirty="0"/>
              <a:t> </a:t>
            </a:r>
            <a:r>
              <a:rPr lang="en-US" dirty="0" err="1"/>
              <a:t>que</a:t>
            </a:r>
            <a:r>
              <a:rPr lang="en-US" dirty="0"/>
              <a:t> se </a:t>
            </a:r>
            <a:r>
              <a:rPr lang="en-US" dirty="0" err="1"/>
              <a:t>desarrollarán</a:t>
            </a:r>
            <a:r>
              <a:rPr lang="en-US" dirty="0"/>
              <a:t> a lo largo del </a:t>
            </a:r>
            <a:r>
              <a:rPr lang="en-US" dirty="0" err="1"/>
              <a:t>bloque</a:t>
            </a:r>
            <a:r>
              <a:rPr lang="en-US" dirty="0"/>
              <a:t> de UPDATE </a:t>
            </a:r>
            <a:r>
              <a:rPr lang="en-US" dirty="0" err="1"/>
              <a:t>avanzado</a:t>
            </a:r>
            <a:r>
              <a:rPr lang="en-US" dirty="0"/>
              <a:t>. Su </a:t>
            </a:r>
            <a:r>
              <a:rPr lang="en-US" dirty="0" err="1"/>
              <a:t>objetivo</a:t>
            </a:r>
            <a:r>
              <a:rPr lang="en-US" dirty="0"/>
              <a:t> principal es </a:t>
            </a:r>
            <a:r>
              <a:rPr lang="en-US" dirty="0" err="1"/>
              <a:t>ofrecer</a:t>
            </a:r>
            <a:r>
              <a:rPr lang="en-US" dirty="0"/>
              <a:t> al </a:t>
            </a:r>
            <a:r>
              <a:rPr lang="en-US" dirty="0" err="1"/>
              <a:t>alumnado</a:t>
            </a:r>
            <a:r>
              <a:rPr lang="en-US" dirty="0"/>
              <a:t> </a:t>
            </a:r>
            <a:r>
              <a:rPr lang="en-US" dirty="0" err="1"/>
              <a:t>una</a:t>
            </a:r>
            <a:r>
              <a:rPr lang="en-US" dirty="0"/>
              <a:t> </a:t>
            </a:r>
            <a:r>
              <a:rPr lang="en-US" dirty="0" err="1"/>
              <a:t>visión</a:t>
            </a:r>
            <a:r>
              <a:rPr lang="en-US" dirty="0"/>
              <a:t> global antes de </a:t>
            </a:r>
            <a:r>
              <a:rPr lang="en-US" dirty="0" err="1"/>
              <a:t>entrar</a:t>
            </a:r>
            <a:r>
              <a:rPr lang="en-US" dirty="0"/>
              <a:t> </a:t>
            </a:r>
            <a:r>
              <a:rPr lang="en-US" dirty="0" err="1"/>
              <a:t>en</a:t>
            </a:r>
            <a:r>
              <a:rPr lang="en-US" dirty="0"/>
              <a:t> </a:t>
            </a:r>
            <a:r>
              <a:rPr lang="en-US" dirty="0" err="1"/>
              <a:t>el</a:t>
            </a:r>
            <a:r>
              <a:rPr lang="en-US" dirty="0"/>
              <a:t> </a:t>
            </a:r>
            <a:r>
              <a:rPr lang="en-US" dirty="0" err="1"/>
              <a:t>detalle</a:t>
            </a:r>
            <a:r>
              <a:rPr lang="en-US" dirty="0"/>
              <a:t> </a:t>
            </a:r>
            <a:r>
              <a:rPr lang="en-US" dirty="0" err="1"/>
              <a:t>técnico</a:t>
            </a:r>
            <a:r>
              <a:rPr lang="en-US" dirty="0"/>
              <a:t> de </a:t>
            </a:r>
            <a:r>
              <a:rPr lang="en-US" dirty="0" err="1"/>
              <a:t>cada</a:t>
            </a:r>
            <a:r>
              <a:rPr lang="en-US" dirty="0"/>
              <a:t> </a:t>
            </a:r>
            <a:r>
              <a:rPr lang="en-US" dirty="0" err="1"/>
              <a:t>caso</a:t>
            </a:r>
            <a:r>
              <a:rPr lang="en-US" dirty="0"/>
              <a:t>, </a:t>
            </a:r>
            <a:r>
              <a:rPr lang="en-US" dirty="0" err="1"/>
              <a:t>facilitando</a:t>
            </a:r>
            <a:r>
              <a:rPr lang="en-US" dirty="0"/>
              <a:t> la </a:t>
            </a:r>
            <a:r>
              <a:rPr lang="en-US" dirty="0" err="1"/>
              <a:t>comprensión</a:t>
            </a:r>
            <a:r>
              <a:rPr lang="en-US" dirty="0"/>
              <a:t> </a:t>
            </a:r>
            <a:r>
              <a:rPr lang="en-US" dirty="0" err="1"/>
              <a:t>progresiva</a:t>
            </a:r>
            <a:r>
              <a:rPr lang="en-US" dirty="0"/>
              <a:t> y </a:t>
            </a:r>
            <a:r>
              <a:rPr lang="en-US" dirty="0" err="1"/>
              <a:t>reduciendo</a:t>
            </a:r>
            <a:r>
              <a:rPr lang="en-US" dirty="0"/>
              <a:t> la carga </a:t>
            </a:r>
            <a:r>
              <a:rPr lang="en-US" dirty="0" err="1"/>
              <a:t>cognitiva</a:t>
            </a:r>
            <a:r>
              <a:rPr lang="en-US" dirty="0"/>
              <a:t>. Al </a:t>
            </a:r>
            <a:r>
              <a:rPr lang="en-US" dirty="0" err="1"/>
              <a:t>presentar</a:t>
            </a:r>
            <a:r>
              <a:rPr lang="en-US" dirty="0"/>
              <a:t> </a:t>
            </a:r>
            <a:r>
              <a:rPr lang="en-US" dirty="0" err="1"/>
              <a:t>todos</a:t>
            </a:r>
            <a:r>
              <a:rPr lang="en-US" dirty="0"/>
              <a:t> </a:t>
            </a:r>
            <a:r>
              <a:rPr lang="en-US" dirty="0" err="1"/>
              <a:t>los</a:t>
            </a:r>
            <a:r>
              <a:rPr lang="en-US" dirty="0"/>
              <a:t> </a:t>
            </a:r>
            <a:r>
              <a:rPr lang="en-US" dirty="0" err="1"/>
              <a:t>ejemplos</a:t>
            </a:r>
            <a:r>
              <a:rPr lang="en-US" dirty="0"/>
              <a:t> </a:t>
            </a:r>
            <a:r>
              <a:rPr lang="en-US" dirty="0" err="1"/>
              <a:t>numerados</a:t>
            </a:r>
            <a:r>
              <a:rPr lang="en-US" dirty="0"/>
              <a:t> del 1 al 10 </a:t>
            </a:r>
            <a:r>
              <a:rPr lang="en-US" dirty="0" err="1"/>
              <a:t>en</a:t>
            </a:r>
            <a:r>
              <a:rPr lang="en-US" dirty="0"/>
              <a:t> </a:t>
            </a:r>
            <a:r>
              <a:rPr lang="en-US" dirty="0" err="1"/>
              <a:t>una</a:t>
            </a:r>
            <a:r>
              <a:rPr lang="en-US" dirty="0"/>
              <a:t> </a:t>
            </a:r>
            <a:r>
              <a:rPr lang="en-US" dirty="0" err="1"/>
              <a:t>única</a:t>
            </a:r>
            <a:r>
              <a:rPr lang="en-US" dirty="0"/>
              <a:t> </a:t>
            </a:r>
            <a:r>
              <a:rPr lang="en-US" dirty="0" err="1"/>
              <a:t>diapositiva</a:t>
            </a:r>
            <a:r>
              <a:rPr lang="en-US" dirty="0"/>
              <a:t>, se </a:t>
            </a:r>
            <a:r>
              <a:rPr lang="en-US" dirty="0" err="1"/>
              <a:t>refuerza</a:t>
            </a:r>
            <a:r>
              <a:rPr lang="en-US" dirty="0"/>
              <a:t> la idea de </a:t>
            </a:r>
            <a:r>
              <a:rPr lang="en-US" dirty="0" err="1"/>
              <a:t>recorrido</a:t>
            </a:r>
            <a:r>
              <a:rPr lang="en-US" dirty="0"/>
              <a:t> </a:t>
            </a:r>
            <a:r>
              <a:rPr lang="en-US" dirty="0" err="1"/>
              <a:t>didáctico</a:t>
            </a:r>
            <a:r>
              <a:rPr lang="en-US" dirty="0"/>
              <a:t>: se </a:t>
            </a:r>
            <a:r>
              <a:rPr lang="en-US" dirty="0" err="1"/>
              <a:t>parte</a:t>
            </a:r>
            <a:r>
              <a:rPr lang="en-US" dirty="0"/>
              <a:t> de </a:t>
            </a:r>
            <a:r>
              <a:rPr lang="en-US" dirty="0" err="1"/>
              <a:t>operaciones</a:t>
            </a:r>
            <a:r>
              <a:rPr lang="en-US" dirty="0"/>
              <a:t> de </a:t>
            </a:r>
            <a:r>
              <a:rPr lang="en-US" dirty="0" err="1"/>
              <a:t>actualización</a:t>
            </a:r>
            <a:r>
              <a:rPr lang="en-US" dirty="0"/>
              <a:t> </a:t>
            </a:r>
            <a:r>
              <a:rPr lang="en-US" dirty="0" err="1"/>
              <a:t>sencillas</a:t>
            </a:r>
            <a:r>
              <a:rPr lang="en-US" dirty="0"/>
              <a:t> y se </a:t>
            </a:r>
            <a:r>
              <a:rPr lang="en-US" dirty="0" err="1"/>
              <a:t>avanza</a:t>
            </a:r>
            <a:r>
              <a:rPr lang="en-US" dirty="0"/>
              <a:t> </a:t>
            </a:r>
            <a:r>
              <a:rPr lang="en-US" dirty="0" err="1"/>
              <a:t>hacia</a:t>
            </a:r>
            <a:r>
              <a:rPr lang="en-US" dirty="0"/>
              <a:t> </a:t>
            </a:r>
            <a:r>
              <a:rPr lang="en-US" dirty="0" err="1"/>
              <a:t>escenarios</a:t>
            </a:r>
            <a:r>
              <a:rPr lang="en-US" dirty="0"/>
              <a:t> </a:t>
            </a:r>
            <a:r>
              <a:rPr lang="en-US" dirty="0" err="1"/>
              <a:t>más</a:t>
            </a:r>
            <a:r>
              <a:rPr lang="en-US" dirty="0"/>
              <a:t> </a:t>
            </a:r>
            <a:r>
              <a:rPr lang="en-US" dirty="0" err="1"/>
              <a:t>complejos</a:t>
            </a:r>
            <a:r>
              <a:rPr lang="en-US" dirty="0"/>
              <a:t> </a:t>
            </a:r>
            <a:r>
              <a:rPr lang="en-US" dirty="0" err="1"/>
              <a:t>que</a:t>
            </a:r>
            <a:r>
              <a:rPr lang="en-US" dirty="0"/>
              <a:t> </a:t>
            </a:r>
            <a:r>
              <a:rPr lang="en-US" dirty="0" err="1"/>
              <a:t>suelen</a:t>
            </a:r>
            <a:r>
              <a:rPr lang="en-US" dirty="0"/>
              <a:t> </a:t>
            </a:r>
            <a:r>
              <a:rPr lang="en-US" dirty="0" err="1"/>
              <a:t>aparecer</a:t>
            </a:r>
            <a:r>
              <a:rPr lang="en-US" dirty="0"/>
              <a:t> </a:t>
            </a:r>
            <a:r>
              <a:rPr lang="en-US" dirty="0" err="1"/>
              <a:t>en</a:t>
            </a:r>
            <a:r>
              <a:rPr lang="en-US" dirty="0"/>
              <a:t> </a:t>
            </a:r>
            <a:r>
              <a:rPr lang="en-US" dirty="0" err="1"/>
              <a:t>contextos</a:t>
            </a:r>
            <a:r>
              <a:rPr lang="en-US" dirty="0"/>
              <a:t> reales de bases de </a:t>
            </a:r>
            <a:r>
              <a:rPr lang="en-US" dirty="0" err="1"/>
              <a:t>datos</a:t>
            </a:r>
            <a:r>
              <a:rPr lang="en-US" dirty="0"/>
              <a:t>. El </a:t>
            </a:r>
            <a:r>
              <a:rPr lang="en-US" dirty="0" err="1"/>
              <a:t>diseño</a:t>
            </a:r>
            <a:r>
              <a:rPr lang="en-US" dirty="0"/>
              <a:t> </a:t>
            </a:r>
            <a:r>
              <a:rPr lang="en-US" dirty="0" err="1"/>
              <a:t>deja</a:t>
            </a:r>
            <a:r>
              <a:rPr lang="en-US" dirty="0"/>
              <a:t> </a:t>
            </a:r>
            <a:r>
              <a:rPr lang="en-US" dirty="0" err="1"/>
              <a:t>intencionadamente</a:t>
            </a:r>
            <a:r>
              <a:rPr lang="en-US" dirty="0"/>
              <a:t> un </a:t>
            </a:r>
            <a:r>
              <a:rPr lang="en-US" dirty="0" err="1"/>
              <a:t>espacio</a:t>
            </a:r>
            <a:r>
              <a:rPr lang="en-US" dirty="0"/>
              <a:t> </a:t>
            </a:r>
            <a:r>
              <a:rPr lang="en-US" dirty="0" err="1"/>
              <a:t>en</a:t>
            </a:r>
            <a:r>
              <a:rPr lang="en-US" dirty="0"/>
              <a:t> </a:t>
            </a:r>
            <a:r>
              <a:rPr lang="en-US" dirty="0" err="1"/>
              <a:t>blanco</a:t>
            </a:r>
            <a:r>
              <a:rPr lang="en-US" dirty="0"/>
              <a:t> junto a </a:t>
            </a:r>
            <a:r>
              <a:rPr lang="en-US" dirty="0" err="1"/>
              <a:t>cada</a:t>
            </a:r>
            <a:r>
              <a:rPr lang="en-US" dirty="0"/>
              <a:t> </a:t>
            </a:r>
            <a:r>
              <a:rPr lang="en-US" dirty="0" err="1"/>
              <a:t>número</a:t>
            </a:r>
            <a:r>
              <a:rPr lang="en-US" dirty="0"/>
              <a:t> para </a:t>
            </a:r>
            <a:r>
              <a:rPr lang="en-US" dirty="0" err="1"/>
              <a:t>que</a:t>
            </a:r>
            <a:r>
              <a:rPr lang="en-US" dirty="0"/>
              <a:t> </a:t>
            </a:r>
            <a:r>
              <a:rPr lang="en-US" dirty="0" err="1"/>
              <a:t>el</a:t>
            </a:r>
            <a:r>
              <a:rPr lang="en-US" dirty="0"/>
              <a:t> </a:t>
            </a:r>
            <a:r>
              <a:rPr lang="en-US" dirty="0" err="1"/>
              <a:t>docente</a:t>
            </a:r>
            <a:r>
              <a:rPr lang="en-US" dirty="0"/>
              <a:t> </a:t>
            </a:r>
            <a:r>
              <a:rPr lang="en-US" dirty="0" err="1"/>
              <a:t>pueda</a:t>
            </a:r>
            <a:r>
              <a:rPr lang="en-US" dirty="0"/>
              <a:t> </a:t>
            </a:r>
            <a:r>
              <a:rPr lang="en-US" dirty="0" err="1"/>
              <a:t>añadir</a:t>
            </a:r>
            <a:r>
              <a:rPr lang="en-US" dirty="0"/>
              <a:t> </a:t>
            </a:r>
            <a:r>
              <a:rPr lang="en-US" dirty="0" err="1"/>
              <a:t>una</a:t>
            </a:r>
            <a:r>
              <a:rPr lang="en-US" dirty="0"/>
              <a:t> breve </a:t>
            </a:r>
            <a:r>
              <a:rPr lang="en-US" dirty="0" err="1"/>
              <a:t>explicación</a:t>
            </a:r>
            <a:r>
              <a:rPr lang="en-US" dirty="0"/>
              <a:t> </a:t>
            </a:r>
            <a:r>
              <a:rPr lang="en-US" dirty="0" err="1"/>
              <a:t>personalizada</a:t>
            </a:r>
            <a:r>
              <a:rPr lang="en-US" dirty="0"/>
              <a:t>, </a:t>
            </a:r>
            <a:r>
              <a:rPr lang="en-US" dirty="0" err="1"/>
              <a:t>adaptada</a:t>
            </a:r>
            <a:r>
              <a:rPr lang="en-US" dirty="0"/>
              <a:t> al </a:t>
            </a:r>
            <a:r>
              <a:rPr lang="en-US" dirty="0" err="1"/>
              <a:t>nivel</a:t>
            </a:r>
            <a:r>
              <a:rPr lang="en-US" dirty="0"/>
              <a:t> del </a:t>
            </a:r>
            <a:r>
              <a:rPr lang="en-US" dirty="0" err="1"/>
              <a:t>grupo</a:t>
            </a:r>
            <a:r>
              <a:rPr lang="en-US" dirty="0"/>
              <a:t> o al </a:t>
            </a:r>
            <a:r>
              <a:rPr lang="en-US" dirty="0" err="1"/>
              <a:t>enfoque</a:t>
            </a:r>
            <a:r>
              <a:rPr lang="en-US" dirty="0"/>
              <a:t> de la </a:t>
            </a:r>
            <a:r>
              <a:rPr lang="en-US" dirty="0" err="1"/>
              <a:t>sesión</a:t>
            </a:r>
            <a:r>
              <a:rPr lang="en-US" dirty="0"/>
              <a:t>. Por </a:t>
            </a:r>
            <a:r>
              <a:rPr lang="en-US" dirty="0" err="1"/>
              <a:t>ejemplo</a:t>
            </a:r>
            <a:r>
              <a:rPr lang="en-US" dirty="0"/>
              <a:t>, </a:t>
            </a:r>
            <a:r>
              <a:rPr lang="en-US" dirty="0" err="1"/>
              <a:t>el</a:t>
            </a:r>
            <a:r>
              <a:rPr lang="en-US" dirty="0"/>
              <a:t> Ejemplo 1 </a:t>
            </a:r>
            <a:r>
              <a:rPr lang="en-US" dirty="0" err="1"/>
              <a:t>puede</a:t>
            </a:r>
            <a:r>
              <a:rPr lang="en-US" dirty="0"/>
              <a:t> </a:t>
            </a:r>
            <a:r>
              <a:rPr lang="en-US" dirty="0" err="1"/>
              <a:t>describirse</a:t>
            </a:r>
            <a:r>
              <a:rPr lang="en-US" dirty="0"/>
              <a:t> </a:t>
            </a:r>
            <a:r>
              <a:rPr lang="en-US" dirty="0" err="1"/>
              <a:t>como</a:t>
            </a:r>
            <a:r>
              <a:rPr lang="en-US" dirty="0"/>
              <a:t> </a:t>
            </a:r>
            <a:r>
              <a:rPr lang="en-US" dirty="0" err="1"/>
              <a:t>una</a:t>
            </a:r>
            <a:r>
              <a:rPr lang="en-US" dirty="0"/>
              <a:t> </a:t>
            </a:r>
            <a:r>
              <a:rPr lang="en-US" dirty="0" err="1"/>
              <a:t>actualización</a:t>
            </a:r>
            <a:r>
              <a:rPr lang="en-US" dirty="0"/>
              <a:t> simple de un campo </a:t>
            </a:r>
            <a:r>
              <a:rPr lang="en-US" dirty="0" err="1"/>
              <a:t>mediante</a:t>
            </a:r>
            <a:r>
              <a:rPr lang="en-US" dirty="0"/>
              <a:t> </a:t>
            </a:r>
            <a:r>
              <a:rPr lang="en-US" dirty="0" err="1"/>
              <a:t>una</a:t>
            </a:r>
            <a:r>
              <a:rPr lang="en-US" dirty="0"/>
              <a:t> </a:t>
            </a:r>
            <a:r>
              <a:rPr lang="en-US" dirty="0" err="1"/>
              <a:t>condición</a:t>
            </a:r>
            <a:r>
              <a:rPr lang="en-US" dirty="0"/>
              <a:t> WHERE </a:t>
            </a:r>
            <a:r>
              <a:rPr lang="en-US" dirty="0" err="1"/>
              <a:t>básica</a:t>
            </a:r>
            <a:r>
              <a:rPr lang="en-US" dirty="0"/>
              <a:t>, </a:t>
            </a:r>
            <a:r>
              <a:rPr lang="en-US" dirty="0" err="1"/>
              <a:t>mientras</a:t>
            </a:r>
            <a:r>
              <a:rPr lang="en-US" dirty="0"/>
              <a:t> </a:t>
            </a:r>
            <a:r>
              <a:rPr lang="en-US" dirty="0" err="1"/>
              <a:t>que</a:t>
            </a:r>
            <a:r>
              <a:rPr lang="en-US" dirty="0"/>
              <a:t> </a:t>
            </a:r>
            <a:r>
              <a:rPr lang="en-US" dirty="0" err="1"/>
              <a:t>ejemplos</a:t>
            </a:r>
            <a:r>
              <a:rPr lang="en-US" dirty="0"/>
              <a:t> posteriores </a:t>
            </a:r>
            <a:r>
              <a:rPr lang="en-US" dirty="0" err="1"/>
              <a:t>pueden</a:t>
            </a:r>
            <a:r>
              <a:rPr lang="en-US" dirty="0"/>
              <a:t> </a:t>
            </a:r>
            <a:r>
              <a:rPr lang="en-US" dirty="0" err="1"/>
              <a:t>incluir</a:t>
            </a:r>
            <a:r>
              <a:rPr lang="en-US" dirty="0"/>
              <a:t> </a:t>
            </a:r>
            <a:r>
              <a:rPr lang="en-US" dirty="0" err="1"/>
              <a:t>actualizaciones</a:t>
            </a:r>
            <a:r>
              <a:rPr lang="en-US" dirty="0"/>
              <a:t> </a:t>
            </a:r>
            <a:r>
              <a:rPr lang="en-US" dirty="0" err="1"/>
              <a:t>múltiples</a:t>
            </a:r>
            <a:r>
              <a:rPr lang="en-US" dirty="0"/>
              <a:t>, </a:t>
            </a:r>
            <a:r>
              <a:rPr lang="en-US" dirty="0" err="1"/>
              <a:t>uso</a:t>
            </a:r>
            <a:r>
              <a:rPr lang="en-US" dirty="0"/>
              <a:t> de </a:t>
            </a:r>
            <a:r>
              <a:rPr lang="en-US" dirty="0" err="1"/>
              <a:t>subconsultas</a:t>
            </a:r>
            <a:r>
              <a:rPr lang="en-US" dirty="0"/>
              <a:t>, </a:t>
            </a:r>
            <a:r>
              <a:rPr lang="en-US" dirty="0" err="1"/>
              <a:t>combinaciones</a:t>
            </a:r>
            <a:r>
              <a:rPr lang="en-US" dirty="0"/>
              <a:t> con JOIN o control de </a:t>
            </a:r>
            <a:r>
              <a:rPr lang="en-US" dirty="0" err="1"/>
              <a:t>transacciones</a:t>
            </a:r>
            <a:r>
              <a:rPr lang="en-US" dirty="0"/>
              <a:t>. Esta </a:t>
            </a:r>
            <a:r>
              <a:rPr lang="en-US" dirty="0" err="1"/>
              <a:t>estructura</a:t>
            </a:r>
            <a:r>
              <a:rPr lang="en-US" dirty="0"/>
              <a:t> también </a:t>
            </a:r>
            <a:r>
              <a:rPr lang="en-US" dirty="0" err="1"/>
              <a:t>permite</a:t>
            </a:r>
            <a:r>
              <a:rPr lang="en-US" dirty="0"/>
              <a:t> </a:t>
            </a:r>
            <a:r>
              <a:rPr lang="en-US" dirty="0" err="1"/>
              <a:t>reutilizar</a:t>
            </a:r>
            <a:r>
              <a:rPr lang="en-US" dirty="0"/>
              <a:t> la </a:t>
            </a:r>
            <a:r>
              <a:rPr lang="en-US" dirty="0" err="1"/>
              <a:t>diapositiva</a:t>
            </a:r>
            <a:r>
              <a:rPr lang="en-US" dirty="0"/>
              <a:t> </a:t>
            </a:r>
            <a:r>
              <a:rPr lang="en-US" dirty="0" err="1"/>
              <a:t>como</a:t>
            </a:r>
            <a:r>
              <a:rPr lang="en-US" dirty="0"/>
              <a:t> </a:t>
            </a:r>
            <a:r>
              <a:rPr lang="en-US" dirty="0" err="1"/>
              <a:t>referencia</a:t>
            </a:r>
            <a:r>
              <a:rPr lang="en-US" dirty="0"/>
              <a:t> </a:t>
            </a:r>
            <a:r>
              <a:rPr lang="en-US" dirty="0" err="1"/>
              <a:t>durante</a:t>
            </a:r>
            <a:r>
              <a:rPr lang="en-US" dirty="0"/>
              <a:t> la </a:t>
            </a:r>
            <a:r>
              <a:rPr lang="en-US" dirty="0" err="1"/>
              <a:t>explicación</a:t>
            </a:r>
            <a:r>
              <a:rPr lang="en-US" dirty="0"/>
              <a:t>: se </a:t>
            </a:r>
            <a:r>
              <a:rPr lang="en-US" dirty="0" err="1"/>
              <a:t>puede</a:t>
            </a:r>
            <a:r>
              <a:rPr lang="en-US" dirty="0"/>
              <a:t> </a:t>
            </a:r>
            <a:r>
              <a:rPr lang="en-US" dirty="0" err="1"/>
              <a:t>volver</a:t>
            </a:r>
            <a:r>
              <a:rPr lang="en-US" dirty="0"/>
              <a:t> a </a:t>
            </a:r>
            <a:r>
              <a:rPr lang="en-US" dirty="0" err="1"/>
              <a:t>ella</a:t>
            </a:r>
            <a:r>
              <a:rPr lang="en-US" dirty="0"/>
              <a:t> para </a:t>
            </a:r>
            <a:r>
              <a:rPr lang="en-US" dirty="0" err="1"/>
              <a:t>situar</a:t>
            </a:r>
            <a:r>
              <a:rPr lang="en-US" dirty="0"/>
              <a:t> </a:t>
            </a:r>
            <a:r>
              <a:rPr lang="en-US" dirty="0" err="1"/>
              <a:t>en</a:t>
            </a:r>
            <a:r>
              <a:rPr lang="en-US" dirty="0"/>
              <a:t> </a:t>
            </a:r>
            <a:r>
              <a:rPr lang="en-US" dirty="0" err="1"/>
              <a:t>qué</a:t>
            </a:r>
            <a:r>
              <a:rPr lang="en-US" dirty="0"/>
              <a:t> punto del </a:t>
            </a:r>
            <a:r>
              <a:rPr lang="en-US" dirty="0" err="1"/>
              <a:t>temario</a:t>
            </a:r>
            <a:r>
              <a:rPr lang="en-US" dirty="0"/>
              <a:t> se </a:t>
            </a:r>
            <a:r>
              <a:rPr lang="en-US" dirty="0" err="1"/>
              <a:t>encuentra</a:t>
            </a:r>
            <a:r>
              <a:rPr lang="en-US" dirty="0"/>
              <a:t> la </a:t>
            </a:r>
            <a:r>
              <a:rPr lang="en-US" dirty="0" err="1"/>
              <a:t>clase</a:t>
            </a:r>
            <a:r>
              <a:rPr lang="en-US" dirty="0"/>
              <a:t>. </a:t>
            </a:r>
            <a:r>
              <a:rPr lang="en-US" dirty="0" err="1"/>
              <a:t>Desde</a:t>
            </a:r>
            <a:r>
              <a:rPr lang="en-US" dirty="0"/>
              <a:t> </a:t>
            </a:r>
            <a:r>
              <a:rPr lang="en-US" dirty="0" err="1"/>
              <a:t>el</a:t>
            </a:r>
            <a:r>
              <a:rPr lang="en-US" dirty="0"/>
              <a:t> punto de vista </a:t>
            </a:r>
            <a:r>
              <a:rPr lang="en-US" dirty="0" err="1"/>
              <a:t>pedagógico</a:t>
            </a:r>
            <a:r>
              <a:rPr lang="en-US" dirty="0"/>
              <a:t>, </a:t>
            </a:r>
            <a:r>
              <a:rPr lang="en-US" dirty="0" err="1"/>
              <a:t>el</a:t>
            </a:r>
            <a:r>
              <a:rPr lang="en-US" dirty="0"/>
              <a:t> </a:t>
            </a:r>
            <a:r>
              <a:rPr lang="en-US" dirty="0" err="1"/>
              <a:t>índice</a:t>
            </a:r>
            <a:r>
              <a:rPr lang="en-US" dirty="0"/>
              <a:t> </a:t>
            </a:r>
            <a:r>
              <a:rPr lang="en-US" dirty="0" err="1"/>
              <a:t>ayuda</a:t>
            </a:r>
            <a:r>
              <a:rPr lang="en-US" dirty="0"/>
              <a:t> a </a:t>
            </a:r>
            <a:r>
              <a:rPr lang="en-US" dirty="0" err="1"/>
              <a:t>anticipar</a:t>
            </a:r>
            <a:r>
              <a:rPr lang="en-US" dirty="0"/>
              <a:t> </a:t>
            </a:r>
            <a:r>
              <a:rPr lang="en-US" dirty="0" err="1"/>
              <a:t>contenidos</a:t>
            </a:r>
            <a:r>
              <a:rPr lang="en-US" dirty="0"/>
              <a:t>, </a:t>
            </a:r>
            <a:r>
              <a:rPr lang="en-US" dirty="0" err="1"/>
              <a:t>mejora</a:t>
            </a:r>
            <a:r>
              <a:rPr lang="en-US" dirty="0"/>
              <a:t> la </a:t>
            </a:r>
            <a:r>
              <a:rPr lang="en-US" dirty="0" err="1"/>
              <a:t>organización</a:t>
            </a:r>
            <a:r>
              <a:rPr lang="en-US" dirty="0"/>
              <a:t> mental del </a:t>
            </a:r>
            <a:r>
              <a:rPr lang="en-US" dirty="0" err="1"/>
              <a:t>alumnado</a:t>
            </a:r>
            <a:r>
              <a:rPr lang="en-US" dirty="0"/>
              <a:t> y </a:t>
            </a:r>
            <a:r>
              <a:rPr lang="en-US" dirty="0" err="1"/>
              <a:t>sirve</a:t>
            </a:r>
            <a:r>
              <a:rPr lang="en-US" dirty="0"/>
              <a:t> </a:t>
            </a:r>
            <a:r>
              <a:rPr lang="en-US" dirty="0" err="1"/>
              <a:t>como</a:t>
            </a:r>
            <a:r>
              <a:rPr lang="en-US" dirty="0"/>
              <a:t> </a:t>
            </a:r>
            <a:r>
              <a:rPr lang="en-US" dirty="0" err="1"/>
              <a:t>mapa</a:t>
            </a:r>
            <a:r>
              <a:rPr lang="en-US" dirty="0"/>
              <a:t> de </a:t>
            </a:r>
            <a:r>
              <a:rPr lang="en-US" dirty="0" err="1"/>
              <a:t>aprendizaje</a:t>
            </a:r>
            <a:r>
              <a:rPr lang="en-US" dirty="0"/>
              <a:t>. </a:t>
            </a:r>
            <a:r>
              <a:rPr lang="en-US" dirty="0" err="1"/>
              <a:t>Además</a:t>
            </a:r>
            <a:r>
              <a:rPr lang="en-US" dirty="0"/>
              <a:t>, al ser </a:t>
            </a:r>
            <a:r>
              <a:rPr lang="en-US" dirty="0" err="1"/>
              <a:t>una</a:t>
            </a:r>
            <a:r>
              <a:rPr lang="en-US" dirty="0"/>
              <a:t> </a:t>
            </a:r>
            <a:r>
              <a:rPr lang="en-US" dirty="0" err="1"/>
              <a:t>diapositiva</a:t>
            </a:r>
            <a:r>
              <a:rPr lang="en-US" dirty="0"/>
              <a:t> </a:t>
            </a:r>
            <a:r>
              <a:rPr lang="en-US" dirty="0" err="1"/>
              <a:t>independiente</a:t>
            </a:r>
            <a:r>
              <a:rPr lang="en-US" dirty="0"/>
              <a:t>, </a:t>
            </a:r>
            <a:r>
              <a:rPr lang="en-US" dirty="0" err="1"/>
              <a:t>puede</a:t>
            </a:r>
            <a:r>
              <a:rPr lang="en-US" dirty="0"/>
              <a:t> </a:t>
            </a:r>
            <a:r>
              <a:rPr lang="en-US" dirty="0" err="1"/>
              <a:t>insertarse</a:t>
            </a:r>
            <a:r>
              <a:rPr lang="en-US" dirty="0"/>
              <a:t> </a:t>
            </a:r>
            <a:r>
              <a:rPr lang="en-US" dirty="0" err="1"/>
              <a:t>fácilmente</a:t>
            </a:r>
            <a:r>
              <a:rPr lang="en-US" dirty="0"/>
              <a:t> </a:t>
            </a:r>
            <a:r>
              <a:rPr lang="en-US" dirty="0" err="1"/>
              <a:t>en</a:t>
            </a:r>
            <a:r>
              <a:rPr lang="en-US" dirty="0"/>
              <a:t> </a:t>
            </a:r>
            <a:r>
              <a:rPr lang="en-US" dirty="0" err="1"/>
              <a:t>cualquier</a:t>
            </a:r>
            <a:r>
              <a:rPr lang="en-US" dirty="0"/>
              <a:t> </a:t>
            </a:r>
            <a:r>
              <a:rPr lang="en-US" dirty="0" err="1"/>
              <a:t>presentación</a:t>
            </a:r>
            <a:r>
              <a:rPr lang="en-US" dirty="0"/>
              <a:t> y </a:t>
            </a:r>
            <a:r>
              <a:rPr lang="en-US" dirty="0" err="1"/>
              <a:t>mantenerse</a:t>
            </a:r>
            <a:r>
              <a:rPr lang="en-US" dirty="0"/>
              <a:t> </a:t>
            </a:r>
            <a:r>
              <a:rPr lang="en-US" dirty="0" err="1"/>
              <a:t>coherente</a:t>
            </a:r>
            <a:r>
              <a:rPr lang="en-US" dirty="0"/>
              <a:t> con </a:t>
            </a:r>
            <a:r>
              <a:rPr lang="en-US" dirty="0" err="1"/>
              <a:t>distintos</a:t>
            </a:r>
            <a:r>
              <a:rPr lang="en-US" dirty="0"/>
              <a:t> </a:t>
            </a:r>
            <a:r>
              <a:rPr lang="en-US" dirty="0" err="1"/>
              <a:t>estilos</a:t>
            </a:r>
            <a:r>
              <a:rPr lang="en-US" dirty="0"/>
              <a:t> </a:t>
            </a:r>
            <a:r>
              <a:rPr lang="en-US" dirty="0" err="1"/>
              <a:t>visuales</a:t>
            </a:r>
            <a:r>
              <a:rPr lang="en-US" dirty="0"/>
              <a:t>. En </a:t>
            </a:r>
            <a:r>
              <a:rPr lang="en-US" dirty="0" err="1"/>
              <a:t>entornos</a:t>
            </a:r>
            <a:r>
              <a:rPr lang="en-US" dirty="0"/>
              <a:t> </a:t>
            </a:r>
            <a:r>
              <a:rPr lang="en-US" dirty="0" err="1"/>
              <a:t>formativos</a:t>
            </a:r>
            <a:r>
              <a:rPr lang="en-US" dirty="0"/>
              <a:t> </a:t>
            </a:r>
            <a:r>
              <a:rPr lang="en-US" dirty="0" err="1"/>
              <a:t>como</a:t>
            </a:r>
            <a:r>
              <a:rPr lang="en-US" dirty="0"/>
              <a:t> FP, </a:t>
            </a:r>
            <a:r>
              <a:rPr lang="en-US" dirty="0" err="1"/>
              <a:t>universidad</a:t>
            </a:r>
            <a:r>
              <a:rPr lang="en-US" dirty="0"/>
              <a:t> o formación interna </a:t>
            </a:r>
            <a:r>
              <a:rPr lang="en-US" dirty="0" err="1"/>
              <a:t>en</a:t>
            </a:r>
            <a:r>
              <a:rPr lang="en-US" dirty="0"/>
              <a:t> </a:t>
            </a:r>
            <a:r>
              <a:rPr lang="en-US" dirty="0" err="1"/>
              <a:t>empresa</a:t>
            </a:r>
            <a:r>
              <a:rPr lang="en-US" dirty="0"/>
              <a:t>, </a:t>
            </a:r>
            <a:r>
              <a:rPr lang="en-US" dirty="0" err="1"/>
              <a:t>este</a:t>
            </a:r>
            <a:r>
              <a:rPr lang="en-US" dirty="0"/>
              <a:t> </a:t>
            </a:r>
            <a:r>
              <a:rPr lang="en-US" dirty="0" err="1"/>
              <a:t>tipo</a:t>
            </a:r>
            <a:r>
              <a:rPr lang="en-US" dirty="0"/>
              <a:t> de </a:t>
            </a:r>
            <a:r>
              <a:rPr lang="en-US" dirty="0" err="1"/>
              <a:t>diapositiva</a:t>
            </a:r>
            <a:r>
              <a:rPr lang="en-US" dirty="0"/>
              <a:t> es </a:t>
            </a:r>
            <a:r>
              <a:rPr lang="en-US" dirty="0" err="1"/>
              <a:t>especialmente</a:t>
            </a:r>
            <a:r>
              <a:rPr lang="en-US" dirty="0"/>
              <a:t> </a:t>
            </a:r>
            <a:r>
              <a:rPr lang="en-US" dirty="0" err="1"/>
              <a:t>útil</a:t>
            </a:r>
            <a:r>
              <a:rPr lang="en-US" dirty="0"/>
              <a:t> para </a:t>
            </a:r>
            <a:r>
              <a:rPr lang="en-US" dirty="0" err="1"/>
              <a:t>contextualizar</a:t>
            </a:r>
            <a:r>
              <a:rPr lang="en-US" dirty="0"/>
              <a:t> </a:t>
            </a:r>
            <a:r>
              <a:rPr lang="en-US" dirty="0" err="1"/>
              <a:t>prácticas</a:t>
            </a:r>
            <a:r>
              <a:rPr lang="en-US" dirty="0"/>
              <a:t> de SQL </a:t>
            </a:r>
            <a:r>
              <a:rPr lang="en-US" dirty="0" err="1"/>
              <a:t>que</a:t>
            </a:r>
            <a:r>
              <a:rPr lang="en-US" dirty="0"/>
              <a:t>, de </a:t>
            </a:r>
            <a:r>
              <a:rPr lang="en-US" dirty="0" err="1"/>
              <a:t>otro</a:t>
            </a:r>
            <a:r>
              <a:rPr lang="en-US" dirty="0"/>
              <a:t> modo, </a:t>
            </a:r>
            <a:r>
              <a:rPr lang="en-US" dirty="0" err="1"/>
              <a:t>pueden</a:t>
            </a:r>
            <a:r>
              <a:rPr lang="en-US" dirty="0"/>
              <a:t> </a:t>
            </a:r>
            <a:r>
              <a:rPr lang="en-US" dirty="0" err="1"/>
              <a:t>percibirse</a:t>
            </a:r>
            <a:r>
              <a:rPr lang="en-US" dirty="0"/>
              <a:t> </a:t>
            </a:r>
            <a:r>
              <a:rPr lang="en-US" dirty="0" err="1"/>
              <a:t>como</a:t>
            </a:r>
            <a:r>
              <a:rPr lang="en-US" dirty="0"/>
              <a:t> </a:t>
            </a:r>
            <a:r>
              <a:rPr lang="en-US" dirty="0" err="1"/>
              <a:t>aisladas</a:t>
            </a:r>
            <a:r>
              <a:rPr lang="en-US" dirty="0"/>
              <a:t>. En </a:t>
            </a:r>
            <a:r>
              <a:rPr lang="en-US" dirty="0" err="1"/>
              <a:t>resumen</a:t>
            </a:r>
            <a:r>
              <a:rPr lang="en-US" dirty="0"/>
              <a:t>, </a:t>
            </a:r>
            <a:r>
              <a:rPr lang="en-US" dirty="0" err="1"/>
              <a:t>esta</a:t>
            </a:r>
            <a:r>
              <a:rPr lang="en-US" dirty="0"/>
              <a:t> </a:t>
            </a:r>
            <a:r>
              <a:rPr lang="en-US" dirty="0" err="1"/>
              <a:t>diapositiva</a:t>
            </a:r>
            <a:r>
              <a:rPr lang="en-US" dirty="0"/>
              <a:t> no </a:t>
            </a:r>
            <a:r>
              <a:rPr lang="en-US" dirty="0" err="1"/>
              <a:t>pretende</a:t>
            </a:r>
            <a:r>
              <a:rPr lang="en-US" dirty="0"/>
              <a:t> </a:t>
            </a:r>
            <a:r>
              <a:rPr lang="en-US" dirty="0" err="1"/>
              <a:t>explicar</a:t>
            </a:r>
            <a:r>
              <a:rPr lang="en-US" dirty="0"/>
              <a:t> </a:t>
            </a:r>
            <a:r>
              <a:rPr lang="en-US" dirty="0" err="1"/>
              <a:t>el</a:t>
            </a:r>
            <a:r>
              <a:rPr lang="en-US" dirty="0"/>
              <a:t> </a:t>
            </a:r>
            <a:r>
              <a:rPr lang="en-US" dirty="0" err="1"/>
              <a:t>código</a:t>
            </a:r>
            <a:r>
              <a:rPr lang="en-US" dirty="0"/>
              <a:t>, </a:t>
            </a:r>
            <a:r>
              <a:rPr lang="en-US" dirty="0" err="1"/>
              <a:t>sino</a:t>
            </a:r>
            <a:r>
              <a:rPr lang="en-US" dirty="0"/>
              <a:t> </a:t>
            </a:r>
            <a:r>
              <a:rPr lang="en-US" dirty="0" err="1"/>
              <a:t>ordenar</a:t>
            </a:r>
            <a:r>
              <a:rPr lang="en-US" dirty="0"/>
              <a:t>, </a:t>
            </a:r>
            <a:r>
              <a:rPr lang="en-US" dirty="0" err="1"/>
              <a:t>guiar</a:t>
            </a:r>
            <a:r>
              <a:rPr lang="en-US" dirty="0"/>
              <a:t> y </a:t>
            </a:r>
            <a:r>
              <a:rPr lang="en-US" dirty="0" err="1"/>
              <a:t>preparar</a:t>
            </a:r>
            <a:r>
              <a:rPr lang="en-US" dirty="0"/>
              <a:t> al </a:t>
            </a:r>
            <a:r>
              <a:rPr lang="en-US" dirty="0" err="1"/>
              <a:t>estudiante</a:t>
            </a:r>
            <a:r>
              <a:rPr lang="en-US" dirty="0"/>
              <a:t> para </a:t>
            </a:r>
            <a:r>
              <a:rPr lang="en-US" dirty="0" err="1"/>
              <a:t>los</a:t>
            </a:r>
            <a:r>
              <a:rPr lang="en-US" dirty="0"/>
              <a:t> </a:t>
            </a:r>
            <a:r>
              <a:rPr lang="en-US" dirty="0" err="1"/>
              <a:t>diez</a:t>
            </a:r>
            <a:r>
              <a:rPr lang="en-US" dirty="0"/>
              <a:t> </a:t>
            </a:r>
            <a:r>
              <a:rPr lang="en-US" dirty="0" err="1"/>
              <a:t>ejemplos</a:t>
            </a:r>
            <a:r>
              <a:rPr lang="en-US" dirty="0"/>
              <a:t> </a:t>
            </a:r>
            <a:r>
              <a:rPr lang="en-US" dirty="0" err="1"/>
              <a:t>que</a:t>
            </a:r>
            <a:r>
              <a:rPr lang="en-US" dirty="0"/>
              <a:t> se </a:t>
            </a:r>
            <a:r>
              <a:rPr lang="en-US" dirty="0" err="1"/>
              <a:t>abordarán</a:t>
            </a:r>
            <a:r>
              <a:rPr lang="en-US" dirty="0"/>
              <a:t> a </a:t>
            </a:r>
            <a:r>
              <a:rPr lang="en-US" dirty="0" err="1"/>
              <a:t>continuación</a:t>
            </a:r>
            <a:r>
              <a:rPr lang="en-US" dirty="0"/>
              <a:t>, </a:t>
            </a:r>
            <a:r>
              <a:rPr lang="en-US" dirty="0" err="1"/>
              <a:t>dejando</a:t>
            </a:r>
            <a:r>
              <a:rPr lang="en-US" dirty="0"/>
              <a:t> al </a:t>
            </a:r>
            <a:r>
              <a:rPr lang="en-US" dirty="0" err="1"/>
              <a:t>docente</a:t>
            </a:r>
            <a:r>
              <a:rPr lang="en-US" dirty="0"/>
              <a:t> total </a:t>
            </a:r>
            <a:r>
              <a:rPr lang="en-US" dirty="0" err="1"/>
              <a:t>libertad</a:t>
            </a:r>
            <a:r>
              <a:rPr lang="en-US" dirty="0"/>
              <a:t> para </a:t>
            </a:r>
            <a:r>
              <a:rPr lang="en-US" dirty="0" err="1"/>
              <a:t>completar</a:t>
            </a:r>
            <a:r>
              <a:rPr lang="en-US" dirty="0"/>
              <a:t> las </a:t>
            </a:r>
            <a:r>
              <a:rPr lang="en-US" dirty="0" err="1"/>
              <a:t>descripciones</a:t>
            </a:r>
            <a:r>
              <a:rPr lang="en-US" dirty="0"/>
              <a:t> </a:t>
            </a:r>
            <a:r>
              <a:rPr lang="en-US" dirty="0" err="1"/>
              <a:t>según</a:t>
            </a:r>
            <a:r>
              <a:rPr lang="en-US" dirty="0"/>
              <a:t> sus </a:t>
            </a:r>
            <a:r>
              <a:rPr lang="en-US" dirty="0" err="1"/>
              <a:t>necesidades</a:t>
            </a:r>
            <a:r>
              <a:rPr lang="en-US" dirty="0"/>
              <a:t>.</a:t>
            </a:r>
          </a:p>
        </p:txBody>
      </p:sp>
      <p:sp>
        <p:nvSpPr>
          <p:cNvPr id="4" name="Slide Number Placeholder 3"/>
          <p:cNvSpPr>
            <a:spLocks noGrp="1"/>
          </p:cNvSpPr>
          <p:nvPr>
            <p:ph type="sldNum" sz="quarter" idx="5"/>
          </p:nvPr>
        </p:nvSpPr>
        <p:spPr/>
        <p:txBody>
          <a:bodyPr/>
          <a:lstStyle/>
          <a:p>
            <a:fld id="{CC13ABF1-FDAC-43B0-99C6-27D904A7322A}" type="slidenum">
              <a:t>2</a:t>
            </a:fld>
            <a:endParaRPr lang="en-US"/>
          </a:p>
        </p:txBody>
      </p:sp>
    </p:spTree>
    <p:extLst>
      <p:ext uri="{BB962C8B-B14F-4D97-AF65-F5344CB8AC3E}">
        <p14:creationId xmlns:p14="http://schemas.microsoft.com/office/powerpoint/2010/main" val="472080208"/>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Diapositiva de títul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2E897ED2-D145-015D-4515-CA42165723DB}"/>
              </a:ext>
            </a:extLst>
          </p:cNvPr>
          <p:cNvSpPr>
            <a:spLocks noGrp="1"/>
          </p:cNvSpPr>
          <p:nvPr>
            <p:ph type="ctrTitle"/>
          </p:nvPr>
        </p:nvSpPr>
        <p:spPr>
          <a:xfrm>
            <a:off x="1524000" y="1122363"/>
            <a:ext cx="9144000" cy="2387600"/>
          </a:xfrm>
        </p:spPr>
        <p:txBody>
          <a:bodyPr anchor="b"/>
          <a:lstStyle>
            <a:lvl1pPr algn="ctr">
              <a:defRPr sz="6000"/>
            </a:lvl1pPr>
          </a:lstStyle>
          <a:p>
            <a:r>
              <a:rPr lang="es-ES"/>
              <a:t>Haga clic para modificar el estilo de título del patrón</a:t>
            </a:r>
          </a:p>
        </p:txBody>
      </p:sp>
      <p:sp>
        <p:nvSpPr>
          <p:cNvPr id="3" name="Subtítulo 2">
            <a:extLst>
              <a:ext uri="{FF2B5EF4-FFF2-40B4-BE49-F238E27FC236}">
                <a16:creationId xmlns:a16="http://schemas.microsoft.com/office/drawing/2014/main" id="{A8147A5C-48C5-29DF-F36F-8852917D7C90}"/>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s-ES"/>
              <a:t>Haga clic para modificar el estilo de subtítulo del patrón</a:t>
            </a:r>
          </a:p>
        </p:txBody>
      </p:sp>
      <p:sp>
        <p:nvSpPr>
          <p:cNvPr id="4" name="Marcador de fecha 3">
            <a:extLst>
              <a:ext uri="{FF2B5EF4-FFF2-40B4-BE49-F238E27FC236}">
                <a16:creationId xmlns:a16="http://schemas.microsoft.com/office/drawing/2014/main" id="{31F27523-5284-AC22-829D-C098CE6CB06A}"/>
              </a:ext>
            </a:extLst>
          </p:cNvPr>
          <p:cNvSpPr>
            <a:spLocks noGrp="1"/>
          </p:cNvSpPr>
          <p:nvPr>
            <p:ph type="dt" sz="half" idx="10"/>
          </p:nvPr>
        </p:nvSpPr>
        <p:spPr/>
        <p:txBody>
          <a:bodyPr/>
          <a:lstStyle/>
          <a:p>
            <a:fld id="{39DC9414-7FF3-4F08-94BE-4349B872A7C2}" type="datetimeFigureOut">
              <a:rPr lang="es-ES" smtClean="0"/>
              <a:t>07/04/2026</a:t>
            </a:fld>
            <a:endParaRPr lang="es-ES"/>
          </a:p>
        </p:txBody>
      </p:sp>
      <p:sp>
        <p:nvSpPr>
          <p:cNvPr id="5" name="Marcador de pie de página 4">
            <a:extLst>
              <a:ext uri="{FF2B5EF4-FFF2-40B4-BE49-F238E27FC236}">
                <a16:creationId xmlns:a16="http://schemas.microsoft.com/office/drawing/2014/main" id="{92A31471-2F0D-10EC-584B-D766C9365E3B}"/>
              </a:ext>
            </a:extLst>
          </p:cNvPr>
          <p:cNvSpPr>
            <a:spLocks noGrp="1"/>
          </p:cNvSpPr>
          <p:nvPr>
            <p:ph type="ftr" sz="quarter" idx="11"/>
          </p:nvPr>
        </p:nvSpPr>
        <p:spPr/>
        <p:txBody>
          <a:bodyPr/>
          <a:lstStyle/>
          <a:p>
            <a:endParaRPr lang="es-ES"/>
          </a:p>
        </p:txBody>
      </p:sp>
      <p:sp>
        <p:nvSpPr>
          <p:cNvPr id="6" name="Marcador de número de diapositiva 5">
            <a:extLst>
              <a:ext uri="{FF2B5EF4-FFF2-40B4-BE49-F238E27FC236}">
                <a16:creationId xmlns:a16="http://schemas.microsoft.com/office/drawing/2014/main" id="{DE50FBAB-7F67-A296-5C11-CBC458CADCF6}"/>
              </a:ext>
            </a:extLst>
          </p:cNvPr>
          <p:cNvSpPr>
            <a:spLocks noGrp="1"/>
          </p:cNvSpPr>
          <p:nvPr>
            <p:ph type="sldNum" sz="quarter" idx="12"/>
          </p:nvPr>
        </p:nvSpPr>
        <p:spPr/>
        <p:txBody>
          <a:bodyPr/>
          <a:lstStyle/>
          <a:p>
            <a:fld id="{0D13620A-5829-4273-A5A6-3A7D6044478A}" type="slidenum">
              <a:rPr lang="es-ES" smtClean="0"/>
              <a:t>‹Nº›</a:t>
            </a:fld>
            <a:endParaRPr lang="es-ES"/>
          </a:p>
        </p:txBody>
      </p:sp>
    </p:spTree>
    <p:extLst>
      <p:ext uri="{BB962C8B-B14F-4D97-AF65-F5344CB8AC3E}">
        <p14:creationId xmlns:p14="http://schemas.microsoft.com/office/powerpoint/2010/main" val="91723713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ítulo y objetos">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51D30D42-8B03-CEA5-8C57-E6B8BF64BD90}"/>
              </a:ext>
            </a:extLst>
          </p:cNvPr>
          <p:cNvSpPr>
            <a:spLocks noGrp="1"/>
          </p:cNvSpPr>
          <p:nvPr>
            <p:ph type="title"/>
          </p:nvPr>
        </p:nvSpPr>
        <p:spPr/>
        <p:txBody>
          <a:bodyPr/>
          <a:lstStyle/>
          <a:p>
            <a:r>
              <a:rPr lang="es-ES"/>
              <a:t>Haga clic para modificar el estilo de título del patrón</a:t>
            </a:r>
          </a:p>
        </p:txBody>
      </p:sp>
      <p:sp>
        <p:nvSpPr>
          <p:cNvPr id="3" name="Marcador de contenido 2">
            <a:extLst>
              <a:ext uri="{FF2B5EF4-FFF2-40B4-BE49-F238E27FC236}">
                <a16:creationId xmlns:a16="http://schemas.microsoft.com/office/drawing/2014/main" id="{276B1511-A80E-23C6-E9D0-93BA66DAB992}"/>
              </a:ext>
            </a:extLst>
          </p:cNvPr>
          <p:cNvSpPr>
            <a:spLocks noGrp="1"/>
          </p:cNvSpPr>
          <p:nvPr>
            <p:ph idx="1"/>
          </p:nvPr>
        </p:nvSpPr>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p>
        </p:txBody>
      </p:sp>
      <p:sp>
        <p:nvSpPr>
          <p:cNvPr id="4" name="Marcador de fecha 3">
            <a:extLst>
              <a:ext uri="{FF2B5EF4-FFF2-40B4-BE49-F238E27FC236}">
                <a16:creationId xmlns:a16="http://schemas.microsoft.com/office/drawing/2014/main" id="{22A091B8-87EC-C43F-42CE-F24868105001}"/>
              </a:ext>
            </a:extLst>
          </p:cNvPr>
          <p:cNvSpPr>
            <a:spLocks noGrp="1"/>
          </p:cNvSpPr>
          <p:nvPr>
            <p:ph type="dt" sz="half" idx="10"/>
          </p:nvPr>
        </p:nvSpPr>
        <p:spPr/>
        <p:txBody>
          <a:bodyPr/>
          <a:lstStyle/>
          <a:p>
            <a:fld id="{39DC9414-7FF3-4F08-94BE-4349B872A7C2}" type="datetimeFigureOut">
              <a:rPr lang="es-ES" smtClean="0"/>
              <a:t>07/04/2026</a:t>
            </a:fld>
            <a:endParaRPr lang="es-ES"/>
          </a:p>
        </p:txBody>
      </p:sp>
      <p:sp>
        <p:nvSpPr>
          <p:cNvPr id="5" name="Marcador de pie de página 4">
            <a:extLst>
              <a:ext uri="{FF2B5EF4-FFF2-40B4-BE49-F238E27FC236}">
                <a16:creationId xmlns:a16="http://schemas.microsoft.com/office/drawing/2014/main" id="{C10E8E5B-4117-8D96-7CF9-972459F87385}"/>
              </a:ext>
            </a:extLst>
          </p:cNvPr>
          <p:cNvSpPr>
            <a:spLocks noGrp="1"/>
          </p:cNvSpPr>
          <p:nvPr>
            <p:ph type="ftr" sz="quarter" idx="11"/>
          </p:nvPr>
        </p:nvSpPr>
        <p:spPr/>
        <p:txBody>
          <a:bodyPr/>
          <a:lstStyle/>
          <a:p>
            <a:endParaRPr lang="es-ES"/>
          </a:p>
        </p:txBody>
      </p:sp>
      <p:sp>
        <p:nvSpPr>
          <p:cNvPr id="6" name="Marcador de número de diapositiva 5">
            <a:extLst>
              <a:ext uri="{FF2B5EF4-FFF2-40B4-BE49-F238E27FC236}">
                <a16:creationId xmlns:a16="http://schemas.microsoft.com/office/drawing/2014/main" id="{A6A57D51-EB6C-3FAE-C726-72ACA410C65F}"/>
              </a:ext>
            </a:extLst>
          </p:cNvPr>
          <p:cNvSpPr>
            <a:spLocks noGrp="1"/>
          </p:cNvSpPr>
          <p:nvPr>
            <p:ph type="sldNum" sz="quarter" idx="12"/>
          </p:nvPr>
        </p:nvSpPr>
        <p:spPr/>
        <p:txBody>
          <a:bodyPr/>
          <a:lstStyle/>
          <a:p>
            <a:fld id="{0D13620A-5829-4273-A5A6-3A7D6044478A}" type="slidenum">
              <a:rPr lang="es-ES" smtClean="0"/>
              <a:t>‹Nº›</a:t>
            </a:fld>
            <a:endParaRPr lang="es-ES"/>
          </a:p>
        </p:txBody>
      </p:sp>
    </p:spTree>
    <p:extLst>
      <p:ext uri="{BB962C8B-B14F-4D97-AF65-F5344CB8AC3E}">
        <p14:creationId xmlns:p14="http://schemas.microsoft.com/office/powerpoint/2010/main" val="333700640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Encabezado de sección">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37C4FF5F-B080-0F33-11CC-5D69C399FE11}"/>
              </a:ext>
            </a:extLst>
          </p:cNvPr>
          <p:cNvSpPr>
            <a:spLocks noGrp="1"/>
          </p:cNvSpPr>
          <p:nvPr>
            <p:ph type="title"/>
          </p:nvPr>
        </p:nvSpPr>
        <p:spPr>
          <a:xfrm>
            <a:off x="831850" y="1709738"/>
            <a:ext cx="10515600" cy="2852737"/>
          </a:xfrm>
        </p:spPr>
        <p:txBody>
          <a:bodyPr anchor="b"/>
          <a:lstStyle>
            <a:lvl1pPr>
              <a:defRPr sz="6000"/>
            </a:lvl1pPr>
          </a:lstStyle>
          <a:p>
            <a:r>
              <a:rPr lang="es-ES"/>
              <a:t>Haga clic para modificar el estilo de título del patrón</a:t>
            </a:r>
          </a:p>
        </p:txBody>
      </p:sp>
      <p:sp>
        <p:nvSpPr>
          <p:cNvPr id="3" name="Marcador de texto 2">
            <a:extLst>
              <a:ext uri="{FF2B5EF4-FFF2-40B4-BE49-F238E27FC236}">
                <a16:creationId xmlns:a16="http://schemas.microsoft.com/office/drawing/2014/main" id="{840098A1-C9FB-1B4A-997F-1AB3B0577EA0}"/>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s-ES"/>
              <a:t>Haga clic para modificar los estilos de texto del patrón</a:t>
            </a:r>
          </a:p>
        </p:txBody>
      </p:sp>
      <p:sp>
        <p:nvSpPr>
          <p:cNvPr id="4" name="Marcador de fecha 3">
            <a:extLst>
              <a:ext uri="{FF2B5EF4-FFF2-40B4-BE49-F238E27FC236}">
                <a16:creationId xmlns:a16="http://schemas.microsoft.com/office/drawing/2014/main" id="{CA3C72F6-9CA9-398F-7009-655FC7244A19}"/>
              </a:ext>
            </a:extLst>
          </p:cNvPr>
          <p:cNvSpPr>
            <a:spLocks noGrp="1"/>
          </p:cNvSpPr>
          <p:nvPr>
            <p:ph type="dt" sz="half" idx="10"/>
          </p:nvPr>
        </p:nvSpPr>
        <p:spPr/>
        <p:txBody>
          <a:bodyPr/>
          <a:lstStyle/>
          <a:p>
            <a:fld id="{39DC9414-7FF3-4F08-94BE-4349B872A7C2}" type="datetimeFigureOut">
              <a:rPr lang="es-ES" smtClean="0"/>
              <a:t>07/04/2026</a:t>
            </a:fld>
            <a:endParaRPr lang="es-ES"/>
          </a:p>
        </p:txBody>
      </p:sp>
      <p:sp>
        <p:nvSpPr>
          <p:cNvPr id="5" name="Marcador de pie de página 4">
            <a:extLst>
              <a:ext uri="{FF2B5EF4-FFF2-40B4-BE49-F238E27FC236}">
                <a16:creationId xmlns:a16="http://schemas.microsoft.com/office/drawing/2014/main" id="{22642E1D-91E6-5A4C-CFD7-BE63F35E8223}"/>
              </a:ext>
            </a:extLst>
          </p:cNvPr>
          <p:cNvSpPr>
            <a:spLocks noGrp="1"/>
          </p:cNvSpPr>
          <p:nvPr>
            <p:ph type="ftr" sz="quarter" idx="11"/>
          </p:nvPr>
        </p:nvSpPr>
        <p:spPr/>
        <p:txBody>
          <a:bodyPr/>
          <a:lstStyle/>
          <a:p>
            <a:endParaRPr lang="es-ES"/>
          </a:p>
        </p:txBody>
      </p:sp>
      <p:sp>
        <p:nvSpPr>
          <p:cNvPr id="6" name="Marcador de número de diapositiva 5">
            <a:extLst>
              <a:ext uri="{FF2B5EF4-FFF2-40B4-BE49-F238E27FC236}">
                <a16:creationId xmlns:a16="http://schemas.microsoft.com/office/drawing/2014/main" id="{4BE368AA-BA1B-4479-398A-C9832A9678E8}"/>
              </a:ext>
            </a:extLst>
          </p:cNvPr>
          <p:cNvSpPr>
            <a:spLocks noGrp="1"/>
          </p:cNvSpPr>
          <p:nvPr>
            <p:ph type="sldNum" sz="quarter" idx="12"/>
          </p:nvPr>
        </p:nvSpPr>
        <p:spPr/>
        <p:txBody>
          <a:bodyPr/>
          <a:lstStyle/>
          <a:p>
            <a:fld id="{0D13620A-5829-4273-A5A6-3A7D6044478A}" type="slidenum">
              <a:rPr lang="es-ES" smtClean="0"/>
              <a:t>‹Nº›</a:t>
            </a:fld>
            <a:endParaRPr lang="es-ES"/>
          </a:p>
        </p:txBody>
      </p:sp>
    </p:spTree>
    <p:extLst>
      <p:ext uri="{BB962C8B-B14F-4D97-AF65-F5344CB8AC3E}">
        <p14:creationId xmlns:p14="http://schemas.microsoft.com/office/powerpoint/2010/main" val="153415468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os objetos">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F3A8A224-C330-1490-C808-77463486E846}"/>
              </a:ext>
            </a:extLst>
          </p:cNvPr>
          <p:cNvSpPr>
            <a:spLocks noGrp="1"/>
          </p:cNvSpPr>
          <p:nvPr>
            <p:ph type="title"/>
          </p:nvPr>
        </p:nvSpPr>
        <p:spPr/>
        <p:txBody>
          <a:bodyPr/>
          <a:lstStyle/>
          <a:p>
            <a:r>
              <a:rPr lang="es-ES"/>
              <a:t>Haga clic para modificar el estilo de título del patrón</a:t>
            </a:r>
          </a:p>
        </p:txBody>
      </p:sp>
      <p:sp>
        <p:nvSpPr>
          <p:cNvPr id="3" name="Marcador de contenido 2">
            <a:extLst>
              <a:ext uri="{FF2B5EF4-FFF2-40B4-BE49-F238E27FC236}">
                <a16:creationId xmlns:a16="http://schemas.microsoft.com/office/drawing/2014/main" id="{717EB913-52F5-D192-9714-131AF2536CBE}"/>
              </a:ext>
            </a:extLst>
          </p:cNvPr>
          <p:cNvSpPr>
            <a:spLocks noGrp="1"/>
          </p:cNvSpPr>
          <p:nvPr>
            <p:ph sz="half" idx="1"/>
          </p:nvPr>
        </p:nvSpPr>
        <p:spPr>
          <a:xfrm>
            <a:off x="838200" y="1825625"/>
            <a:ext cx="5181600" cy="4351338"/>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p>
        </p:txBody>
      </p:sp>
      <p:sp>
        <p:nvSpPr>
          <p:cNvPr id="4" name="Marcador de contenido 3">
            <a:extLst>
              <a:ext uri="{FF2B5EF4-FFF2-40B4-BE49-F238E27FC236}">
                <a16:creationId xmlns:a16="http://schemas.microsoft.com/office/drawing/2014/main" id="{D2141D9F-749E-0700-14E6-A537765F6B74}"/>
              </a:ext>
            </a:extLst>
          </p:cNvPr>
          <p:cNvSpPr>
            <a:spLocks noGrp="1"/>
          </p:cNvSpPr>
          <p:nvPr>
            <p:ph sz="half" idx="2"/>
          </p:nvPr>
        </p:nvSpPr>
        <p:spPr>
          <a:xfrm>
            <a:off x="6172200" y="1825625"/>
            <a:ext cx="5181600" cy="4351338"/>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p>
        </p:txBody>
      </p:sp>
      <p:sp>
        <p:nvSpPr>
          <p:cNvPr id="5" name="Marcador de fecha 4">
            <a:extLst>
              <a:ext uri="{FF2B5EF4-FFF2-40B4-BE49-F238E27FC236}">
                <a16:creationId xmlns:a16="http://schemas.microsoft.com/office/drawing/2014/main" id="{C4BE7491-96B4-ABA4-BEA7-6E54685B8757}"/>
              </a:ext>
            </a:extLst>
          </p:cNvPr>
          <p:cNvSpPr>
            <a:spLocks noGrp="1"/>
          </p:cNvSpPr>
          <p:nvPr>
            <p:ph type="dt" sz="half" idx="10"/>
          </p:nvPr>
        </p:nvSpPr>
        <p:spPr/>
        <p:txBody>
          <a:bodyPr/>
          <a:lstStyle/>
          <a:p>
            <a:fld id="{39DC9414-7FF3-4F08-94BE-4349B872A7C2}" type="datetimeFigureOut">
              <a:rPr lang="es-ES" smtClean="0"/>
              <a:t>07/04/2026</a:t>
            </a:fld>
            <a:endParaRPr lang="es-ES"/>
          </a:p>
        </p:txBody>
      </p:sp>
      <p:sp>
        <p:nvSpPr>
          <p:cNvPr id="6" name="Marcador de pie de página 5">
            <a:extLst>
              <a:ext uri="{FF2B5EF4-FFF2-40B4-BE49-F238E27FC236}">
                <a16:creationId xmlns:a16="http://schemas.microsoft.com/office/drawing/2014/main" id="{AEB654F7-36F9-C2DC-58AA-D03F21EDA9D4}"/>
              </a:ext>
            </a:extLst>
          </p:cNvPr>
          <p:cNvSpPr>
            <a:spLocks noGrp="1"/>
          </p:cNvSpPr>
          <p:nvPr>
            <p:ph type="ftr" sz="quarter" idx="11"/>
          </p:nvPr>
        </p:nvSpPr>
        <p:spPr/>
        <p:txBody>
          <a:bodyPr/>
          <a:lstStyle/>
          <a:p>
            <a:endParaRPr lang="es-ES"/>
          </a:p>
        </p:txBody>
      </p:sp>
      <p:sp>
        <p:nvSpPr>
          <p:cNvPr id="7" name="Marcador de número de diapositiva 6">
            <a:extLst>
              <a:ext uri="{FF2B5EF4-FFF2-40B4-BE49-F238E27FC236}">
                <a16:creationId xmlns:a16="http://schemas.microsoft.com/office/drawing/2014/main" id="{C63BD393-4168-BE43-C11C-5B68F8C54B6B}"/>
              </a:ext>
            </a:extLst>
          </p:cNvPr>
          <p:cNvSpPr>
            <a:spLocks noGrp="1"/>
          </p:cNvSpPr>
          <p:nvPr>
            <p:ph type="sldNum" sz="quarter" idx="12"/>
          </p:nvPr>
        </p:nvSpPr>
        <p:spPr/>
        <p:txBody>
          <a:bodyPr/>
          <a:lstStyle/>
          <a:p>
            <a:fld id="{0D13620A-5829-4273-A5A6-3A7D6044478A}" type="slidenum">
              <a:rPr lang="es-ES" smtClean="0"/>
              <a:t>‹Nº›</a:t>
            </a:fld>
            <a:endParaRPr lang="es-ES"/>
          </a:p>
        </p:txBody>
      </p:sp>
    </p:spTree>
    <p:extLst>
      <p:ext uri="{BB962C8B-B14F-4D97-AF65-F5344CB8AC3E}">
        <p14:creationId xmlns:p14="http://schemas.microsoft.com/office/powerpoint/2010/main" val="214914662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ación">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7DB5F678-F342-22A9-ED53-60C604A5F5C8}"/>
              </a:ext>
            </a:extLst>
          </p:cNvPr>
          <p:cNvSpPr>
            <a:spLocks noGrp="1"/>
          </p:cNvSpPr>
          <p:nvPr>
            <p:ph type="title"/>
          </p:nvPr>
        </p:nvSpPr>
        <p:spPr>
          <a:xfrm>
            <a:off x="839788" y="365125"/>
            <a:ext cx="10515600" cy="1325563"/>
          </a:xfrm>
        </p:spPr>
        <p:txBody>
          <a:bodyPr/>
          <a:lstStyle/>
          <a:p>
            <a:r>
              <a:rPr lang="es-ES"/>
              <a:t>Haga clic para modificar el estilo de título del patrón</a:t>
            </a:r>
          </a:p>
        </p:txBody>
      </p:sp>
      <p:sp>
        <p:nvSpPr>
          <p:cNvPr id="3" name="Marcador de texto 2">
            <a:extLst>
              <a:ext uri="{FF2B5EF4-FFF2-40B4-BE49-F238E27FC236}">
                <a16:creationId xmlns:a16="http://schemas.microsoft.com/office/drawing/2014/main" id="{4A888E82-C40B-2BED-48E7-BB9876819806}"/>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a:t>Haga clic para modificar los estilos de texto del patrón</a:t>
            </a:r>
          </a:p>
        </p:txBody>
      </p:sp>
      <p:sp>
        <p:nvSpPr>
          <p:cNvPr id="4" name="Marcador de contenido 3">
            <a:extLst>
              <a:ext uri="{FF2B5EF4-FFF2-40B4-BE49-F238E27FC236}">
                <a16:creationId xmlns:a16="http://schemas.microsoft.com/office/drawing/2014/main" id="{776285B1-D24D-AFB7-C366-0109A52D17EC}"/>
              </a:ext>
            </a:extLst>
          </p:cNvPr>
          <p:cNvSpPr>
            <a:spLocks noGrp="1"/>
          </p:cNvSpPr>
          <p:nvPr>
            <p:ph sz="half" idx="2"/>
          </p:nvPr>
        </p:nvSpPr>
        <p:spPr>
          <a:xfrm>
            <a:off x="839788" y="2505075"/>
            <a:ext cx="5157787" cy="3684588"/>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p>
        </p:txBody>
      </p:sp>
      <p:sp>
        <p:nvSpPr>
          <p:cNvPr id="5" name="Marcador de texto 4">
            <a:extLst>
              <a:ext uri="{FF2B5EF4-FFF2-40B4-BE49-F238E27FC236}">
                <a16:creationId xmlns:a16="http://schemas.microsoft.com/office/drawing/2014/main" id="{07461665-FD28-B7C6-1722-91E15EE0789C}"/>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a:t>Haga clic para modificar los estilos de texto del patrón</a:t>
            </a:r>
          </a:p>
        </p:txBody>
      </p:sp>
      <p:sp>
        <p:nvSpPr>
          <p:cNvPr id="6" name="Marcador de contenido 5">
            <a:extLst>
              <a:ext uri="{FF2B5EF4-FFF2-40B4-BE49-F238E27FC236}">
                <a16:creationId xmlns:a16="http://schemas.microsoft.com/office/drawing/2014/main" id="{F50C9C6B-F4E5-A20D-393E-9714E4776370}"/>
              </a:ext>
            </a:extLst>
          </p:cNvPr>
          <p:cNvSpPr>
            <a:spLocks noGrp="1"/>
          </p:cNvSpPr>
          <p:nvPr>
            <p:ph sz="quarter" idx="4"/>
          </p:nvPr>
        </p:nvSpPr>
        <p:spPr>
          <a:xfrm>
            <a:off x="6172200" y="2505075"/>
            <a:ext cx="5183188" cy="3684588"/>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p>
        </p:txBody>
      </p:sp>
      <p:sp>
        <p:nvSpPr>
          <p:cNvPr id="7" name="Marcador de fecha 6">
            <a:extLst>
              <a:ext uri="{FF2B5EF4-FFF2-40B4-BE49-F238E27FC236}">
                <a16:creationId xmlns:a16="http://schemas.microsoft.com/office/drawing/2014/main" id="{A2EAFCF8-396D-FBC9-269C-A41891FDE0D8}"/>
              </a:ext>
            </a:extLst>
          </p:cNvPr>
          <p:cNvSpPr>
            <a:spLocks noGrp="1"/>
          </p:cNvSpPr>
          <p:nvPr>
            <p:ph type="dt" sz="half" idx="10"/>
          </p:nvPr>
        </p:nvSpPr>
        <p:spPr/>
        <p:txBody>
          <a:bodyPr/>
          <a:lstStyle/>
          <a:p>
            <a:fld id="{39DC9414-7FF3-4F08-94BE-4349B872A7C2}" type="datetimeFigureOut">
              <a:rPr lang="es-ES" smtClean="0"/>
              <a:t>07/04/2026</a:t>
            </a:fld>
            <a:endParaRPr lang="es-ES"/>
          </a:p>
        </p:txBody>
      </p:sp>
      <p:sp>
        <p:nvSpPr>
          <p:cNvPr id="8" name="Marcador de pie de página 7">
            <a:extLst>
              <a:ext uri="{FF2B5EF4-FFF2-40B4-BE49-F238E27FC236}">
                <a16:creationId xmlns:a16="http://schemas.microsoft.com/office/drawing/2014/main" id="{E3833B71-2B86-BEF3-BD78-1BC851AAFAF9}"/>
              </a:ext>
            </a:extLst>
          </p:cNvPr>
          <p:cNvSpPr>
            <a:spLocks noGrp="1"/>
          </p:cNvSpPr>
          <p:nvPr>
            <p:ph type="ftr" sz="quarter" idx="11"/>
          </p:nvPr>
        </p:nvSpPr>
        <p:spPr/>
        <p:txBody>
          <a:bodyPr/>
          <a:lstStyle/>
          <a:p>
            <a:endParaRPr lang="es-ES"/>
          </a:p>
        </p:txBody>
      </p:sp>
      <p:sp>
        <p:nvSpPr>
          <p:cNvPr id="9" name="Marcador de número de diapositiva 8">
            <a:extLst>
              <a:ext uri="{FF2B5EF4-FFF2-40B4-BE49-F238E27FC236}">
                <a16:creationId xmlns:a16="http://schemas.microsoft.com/office/drawing/2014/main" id="{02E13842-3755-F3ED-59F7-13C3A4077420}"/>
              </a:ext>
            </a:extLst>
          </p:cNvPr>
          <p:cNvSpPr>
            <a:spLocks noGrp="1"/>
          </p:cNvSpPr>
          <p:nvPr>
            <p:ph type="sldNum" sz="quarter" idx="12"/>
          </p:nvPr>
        </p:nvSpPr>
        <p:spPr/>
        <p:txBody>
          <a:bodyPr/>
          <a:lstStyle/>
          <a:p>
            <a:fld id="{0D13620A-5829-4273-A5A6-3A7D6044478A}" type="slidenum">
              <a:rPr lang="es-ES" smtClean="0"/>
              <a:t>‹Nº›</a:t>
            </a:fld>
            <a:endParaRPr lang="es-ES"/>
          </a:p>
        </p:txBody>
      </p:sp>
    </p:spTree>
    <p:extLst>
      <p:ext uri="{BB962C8B-B14F-4D97-AF65-F5344CB8AC3E}">
        <p14:creationId xmlns:p14="http://schemas.microsoft.com/office/powerpoint/2010/main" val="109457555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Solo el títul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E7F165AB-3BF7-5B43-D362-F70118078FA6}"/>
              </a:ext>
            </a:extLst>
          </p:cNvPr>
          <p:cNvSpPr>
            <a:spLocks noGrp="1"/>
          </p:cNvSpPr>
          <p:nvPr>
            <p:ph type="title"/>
          </p:nvPr>
        </p:nvSpPr>
        <p:spPr/>
        <p:txBody>
          <a:bodyPr/>
          <a:lstStyle/>
          <a:p>
            <a:r>
              <a:rPr lang="es-ES"/>
              <a:t>Haga clic para modificar el estilo de título del patrón</a:t>
            </a:r>
          </a:p>
        </p:txBody>
      </p:sp>
      <p:sp>
        <p:nvSpPr>
          <p:cNvPr id="3" name="Marcador de fecha 2">
            <a:extLst>
              <a:ext uri="{FF2B5EF4-FFF2-40B4-BE49-F238E27FC236}">
                <a16:creationId xmlns:a16="http://schemas.microsoft.com/office/drawing/2014/main" id="{BD153B19-D299-293E-D1F9-37FA425BF84C}"/>
              </a:ext>
            </a:extLst>
          </p:cNvPr>
          <p:cNvSpPr>
            <a:spLocks noGrp="1"/>
          </p:cNvSpPr>
          <p:nvPr>
            <p:ph type="dt" sz="half" idx="10"/>
          </p:nvPr>
        </p:nvSpPr>
        <p:spPr/>
        <p:txBody>
          <a:bodyPr/>
          <a:lstStyle/>
          <a:p>
            <a:fld id="{39DC9414-7FF3-4F08-94BE-4349B872A7C2}" type="datetimeFigureOut">
              <a:rPr lang="es-ES" smtClean="0"/>
              <a:t>07/04/2026</a:t>
            </a:fld>
            <a:endParaRPr lang="es-ES"/>
          </a:p>
        </p:txBody>
      </p:sp>
      <p:sp>
        <p:nvSpPr>
          <p:cNvPr id="4" name="Marcador de pie de página 3">
            <a:extLst>
              <a:ext uri="{FF2B5EF4-FFF2-40B4-BE49-F238E27FC236}">
                <a16:creationId xmlns:a16="http://schemas.microsoft.com/office/drawing/2014/main" id="{87EA5ACD-E509-7385-75E8-5E3141F4019D}"/>
              </a:ext>
            </a:extLst>
          </p:cNvPr>
          <p:cNvSpPr>
            <a:spLocks noGrp="1"/>
          </p:cNvSpPr>
          <p:nvPr>
            <p:ph type="ftr" sz="quarter" idx="11"/>
          </p:nvPr>
        </p:nvSpPr>
        <p:spPr/>
        <p:txBody>
          <a:bodyPr/>
          <a:lstStyle/>
          <a:p>
            <a:endParaRPr lang="es-ES"/>
          </a:p>
        </p:txBody>
      </p:sp>
      <p:sp>
        <p:nvSpPr>
          <p:cNvPr id="5" name="Marcador de número de diapositiva 4">
            <a:extLst>
              <a:ext uri="{FF2B5EF4-FFF2-40B4-BE49-F238E27FC236}">
                <a16:creationId xmlns:a16="http://schemas.microsoft.com/office/drawing/2014/main" id="{ADB34EFE-0363-BB8C-7592-B4A599A9E4D2}"/>
              </a:ext>
            </a:extLst>
          </p:cNvPr>
          <p:cNvSpPr>
            <a:spLocks noGrp="1"/>
          </p:cNvSpPr>
          <p:nvPr>
            <p:ph type="sldNum" sz="quarter" idx="12"/>
          </p:nvPr>
        </p:nvSpPr>
        <p:spPr/>
        <p:txBody>
          <a:bodyPr/>
          <a:lstStyle/>
          <a:p>
            <a:fld id="{0D13620A-5829-4273-A5A6-3A7D6044478A}" type="slidenum">
              <a:rPr lang="es-ES" smtClean="0"/>
              <a:t>‹Nº›</a:t>
            </a:fld>
            <a:endParaRPr lang="es-ES"/>
          </a:p>
        </p:txBody>
      </p:sp>
    </p:spTree>
    <p:extLst>
      <p:ext uri="{BB962C8B-B14F-4D97-AF65-F5344CB8AC3E}">
        <p14:creationId xmlns:p14="http://schemas.microsoft.com/office/powerpoint/2010/main" val="264388140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En blanco">
    <p:spTree>
      <p:nvGrpSpPr>
        <p:cNvPr id="1" name=""/>
        <p:cNvGrpSpPr/>
        <p:nvPr/>
      </p:nvGrpSpPr>
      <p:grpSpPr>
        <a:xfrm>
          <a:off x="0" y="0"/>
          <a:ext cx="0" cy="0"/>
          <a:chOff x="0" y="0"/>
          <a:chExt cx="0" cy="0"/>
        </a:xfrm>
      </p:grpSpPr>
      <p:sp>
        <p:nvSpPr>
          <p:cNvPr id="2" name="Marcador de fecha 1">
            <a:extLst>
              <a:ext uri="{FF2B5EF4-FFF2-40B4-BE49-F238E27FC236}">
                <a16:creationId xmlns:a16="http://schemas.microsoft.com/office/drawing/2014/main" id="{29748C13-F4C5-B7D5-9799-6ECF809351A7}"/>
              </a:ext>
            </a:extLst>
          </p:cNvPr>
          <p:cNvSpPr>
            <a:spLocks noGrp="1"/>
          </p:cNvSpPr>
          <p:nvPr>
            <p:ph type="dt" sz="half" idx="10"/>
          </p:nvPr>
        </p:nvSpPr>
        <p:spPr/>
        <p:txBody>
          <a:bodyPr/>
          <a:lstStyle/>
          <a:p>
            <a:fld id="{39DC9414-7FF3-4F08-94BE-4349B872A7C2}" type="datetimeFigureOut">
              <a:rPr lang="es-ES" smtClean="0"/>
              <a:t>07/04/2026</a:t>
            </a:fld>
            <a:endParaRPr lang="es-ES"/>
          </a:p>
        </p:txBody>
      </p:sp>
      <p:sp>
        <p:nvSpPr>
          <p:cNvPr id="3" name="Marcador de pie de página 2">
            <a:extLst>
              <a:ext uri="{FF2B5EF4-FFF2-40B4-BE49-F238E27FC236}">
                <a16:creationId xmlns:a16="http://schemas.microsoft.com/office/drawing/2014/main" id="{3363D828-5CF9-B8CB-95A8-3C09F1C16FCF}"/>
              </a:ext>
            </a:extLst>
          </p:cNvPr>
          <p:cNvSpPr>
            <a:spLocks noGrp="1"/>
          </p:cNvSpPr>
          <p:nvPr>
            <p:ph type="ftr" sz="quarter" idx="11"/>
          </p:nvPr>
        </p:nvSpPr>
        <p:spPr/>
        <p:txBody>
          <a:bodyPr/>
          <a:lstStyle/>
          <a:p>
            <a:endParaRPr lang="es-ES"/>
          </a:p>
        </p:txBody>
      </p:sp>
      <p:sp>
        <p:nvSpPr>
          <p:cNvPr id="4" name="Marcador de número de diapositiva 3">
            <a:extLst>
              <a:ext uri="{FF2B5EF4-FFF2-40B4-BE49-F238E27FC236}">
                <a16:creationId xmlns:a16="http://schemas.microsoft.com/office/drawing/2014/main" id="{89417E26-8C07-BF4C-3650-85BF9C225108}"/>
              </a:ext>
            </a:extLst>
          </p:cNvPr>
          <p:cNvSpPr>
            <a:spLocks noGrp="1"/>
          </p:cNvSpPr>
          <p:nvPr>
            <p:ph type="sldNum" sz="quarter" idx="12"/>
          </p:nvPr>
        </p:nvSpPr>
        <p:spPr/>
        <p:txBody>
          <a:bodyPr/>
          <a:lstStyle/>
          <a:p>
            <a:fld id="{0D13620A-5829-4273-A5A6-3A7D6044478A}" type="slidenum">
              <a:rPr lang="es-ES" smtClean="0"/>
              <a:t>‹Nº›</a:t>
            </a:fld>
            <a:endParaRPr lang="es-ES"/>
          </a:p>
        </p:txBody>
      </p:sp>
    </p:spTree>
    <p:extLst>
      <p:ext uri="{BB962C8B-B14F-4D97-AF65-F5344CB8AC3E}">
        <p14:creationId xmlns:p14="http://schemas.microsoft.com/office/powerpoint/2010/main" val="53585307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ido con títul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0EF56F2D-D579-31E3-FBFC-75C9E81456CA}"/>
              </a:ext>
            </a:extLst>
          </p:cNvPr>
          <p:cNvSpPr>
            <a:spLocks noGrp="1"/>
          </p:cNvSpPr>
          <p:nvPr>
            <p:ph type="title"/>
          </p:nvPr>
        </p:nvSpPr>
        <p:spPr>
          <a:xfrm>
            <a:off x="839788" y="457200"/>
            <a:ext cx="3932237" cy="1600200"/>
          </a:xfrm>
        </p:spPr>
        <p:txBody>
          <a:bodyPr anchor="b"/>
          <a:lstStyle>
            <a:lvl1pPr>
              <a:defRPr sz="3200"/>
            </a:lvl1pPr>
          </a:lstStyle>
          <a:p>
            <a:r>
              <a:rPr lang="es-ES"/>
              <a:t>Haga clic para modificar el estilo de título del patrón</a:t>
            </a:r>
          </a:p>
        </p:txBody>
      </p:sp>
      <p:sp>
        <p:nvSpPr>
          <p:cNvPr id="3" name="Marcador de contenido 2">
            <a:extLst>
              <a:ext uri="{FF2B5EF4-FFF2-40B4-BE49-F238E27FC236}">
                <a16:creationId xmlns:a16="http://schemas.microsoft.com/office/drawing/2014/main" id="{96BF88F6-7786-C10B-6FC4-B913E8FF739E}"/>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p>
        </p:txBody>
      </p:sp>
      <p:sp>
        <p:nvSpPr>
          <p:cNvPr id="4" name="Marcador de texto 3">
            <a:extLst>
              <a:ext uri="{FF2B5EF4-FFF2-40B4-BE49-F238E27FC236}">
                <a16:creationId xmlns:a16="http://schemas.microsoft.com/office/drawing/2014/main" id="{CA1A6971-2F12-F136-8E7B-C758ACAA386E}"/>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s-ES"/>
              <a:t>Haga clic para modificar los estilos de texto del patrón</a:t>
            </a:r>
          </a:p>
        </p:txBody>
      </p:sp>
      <p:sp>
        <p:nvSpPr>
          <p:cNvPr id="5" name="Marcador de fecha 4">
            <a:extLst>
              <a:ext uri="{FF2B5EF4-FFF2-40B4-BE49-F238E27FC236}">
                <a16:creationId xmlns:a16="http://schemas.microsoft.com/office/drawing/2014/main" id="{822F9AB8-96A1-5BCA-15A6-86B2009CF921}"/>
              </a:ext>
            </a:extLst>
          </p:cNvPr>
          <p:cNvSpPr>
            <a:spLocks noGrp="1"/>
          </p:cNvSpPr>
          <p:nvPr>
            <p:ph type="dt" sz="half" idx="10"/>
          </p:nvPr>
        </p:nvSpPr>
        <p:spPr/>
        <p:txBody>
          <a:bodyPr/>
          <a:lstStyle/>
          <a:p>
            <a:fld id="{39DC9414-7FF3-4F08-94BE-4349B872A7C2}" type="datetimeFigureOut">
              <a:rPr lang="es-ES" smtClean="0"/>
              <a:t>07/04/2026</a:t>
            </a:fld>
            <a:endParaRPr lang="es-ES"/>
          </a:p>
        </p:txBody>
      </p:sp>
      <p:sp>
        <p:nvSpPr>
          <p:cNvPr id="6" name="Marcador de pie de página 5">
            <a:extLst>
              <a:ext uri="{FF2B5EF4-FFF2-40B4-BE49-F238E27FC236}">
                <a16:creationId xmlns:a16="http://schemas.microsoft.com/office/drawing/2014/main" id="{63515E12-0741-B469-E37E-F18BB9F3FFAC}"/>
              </a:ext>
            </a:extLst>
          </p:cNvPr>
          <p:cNvSpPr>
            <a:spLocks noGrp="1"/>
          </p:cNvSpPr>
          <p:nvPr>
            <p:ph type="ftr" sz="quarter" idx="11"/>
          </p:nvPr>
        </p:nvSpPr>
        <p:spPr/>
        <p:txBody>
          <a:bodyPr/>
          <a:lstStyle/>
          <a:p>
            <a:endParaRPr lang="es-ES"/>
          </a:p>
        </p:txBody>
      </p:sp>
      <p:sp>
        <p:nvSpPr>
          <p:cNvPr id="7" name="Marcador de número de diapositiva 6">
            <a:extLst>
              <a:ext uri="{FF2B5EF4-FFF2-40B4-BE49-F238E27FC236}">
                <a16:creationId xmlns:a16="http://schemas.microsoft.com/office/drawing/2014/main" id="{DF57D0E8-44D9-FB3A-5B60-3863383FE648}"/>
              </a:ext>
            </a:extLst>
          </p:cNvPr>
          <p:cNvSpPr>
            <a:spLocks noGrp="1"/>
          </p:cNvSpPr>
          <p:nvPr>
            <p:ph type="sldNum" sz="quarter" idx="12"/>
          </p:nvPr>
        </p:nvSpPr>
        <p:spPr/>
        <p:txBody>
          <a:bodyPr/>
          <a:lstStyle/>
          <a:p>
            <a:fld id="{0D13620A-5829-4273-A5A6-3A7D6044478A}" type="slidenum">
              <a:rPr lang="es-ES" smtClean="0"/>
              <a:t>‹Nº›</a:t>
            </a:fld>
            <a:endParaRPr lang="es-ES"/>
          </a:p>
        </p:txBody>
      </p:sp>
    </p:spTree>
    <p:extLst>
      <p:ext uri="{BB962C8B-B14F-4D97-AF65-F5344CB8AC3E}">
        <p14:creationId xmlns:p14="http://schemas.microsoft.com/office/powerpoint/2010/main" val="389054598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Imagen con títul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74CFE1F9-F97D-4656-4529-03EE98AC7040}"/>
              </a:ext>
            </a:extLst>
          </p:cNvPr>
          <p:cNvSpPr>
            <a:spLocks noGrp="1"/>
          </p:cNvSpPr>
          <p:nvPr>
            <p:ph type="title"/>
          </p:nvPr>
        </p:nvSpPr>
        <p:spPr>
          <a:xfrm>
            <a:off x="839788" y="457200"/>
            <a:ext cx="3932237" cy="1600200"/>
          </a:xfrm>
        </p:spPr>
        <p:txBody>
          <a:bodyPr anchor="b"/>
          <a:lstStyle>
            <a:lvl1pPr>
              <a:defRPr sz="3200"/>
            </a:lvl1pPr>
          </a:lstStyle>
          <a:p>
            <a:r>
              <a:rPr lang="es-ES"/>
              <a:t>Haga clic para modificar el estilo de título del patrón</a:t>
            </a:r>
          </a:p>
        </p:txBody>
      </p:sp>
      <p:sp>
        <p:nvSpPr>
          <p:cNvPr id="3" name="Marcador de posición de imagen 2">
            <a:extLst>
              <a:ext uri="{FF2B5EF4-FFF2-40B4-BE49-F238E27FC236}">
                <a16:creationId xmlns:a16="http://schemas.microsoft.com/office/drawing/2014/main" id="{F669A44D-C94F-FD7F-9909-F68201AD8BFE}"/>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s-ES"/>
          </a:p>
        </p:txBody>
      </p:sp>
      <p:sp>
        <p:nvSpPr>
          <p:cNvPr id="4" name="Marcador de texto 3">
            <a:extLst>
              <a:ext uri="{FF2B5EF4-FFF2-40B4-BE49-F238E27FC236}">
                <a16:creationId xmlns:a16="http://schemas.microsoft.com/office/drawing/2014/main" id="{DC01BE0E-3977-5D52-4E50-B958AA7A68ED}"/>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s-ES"/>
              <a:t>Haga clic para modificar los estilos de texto del patrón</a:t>
            </a:r>
          </a:p>
        </p:txBody>
      </p:sp>
      <p:sp>
        <p:nvSpPr>
          <p:cNvPr id="5" name="Marcador de fecha 4">
            <a:extLst>
              <a:ext uri="{FF2B5EF4-FFF2-40B4-BE49-F238E27FC236}">
                <a16:creationId xmlns:a16="http://schemas.microsoft.com/office/drawing/2014/main" id="{C6278DD8-B388-FDED-EC57-4967BD8D1BF1}"/>
              </a:ext>
            </a:extLst>
          </p:cNvPr>
          <p:cNvSpPr>
            <a:spLocks noGrp="1"/>
          </p:cNvSpPr>
          <p:nvPr>
            <p:ph type="dt" sz="half" idx="10"/>
          </p:nvPr>
        </p:nvSpPr>
        <p:spPr/>
        <p:txBody>
          <a:bodyPr/>
          <a:lstStyle/>
          <a:p>
            <a:fld id="{39DC9414-7FF3-4F08-94BE-4349B872A7C2}" type="datetimeFigureOut">
              <a:rPr lang="es-ES" smtClean="0"/>
              <a:t>07/04/2026</a:t>
            </a:fld>
            <a:endParaRPr lang="es-ES"/>
          </a:p>
        </p:txBody>
      </p:sp>
      <p:sp>
        <p:nvSpPr>
          <p:cNvPr id="6" name="Marcador de pie de página 5">
            <a:extLst>
              <a:ext uri="{FF2B5EF4-FFF2-40B4-BE49-F238E27FC236}">
                <a16:creationId xmlns:a16="http://schemas.microsoft.com/office/drawing/2014/main" id="{B1C2E97F-91D2-08C0-ADEE-660F2331C558}"/>
              </a:ext>
            </a:extLst>
          </p:cNvPr>
          <p:cNvSpPr>
            <a:spLocks noGrp="1"/>
          </p:cNvSpPr>
          <p:nvPr>
            <p:ph type="ftr" sz="quarter" idx="11"/>
          </p:nvPr>
        </p:nvSpPr>
        <p:spPr/>
        <p:txBody>
          <a:bodyPr/>
          <a:lstStyle/>
          <a:p>
            <a:endParaRPr lang="es-ES"/>
          </a:p>
        </p:txBody>
      </p:sp>
      <p:sp>
        <p:nvSpPr>
          <p:cNvPr id="7" name="Marcador de número de diapositiva 6">
            <a:extLst>
              <a:ext uri="{FF2B5EF4-FFF2-40B4-BE49-F238E27FC236}">
                <a16:creationId xmlns:a16="http://schemas.microsoft.com/office/drawing/2014/main" id="{3F64EFB8-ADF5-566B-071A-B4AB7965979B}"/>
              </a:ext>
            </a:extLst>
          </p:cNvPr>
          <p:cNvSpPr>
            <a:spLocks noGrp="1"/>
          </p:cNvSpPr>
          <p:nvPr>
            <p:ph type="sldNum" sz="quarter" idx="12"/>
          </p:nvPr>
        </p:nvSpPr>
        <p:spPr/>
        <p:txBody>
          <a:bodyPr/>
          <a:lstStyle/>
          <a:p>
            <a:fld id="{0D13620A-5829-4273-A5A6-3A7D6044478A}" type="slidenum">
              <a:rPr lang="es-ES" smtClean="0"/>
              <a:t>‹Nº›</a:t>
            </a:fld>
            <a:endParaRPr lang="es-ES"/>
          </a:p>
        </p:txBody>
      </p:sp>
    </p:spTree>
    <p:extLst>
      <p:ext uri="{BB962C8B-B14F-4D97-AF65-F5344CB8AC3E}">
        <p14:creationId xmlns:p14="http://schemas.microsoft.com/office/powerpoint/2010/main" val="397142209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ítulo y texto vertical">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AB7E760C-AEA2-C06E-DF7C-CCD9BAA90B5B}"/>
              </a:ext>
            </a:extLst>
          </p:cNvPr>
          <p:cNvSpPr>
            <a:spLocks noGrp="1"/>
          </p:cNvSpPr>
          <p:nvPr>
            <p:ph type="title"/>
          </p:nvPr>
        </p:nvSpPr>
        <p:spPr/>
        <p:txBody>
          <a:bodyPr/>
          <a:lstStyle/>
          <a:p>
            <a:r>
              <a:rPr lang="es-ES"/>
              <a:t>Haga clic para modificar el estilo de título del patrón</a:t>
            </a:r>
          </a:p>
        </p:txBody>
      </p:sp>
      <p:sp>
        <p:nvSpPr>
          <p:cNvPr id="3" name="Marcador de texto vertical 2">
            <a:extLst>
              <a:ext uri="{FF2B5EF4-FFF2-40B4-BE49-F238E27FC236}">
                <a16:creationId xmlns:a16="http://schemas.microsoft.com/office/drawing/2014/main" id="{5FDB2566-EA34-8419-7EAF-88789EFFBAF4}"/>
              </a:ext>
            </a:extLst>
          </p:cNvPr>
          <p:cNvSpPr>
            <a:spLocks noGrp="1"/>
          </p:cNvSpPr>
          <p:nvPr>
            <p:ph type="body" orient="vert" idx="1"/>
          </p:nvPr>
        </p:nvSpPr>
        <p:spPr/>
        <p:txBody>
          <a:bodyPr vert="eaVert"/>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p>
        </p:txBody>
      </p:sp>
      <p:sp>
        <p:nvSpPr>
          <p:cNvPr id="4" name="Marcador de fecha 3">
            <a:extLst>
              <a:ext uri="{FF2B5EF4-FFF2-40B4-BE49-F238E27FC236}">
                <a16:creationId xmlns:a16="http://schemas.microsoft.com/office/drawing/2014/main" id="{3A49239D-A801-E0B6-42E8-E7131A1F5E80}"/>
              </a:ext>
            </a:extLst>
          </p:cNvPr>
          <p:cNvSpPr>
            <a:spLocks noGrp="1"/>
          </p:cNvSpPr>
          <p:nvPr>
            <p:ph type="dt" sz="half" idx="10"/>
          </p:nvPr>
        </p:nvSpPr>
        <p:spPr/>
        <p:txBody>
          <a:bodyPr/>
          <a:lstStyle/>
          <a:p>
            <a:fld id="{39DC9414-7FF3-4F08-94BE-4349B872A7C2}" type="datetimeFigureOut">
              <a:rPr lang="es-ES" smtClean="0"/>
              <a:t>07/04/2026</a:t>
            </a:fld>
            <a:endParaRPr lang="es-ES"/>
          </a:p>
        </p:txBody>
      </p:sp>
      <p:sp>
        <p:nvSpPr>
          <p:cNvPr id="5" name="Marcador de pie de página 4">
            <a:extLst>
              <a:ext uri="{FF2B5EF4-FFF2-40B4-BE49-F238E27FC236}">
                <a16:creationId xmlns:a16="http://schemas.microsoft.com/office/drawing/2014/main" id="{7316BA45-C109-59A7-471B-2C05AFA3DA50}"/>
              </a:ext>
            </a:extLst>
          </p:cNvPr>
          <p:cNvSpPr>
            <a:spLocks noGrp="1"/>
          </p:cNvSpPr>
          <p:nvPr>
            <p:ph type="ftr" sz="quarter" idx="11"/>
          </p:nvPr>
        </p:nvSpPr>
        <p:spPr/>
        <p:txBody>
          <a:bodyPr/>
          <a:lstStyle/>
          <a:p>
            <a:endParaRPr lang="es-ES"/>
          </a:p>
        </p:txBody>
      </p:sp>
      <p:sp>
        <p:nvSpPr>
          <p:cNvPr id="6" name="Marcador de número de diapositiva 5">
            <a:extLst>
              <a:ext uri="{FF2B5EF4-FFF2-40B4-BE49-F238E27FC236}">
                <a16:creationId xmlns:a16="http://schemas.microsoft.com/office/drawing/2014/main" id="{2E99CF7D-6ACD-132D-9305-1E08241E76C3}"/>
              </a:ext>
            </a:extLst>
          </p:cNvPr>
          <p:cNvSpPr>
            <a:spLocks noGrp="1"/>
          </p:cNvSpPr>
          <p:nvPr>
            <p:ph type="sldNum" sz="quarter" idx="12"/>
          </p:nvPr>
        </p:nvSpPr>
        <p:spPr/>
        <p:txBody>
          <a:bodyPr/>
          <a:lstStyle/>
          <a:p>
            <a:fld id="{0D13620A-5829-4273-A5A6-3A7D6044478A}" type="slidenum">
              <a:rPr lang="es-ES" smtClean="0"/>
              <a:t>‹Nº›</a:t>
            </a:fld>
            <a:endParaRPr lang="es-ES"/>
          </a:p>
        </p:txBody>
      </p:sp>
    </p:spTree>
    <p:extLst>
      <p:ext uri="{BB962C8B-B14F-4D97-AF65-F5344CB8AC3E}">
        <p14:creationId xmlns:p14="http://schemas.microsoft.com/office/powerpoint/2010/main" val="133115353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Título vertical y texto">
    <p:spTree>
      <p:nvGrpSpPr>
        <p:cNvPr id="1" name=""/>
        <p:cNvGrpSpPr/>
        <p:nvPr/>
      </p:nvGrpSpPr>
      <p:grpSpPr>
        <a:xfrm>
          <a:off x="0" y="0"/>
          <a:ext cx="0" cy="0"/>
          <a:chOff x="0" y="0"/>
          <a:chExt cx="0" cy="0"/>
        </a:xfrm>
      </p:grpSpPr>
      <p:sp>
        <p:nvSpPr>
          <p:cNvPr id="2" name="Título vertical 1">
            <a:extLst>
              <a:ext uri="{FF2B5EF4-FFF2-40B4-BE49-F238E27FC236}">
                <a16:creationId xmlns:a16="http://schemas.microsoft.com/office/drawing/2014/main" id="{FFFF97AD-ABE4-E868-BE9B-FD05E6501357}"/>
              </a:ext>
            </a:extLst>
          </p:cNvPr>
          <p:cNvSpPr>
            <a:spLocks noGrp="1"/>
          </p:cNvSpPr>
          <p:nvPr>
            <p:ph type="title" orient="vert"/>
          </p:nvPr>
        </p:nvSpPr>
        <p:spPr>
          <a:xfrm>
            <a:off x="8724900" y="365125"/>
            <a:ext cx="2628900" cy="5811838"/>
          </a:xfrm>
        </p:spPr>
        <p:txBody>
          <a:bodyPr vert="eaVert"/>
          <a:lstStyle/>
          <a:p>
            <a:r>
              <a:rPr lang="es-ES"/>
              <a:t>Haga clic para modificar el estilo de título del patrón</a:t>
            </a:r>
          </a:p>
        </p:txBody>
      </p:sp>
      <p:sp>
        <p:nvSpPr>
          <p:cNvPr id="3" name="Marcador de texto vertical 2">
            <a:extLst>
              <a:ext uri="{FF2B5EF4-FFF2-40B4-BE49-F238E27FC236}">
                <a16:creationId xmlns:a16="http://schemas.microsoft.com/office/drawing/2014/main" id="{51061B05-953C-D42D-9E6F-E7DB20B6BAE4}"/>
              </a:ext>
            </a:extLst>
          </p:cNvPr>
          <p:cNvSpPr>
            <a:spLocks noGrp="1"/>
          </p:cNvSpPr>
          <p:nvPr>
            <p:ph type="body" orient="vert" idx="1"/>
          </p:nvPr>
        </p:nvSpPr>
        <p:spPr>
          <a:xfrm>
            <a:off x="838200" y="365125"/>
            <a:ext cx="7734300" cy="5811838"/>
          </a:xfrm>
        </p:spPr>
        <p:txBody>
          <a:bodyPr vert="eaVert"/>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p>
        </p:txBody>
      </p:sp>
      <p:sp>
        <p:nvSpPr>
          <p:cNvPr id="4" name="Marcador de fecha 3">
            <a:extLst>
              <a:ext uri="{FF2B5EF4-FFF2-40B4-BE49-F238E27FC236}">
                <a16:creationId xmlns:a16="http://schemas.microsoft.com/office/drawing/2014/main" id="{F9ECD14B-D3C2-9218-AA4A-1BE4D9BB9997}"/>
              </a:ext>
            </a:extLst>
          </p:cNvPr>
          <p:cNvSpPr>
            <a:spLocks noGrp="1"/>
          </p:cNvSpPr>
          <p:nvPr>
            <p:ph type="dt" sz="half" idx="10"/>
          </p:nvPr>
        </p:nvSpPr>
        <p:spPr/>
        <p:txBody>
          <a:bodyPr/>
          <a:lstStyle/>
          <a:p>
            <a:fld id="{39DC9414-7FF3-4F08-94BE-4349B872A7C2}" type="datetimeFigureOut">
              <a:rPr lang="es-ES" smtClean="0"/>
              <a:t>07/04/2026</a:t>
            </a:fld>
            <a:endParaRPr lang="es-ES"/>
          </a:p>
        </p:txBody>
      </p:sp>
      <p:sp>
        <p:nvSpPr>
          <p:cNvPr id="5" name="Marcador de pie de página 4">
            <a:extLst>
              <a:ext uri="{FF2B5EF4-FFF2-40B4-BE49-F238E27FC236}">
                <a16:creationId xmlns:a16="http://schemas.microsoft.com/office/drawing/2014/main" id="{037CE4E0-EC40-436F-6C32-5EC689AF33E2}"/>
              </a:ext>
            </a:extLst>
          </p:cNvPr>
          <p:cNvSpPr>
            <a:spLocks noGrp="1"/>
          </p:cNvSpPr>
          <p:nvPr>
            <p:ph type="ftr" sz="quarter" idx="11"/>
          </p:nvPr>
        </p:nvSpPr>
        <p:spPr/>
        <p:txBody>
          <a:bodyPr/>
          <a:lstStyle/>
          <a:p>
            <a:endParaRPr lang="es-ES"/>
          </a:p>
        </p:txBody>
      </p:sp>
      <p:sp>
        <p:nvSpPr>
          <p:cNvPr id="6" name="Marcador de número de diapositiva 5">
            <a:extLst>
              <a:ext uri="{FF2B5EF4-FFF2-40B4-BE49-F238E27FC236}">
                <a16:creationId xmlns:a16="http://schemas.microsoft.com/office/drawing/2014/main" id="{B2BFC49F-8BC6-1EC0-8976-733094928477}"/>
              </a:ext>
            </a:extLst>
          </p:cNvPr>
          <p:cNvSpPr>
            <a:spLocks noGrp="1"/>
          </p:cNvSpPr>
          <p:nvPr>
            <p:ph type="sldNum" sz="quarter" idx="12"/>
          </p:nvPr>
        </p:nvSpPr>
        <p:spPr/>
        <p:txBody>
          <a:bodyPr/>
          <a:lstStyle/>
          <a:p>
            <a:fld id="{0D13620A-5829-4273-A5A6-3A7D6044478A}" type="slidenum">
              <a:rPr lang="es-ES" smtClean="0"/>
              <a:t>‹Nº›</a:t>
            </a:fld>
            <a:endParaRPr lang="es-ES"/>
          </a:p>
        </p:txBody>
      </p:sp>
    </p:spTree>
    <p:extLst>
      <p:ext uri="{BB962C8B-B14F-4D97-AF65-F5344CB8AC3E}">
        <p14:creationId xmlns:p14="http://schemas.microsoft.com/office/powerpoint/2010/main" val="325303992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gradFill flip="none" rotWithShape="1">
          <a:gsLst>
            <a:gs pos="0">
              <a:schemeClr val="accent5">
                <a:lumMod val="40000"/>
                <a:lumOff val="60000"/>
              </a:schemeClr>
            </a:gs>
            <a:gs pos="19000">
              <a:schemeClr val="bg1"/>
            </a:gs>
            <a:gs pos="85000">
              <a:schemeClr val="bg1"/>
            </a:gs>
            <a:gs pos="100000">
              <a:schemeClr val="accent5">
                <a:lumMod val="40000"/>
                <a:lumOff val="60000"/>
              </a:schemeClr>
            </a:gs>
          </a:gsLst>
          <a:lin ang="5400000" scaled="1"/>
          <a:tileRect/>
        </a:gradFill>
        <a:effectLst/>
      </p:bgPr>
    </p:bg>
    <p:spTree>
      <p:nvGrpSpPr>
        <p:cNvPr id="1" name=""/>
        <p:cNvGrpSpPr/>
        <p:nvPr/>
      </p:nvGrpSpPr>
      <p:grpSpPr>
        <a:xfrm>
          <a:off x="0" y="0"/>
          <a:ext cx="0" cy="0"/>
          <a:chOff x="0" y="0"/>
          <a:chExt cx="0" cy="0"/>
        </a:xfrm>
      </p:grpSpPr>
      <p:sp>
        <p:nvSpPr>
          <p:cNvPr id="2" name="Marcador de título 1">
            <a:extLst>
              <a:ext uri="{FF2B5EF4-FFF2-40B4-BE49-F238E27FC236}">
                <a16:creationId xmlns:a16="http://schemas.microsoft.com/office/drawing/2014/main" id="{4234979D-0CE3-FFD3-77DC-CD4AF7FD5C21}"/>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s-ES"/>
              <a:t>Haga clic para modificar el estilo de título del patrón</a:t>
            </a:r>
          </a:p>
        </p:txBody>
      </p:sp>
      <p:sp>
        <p:nvSpPr>
          <p:cNvPr id="3" name="Marcador de texto 2">
            <a:extLst>
              <a:ext uri="{FF2B5EF4-FFF2-40B4-BE49-F238E27FC236}">
                <a16:creationId xmlns:a16="http://schemas.microsoft.com/office/drawing/2014/main" id="{D7B68521-70D2-6DC9-A071-F4AFC51B0565}"/>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p>
        </p:txBody>
      </p:sp>
      <p:sp>
        <p:nvSpPr>
          <p:cNvPr id="4" name="Marcador de fecha 3">
            <a:extLst>
              <a:ext uri="{FF2B5EF4-FFF2-40B4-BE49-F238E27FC236}">
                <a16:creationId xmlns:a16="http://schemas.microsoft.com/office/drawing/2014/main" id="{5AB98118-E0AA-96B4-9B71-2E8A701F7ECF}"/>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39DC9414-7FF3-4F08-94BE-4349B872A7C2}" type="datetimeFigureOut">
              <a:rPr lang="es-ES" smtClean="0"/>
              <a:t>07/04/2026</a:t>
            </a:fld>
            <a:endParaRPr lang="es-ES"/>
          </a:p>
        </p:txBody>
      </p:sp>
      <p:sp>
        <p:nvSpPr>
          <p:cNvPr id="5" name="Marcador de pie de página 4">
            <a:extLst>
              <a:ext uri="{FF2B5EF4-FFF2-40B4-BE49-F238E27FC236}">
                <a16:creationId xmlns:a16="http://schemas.microsoft.com/office/drawing/2014/main" id="{2EF65B35-E258-62FA-C6DE-B67D0236BE58}"/>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s-ES"/>
          </a:p>
        </p:txBody>
      </p:sp>
      <p:sp>
        <p:nvSpPr>
          <p:cNvPr id="6" name="Marcador de número de diapositiva 5">
            <a:extLst>
              <a:ext uri="{FF2B5EF4-FFF2-40B4-BE49-F238E27FC236}">
                <a16:creationId xmlns:a16="http://schemas.microsoft.com/office/drawing/2014/main" id="{6459E4E2-7237-413E-95CA-2AA0405EAAF4}"/>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0D13620A-5829-4273-A5A6-3A7D6044478A}" type="slidenum">
              <a:rPr lang="es-ES" smtClean="0"/>
              <a:t>‹Nº›</a:t>
            </a:fld>
            <a:endParaRPr lang="es-ES"/>
          </a:p>
        </p:txBody>
      </p:sp>
    </p:spTree>
    <p:extLst>
      <p:ext uri="{BB962C8B-B14F-4D97-AF65-F5344CB8AC3E}">
        <p14:creationId xmlns:p14="http://schemas.microsoft.com/office/powerpoint/2010/main" val="1003747050"/>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s-E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slideLayout" Target="../slideLayouts/slideLayout1.xml"/><Relationship Id="rId2" Type="http://schemas.openxmlformats.org/officeDocument/2006/relationships/video" Target="../media/media1.mp4"/><Relationship Id="rId1" Type="http://schemas.microsoft.com/office/2007/relationships/media" Target="../media/media1.mp4"/><Relationship Id="rId4" Type="http://schemas.openxmlformats.org/officeDocument/2006/relationships/image" Target="../media/image1.png"/></Relationships>
</file>

<file path=ppt/slides/_rels/slide2.xml.rels><?xml version="1.0" encoding="UTF-8" standalone="yes"?>
<Relationships xmlns="http://schemas.openxmlformats.org/package/2006/relationships"><Relationship Id="rId8" Type="http://schemas.openxmlformats.org/officeDocument/2006/relationships/slide" Target="slide12.xml"/><Relationship Id="rId3" Type="http://schemas.openxmlformats.org/officeDocument/2006/relationships/slide" Target="slide3.xml"/><Relationship Id="rId7" Type="http://schemas.openxmlformats.org/officeDocument/2006/relationships/slide" Target="slide10.xml"/><Relationship Id="rId12" Type="http://schemas.openxmlformats.org/officeDocument/2006/relationships/slide" Target="slide19.xml"/><Relationship Id="rId2" Type="http://schemas.openxmlformats.org/officeDocument/2006/relationships/notesSlide" Target="../notesSlides/notesSlide1.xml"/><Relationship Id="rId1" Type="http://schemas.openxmlformats.org/officeDocument/2006/relationships/slideLayout" Target="../slideLayouts/slideLayout2.xml"/><Relationship Id="rId6" Type="http://schemas.openxmlformats.org/officeDocument/2006/relationships/slide" Target="slide7.xml"/><Relationship Id="rId11" Type="http://schemas.openxmlformats.org/officeDocument/2006/relationships/slide" Target="slide20.xml"/><Relationship Id="rId5" Type="http://schemas.openxmlformats.org/officeDocument/2006/relationships/slide" Target="slide6.xml"/><Relationship Id="rId10" Type="http://schemas.openxmlformats.org/officeDocument/2006/relationships/slide" Target="slide17.xml"/><Relationship Id="rId4" Type="http://schemas.openxmlformats.org/officeDocument/2006/relationships/slide" Target="slide5.xml"/><Relationship Id="rId9" Type="http://schemas.openxmlformats.org/officeDocument/2006/relationships/slide" Target="slide15.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6F828D28-8E09-41CC-8229-3070B5467A9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Vídeo 4" descr="Sistema electrónico">
            <a:extLst>
              <a:ext uri="{FF2B5EF4-FFF2-40B4-BE49-F238E27FC236}">
                <a16:creationId xmlns:a16="http://schemas.microsoft.com/office/drawing/2014/main" id="{91C2A19A-1F5A-58E6-25A4-59157D81E5B9}"/>
              </a:ext>
            </a:extLst>
          </p:cNvPr>
          <p:cNvPicPr>
            <a:picLocks noChangeAspect="1"/>
          </p:cNvPicPr>
          <p:nvPr>
            <a:videoFile r:link="rId2"/>
            <p:extLst>
              <p:ext uri="{DAA4B4D4-6D71-4841-9C94-3DE7FCFB9230}">
                <p14:media xmlns:p14="http://schemas.microsoft.com/office/powerpoint/2010/main" r:embed="rId1"/>
              </p:ext>
            </p:extLst>
          </p:nvPr>
        </p:nvPicPr>
        <p:blipFill>
          <a:blip r:embed="rId4"/>
          <a:srcRect t="284" r="-1" b="-1"/>
          <a:stretch>
            <a:fillRect/>
          </a:stretch>
        </p:blipFill>
        <p:spPr>
          <a:xfrm>
            <a:off x="20" y="-22"/>
            <a:ext cx="12191977" cy="6858022"/>
          </a:xfrm>
          <a:prstGeom prst="rect">
            <a:avLst/>
          </a:prstGeom>
        </p:spPr>
      </p:pic>
      <p:sp>
        <p:nvSpPr>
          <p:cNvPr id="11" name="Rectangle 10">
            <a:extLst>
              <a:ext uri="{FF2B5EF4-FFF2-40B4-BE49-F238E27FC236}">
                <a16:creationId xmlns:a16="http://schemas.microsoft.com/office/drawing/2014/main" id="{D5B012D8-7F27-4758-9AC6-C889B154BD7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6200000">
            <a:off x="-1103377" y="1100316"/>
            <a:ext cx="6858003" cy="4657347"/>
          </a:xfrm>
          <a:prstGeom prst="rect">
            <a:avLst/>
          </a:prstGeom>
          <a:gradFill flip="none" rotWithShape="1">
            <a:gsLst>
              <a:gs pos="48000">
                <a:srgbClr val="000000">
                  <a:alpha val="24000"/>
                </a:srgbClr>
              </a:gs>
              <a:gs pos="85000">
                <a:srgbClr val="000000">
                  <a:alpha val="45000"/>
                </a:srgbClr>
              </a:gs>
              <a:gs pos="0">
                <a:srgbClr val="000000">
                  <a:alpha val="0"/>
                </a:srgbClr>
              </a:gs>
            </a:gsLst>
            <a:lin ang="162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ítulo 1">
            <a:extLst>
              <a:ext uri="{FF2B5EF4-FFF2-40B4-BE49-F238E27FC236}">
                <a16:creationId xmlns:a16="http://schemas.microsoft.com/office/drawing/2014/main" id="{263010BC-2E0A-20C1-F83A-072C1687486A}"/>
              </a:ext>
            </a:extLst>
          </p:cNvPr>
          <p:cNvSpPr>
            <a:spLocks noGrp="1"/>
          </p:cNvSpPr>
          <p:nvPr>
            <p:ph type="ctrTitle"/>
          </p:nvPr>
        </p:nvSpPr>
        <p:spPr>
          <a:xfrm>
            <a:off x="643466" y="643467"/>
            <a:ext cx="5452529" cy="3569242"/>
          </a:xfrm>
        </p:spPr>
        <p:txBody>
          <a:bodyPr anchor="t">
            <a:normAutofit/>
          </a:bodyPr>
          <a:lstStyle/>
          <a:p>
            <a:pPr algn="l"/>
            <a:r>
              <a:rPr lang="es-ES" sz="4800" dirty="0">
                <a:solidFill>
                  <a:srgbClr val="FFFFFF"/>
                </a:solidFill>
              </a:rPr>
              <a:t>ACTUALIZACIONES AVANZADAS</a:t>
            </a:r>
          </a:p>
        </p:txBody>
      </p:sp>
      <p:sp>
        <p:nvSpPr>
          <p:cNvPr id="3" name="Subtítulo 2">
            <a:extLst>
              <a:ext uri="{FF2B5EF4-FFF2-40B4-BE49-F238E27FC236}">
                <a16:creationId xmlns:a16="http://schemas.microsoft.com/office/drawing/2014/main" id="{E91DF9B8-1909-A5B1-2005-FD9CD5103A23}"/>
              </a:ext>
            </a:extLst>
          </p:cNvPr>
          <p:cNvSpPr>
            <a:spLocks noGrp="1"/>
          </p:cNvSpPr>
          <p:nvPr>
            <p:ph type="subTitle" idx="1"/>
          </p:nvPr>
        </p:nvSpPr>
        <p:spPr>
          <a:xfrm>
            <a:off x="643466" y="4551037"/>
            <a:ext cx="5449479" cy="1578054"/>
          </a:xfrm>
        </p:spPr>
        <p:txBody>
          <a:bodyPr anchor="b">
            <a:normAutofit/>
          </a:bodyPr>
          <a:lstStyle/>
          <a:p>
            <a:pPr algn="l"/>
            <a:endParaRPr lang="es-ES">
              <a:solidFill>
                <a:srgbClr val="FFFFFF"/>
              </a:solidFill>
            </a:endParaRPr>
          </a:p>
        </p:txBody>
      </p:sp>
      <p:sp>
        <p:nvSpPr>
          <p:cNvPr id="13" name="Rectangle 12">
            <a:extLst>
              <a:ext uri="{FF2B5EF4-FFF2-40B4-BE49-F238E27FC236}">
                <a16:creationId xmlns:a16="http://schemas.microsoft.com/office/drawing/2014/main" id="{4063B759-00FC-46D1-9898-8E8625268FA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7540187" y="2206184"/>
            <a:ext cx="6858003" cy="2445624"/>
          </a:xfrm>
          <a:prstGeom prst="rect">
            <a:avLst/>
          </a:prstGeom>
          <a:gradFill flip="none" rotWithShape="1">
            <a:gsLst>
              <a:gs pos="48000">
                <a:srgbClr val="000000">
                  <a:alpha val="24000"/>
                </a:srgbClr>
              </a:gs>
              <a:gs pos="85000">
                <a:srgbClr val="000000">
                  <a:alpha val="45000"/>
                </a:srgbClr>
              </a:gs>
              <a:gs pos="0">
                <a:srgbClr val="000000">
                  <a:alpha val="0"/>
                </a:srgbClr>
              </a:gs>
            </a:gsLst>
            <a:lin ang="162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44512892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10005" fill="hold"/>
                                        <p:tgtEl>
                                          <p:spTgt spid="5"/>
                                        </p:tgtEl>
                                      </p:cBhvr>
                                    </p:cmd>
                                  </p:childTnLst>
                                </p:cTn>
                              </p:par>
                            </p:childTnLst>
                          </p:cTn>
                        </p:par>
                      </p:childTnLst>
                    </p:cTn>
                  </p:par>
                </p:childTnLst>
              </p:cTn>
              <p:prevCondLst>
                <p:cond evt="onPrev" delay="0">
                  <p:tgtEl>
                    <p:sldTgt/>
                  </p:tgtEl>
                </p:cond>
              </p:prevCondLst>
              <p:nextCondLst>
                <p:cond evt="onNext" delay="0">
                  <p:tgtEl>
                    <p:sldTgt/>
                  </p:tgtEl>
                </p:cond>
              </p:nextCondLst>
            </p:seq>
            <p:seq concurrent="1" nextAc="seek">
              <p:cTn id="7" restart="whenNotActive" fill="hold" evtFilter="cancelBubble" nodeType="interactiveSeq">
                <p:stCondLst>
                  <p:cond evt="onClick" delay="0">
                    <p:tgtEl>
                      <p:spTgt spid="5"/>
                    </p:tgtEl>
                  </p:cond>
                </p:stCondLst>
                <p:endSync evt="end" delay="0">
                  <p:rtn val="all"/>
                </p:endSync>
                <p:childTnLst>
                  <p:par>
                    <p:cTn id="8" fill="hold">
                      <p:stCondLst>
                        <p:cond delay="0"/>
                      </p:stCondLst>
                      <p:childTnLst>
                        <p:par>
                          <p:cTn id="9" fill="hold">
                            <p:stCondLst>
                              <p:cond delay="0"/>
                            </p:stCondLst>
                            <p:childTnLst>
                              <p:par>
                                <p:cTn id="10" presetID="2" presetClass="mediacall" presetSubtype="0" fill="hold" nodeType="clickEffect">
                                  <p:stCondLst>
                                    <p:cond delay="0"/>
                                  </p:stCondLst>
                                  <p:childTnLst>
                                    <p:cmd type="call" cmd="togglePause">
                                      <p:cBhvr>
                                        <p:cTn id="11" dur="1" fill="hold"/>
                                        <p:tgtEl>
                                          <p:spTgt spid="5"/>
                                        </p:tgtEl>
                                      </p:cBhvr>
                                    </p:cmd>
                                  </p:childTnLst>
                                </p:cTn>
                              </p:par>
                            </p:childTnLst>
                          </p:cTn>
                        </p:par>
                      </p:childTnLst>
                    </p:cTn>
                  </p:par>
                </p:childTnLst>
              </p:cTn>
              <p:nextCondLst>
                <p:cond evt="onClick" delay="0">
                  <p:tgtEl>
                    <p:spTgt spid="5"/>
                  </p:tgtEl>
                </p:cond>
              </p:nextCondLst>
            </p:seq>
            <p:video>
              <p:cMediaNode mute="1">
                <p:cTn id="12" repeatCount="indefinite" fill="hold" display="0">
                  <p:stCondLst>
                    <p:cond delay="indefinite"/>
                  </p:stCondLst>
                </p:cTn>
                <p:tgtEl>
                  <p:spTgt spid="5"/>
                </p:tgtEl>
              </p:cMediaNode>
            </p:video>
          </p:childTnLst>
        </p:cTn>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A08C874-5C63-BC9F-3354-8C4429B78E70}"/>
              </a:ext>
            </a:extLst>
          </p:cNvPr>
          <p:cNvSpPr>
            <a:spLocks noGrp="1"/>
          </p:cNvSpPr>
          <p:nvPr>
            <p:ph type="title"/>
          </p:nvPr>
        </p:nvSpPr>
        <p:spPr>
          <a:xfrm>
            <a:off x="361507" y="263272"/>
            <a:ext cx="6719777" cy="587332"/>
          </a:xfrm>
        </p:spPr>
        <p:txBody>
          <a:bodyPr anchor="t">
            <a:normAutofit fontScale="90000"/>
          </a:bodyPr>
          <a:lstStyle/>
          <a:p>
            <a:r>
              <a:rPr lang="en-US" dirty="0" err="1"/>
              <a:t>Indice</a:t>
            </a:r>
            <a:r>
              <a:rPr lang="en-US" dirty="0"/>
              <a:t> de </a:t>
            </a:r>
            <a:r>
              <a:rPr lang="en-US" dirty="0" err="1"/>
              <a:t>ejemplos</a:t>
            </a:r>
            <a:endParaRPr lang="en-US" dirty="0"/>
          </a:p>
        </p:txBody>
      </p:sp>
      <p:sp>
        <p:nvSpPr>
          <p:cNvPr id="6" name="Slide Number Placeholder 5">
            <a:extLst>
              <a:ext uri="{FF2B5EF4-FFF2-40B4-BE49-F238E27FC236}">
                <a16:creationId xmlns:a16="http://schemas.microsoft.com/office/drawing/2014/main" id="{0BFA7254-33F2-0F14-4DFA-AA48E29A2FBD}"/>
              </a:ext>
            </a:extLst>
          </p:cNvPr>
          <p:cNvSpPr>
            <a:spLocks noGrp="1"/>
          </p:cNvSpPr>
          <p:nvPr>
            <p:ph type="sldNum" sz="quarter" idx="12"/>
          </p:nvPr>
        </p:nvSpPr>
        <p:spPr>
          <a:xfrm>
            <a:off x="11734800" y="6445997"/>
            <a:ext cx="457200" cy="365125"/>
          </a:xfrm>
        </p:spPr>
        <p:txBody>
          <a:bodyPr anchor="ctr">
            <a:normAutofit/>
          </a:bodyPr>
          <a:lstStyle/>
          <a:p>
            <a:pPr rtl="0">
              <a:spcAft>
                <a:spcPts val="600"/>
              </a:spcAft>
            </a:pPr>
            <a:fld id="{DDF60B60-82CA-4BB9-BA6E-A62FADF2374B}" type="slidenum">
              <a:rPr lang="en-US" smtClean="0"/>
              <a:pPr rtl="0">
                <a:spcAft>
                  <a:spcPts val="600"/>
                </a:spcAft>
              </a:pPr>
              <a:t>2</a:t>
            </a:fld>
            <a:endParaRPr lang="en-US"/>
          </a:p>
        </p:txBody>
      </p:sp>
      <p:graphicFrame>
        <p:nvGraphicFramePr>
          <p:cNvPr id="8" name="Content Placeholder 7">
            <a:extLst>
              <a:ext uri="{FF2B5EF4-FFF2-40B4-BE49-F238E27FC236}">
                <a16:creationId xmlns:a16="http://schemas.microsoft.com/office/drawing/2014/main" id="{FAFEB2A5-6F38-45AE-86C9-5353A363A4EB}"/>
              </a:ext>
            </a:extLst>
          </p:cNvPr>
          <p:cNvGraphicFramePr>
            <a:graphicFrameLocks noGrp="1"/>
          </p:cNvGraphicFramePr>
          <p:nvPr>
            <p:ph idx="1"/>
            <p:extLst>
              <p:ext uri="{D42A27DB-BD31-4B8C-83A1-F6EECF244321}">
                <p14:modId xmlns:p14="http://schemas.microsoft.com/office/powerpoint/2010/main" val="3693306190"/>
              </p:ext>
            </p:extLst>
          </p:nvPr>
        </p:nvGraphicFramePr>
        <p:xfrm>
          <a:off x="446568" y="850604"/>
          <a:ext cx="11288231" cy="5740617"/>
        </p:xfrm>
        <a:graphic>
          <a:graphicData uri="http://schemas.openxmlformats.org/drawingml/2006/table">
            <a:tbl>
              <a:tblPr firstRow="1" bandRow="1">
                <a:noFill/>
                <a:tableStyleId>{5C22544A-7EE6-4342-B048-85BDC9FD1C3A}</a:tableStyleId>
              </a:tblPr>
              <a:tblGrid>
                <a:gridCol w="1871330">
                  <a:extLst>
                    <a:ext uri="{9D8B030D-6E8A-4147-A177-3AD203B41FA5}">
                      <a16:colId xmlns:a16="http://schemas.microsoft.com/office/drawing/2014/main" val="2573930174"/>
                    </a:ext>
                  </a:extLst>
                </a:gridCol>
                <a:gridCol w="3668232">
                  <a:extLst>
                    <a:ext uri="{9D8B030D-6E8A-4147-A177-3AD203B41FA5}">
                      <a16:colId xmlns:a16="http://schemas.microsoft.com/office/drawing/2014/main" val="637132003"/>
                    </a:ext>
                  </a:extLst>
                </a:gridCol>
                <a:gridCol w="5748669">
                  <a:extLst>
                    <a:ext uri="{9D8B030D-6E8A-4147-A177-3AD203B41FA5}">
                      <a16:colId xmlns:a16="http://schemas.microsoft.com/office/drawing/2014/main" val="3353548267"/>
                    </a:ext>
                  </a:extLst>
                </a:gridCol>
              </a:tblGrid>
              <a:tr h="542689">
                <a:tc>
                  <a:txBody>
                    <a:bodyPr/>
                    <a:lstStyle/>
                    <a:p>
                      <a:pPr>
                        <a:buNone/>
                      </a:pPr>
                      <a:r>
                        <a:rPr lang="en-US" sz="1800" b="1" cap="all" spc="150" dirty="0">
                          <a:solidFill>
                            <a:srgbClr val="FFFFFF"/>
                          </a:solidFill>
                        </a:rPr>
                        <a:t>Nº de </a:t>
                      </a:r>
                      <a:r>
                        <a:rPr lang="en-US" sz="1800" b="1" cap="all" spc="150" dirty="0" err="1">
                          <a:solidFill>
                            <a:srgbClr val="FFFFFF"/>
                          </a:solidFill>
                        </a:rPr>
                        <a:t>ejemplo</a:t>
                      </a:r>
                      <a:endParaRPr lang="en-US" sz="1800" b="1" cap="all" spc="150" dirty="0">
                        <a:solidFill>
                          <a:srgbClr val="FFFFFF"/>
                        </a:solidFill>
                      </a:endParaRPr>
                    </a:p>
                  </a:txBody>
                  <a:tcPr marL="94839" marR="94839" marT="94839" marB="94839" anchor="ctr">
                    <a:lnL w="12700" cmpd="sng">
                      <a:noFill/>
                    </a:lnL>
                    <a:lnR w="12700" cmpd="sng">
                      <a:noFill/>
                    </a:lnR>
                    <a:lnT w="6350" cap="flat" cmpd="sng" algn="ctr">
                      <a:noFill/>
                      <a:prstDash val="solid"/>
                    </a:lnT>
                    <a:lnB w="6350" cap="flat" cmpd="sng" algn="ctr">
                      <a:noFill/>
                      <a:prstDash val="solid"/>
                    </a:lnB>
                    <a:solidFill>
                      <a:schemeClr val="accent1"/>
                    </a:solidFill>
                  </a:tcPr>
                </a:tc>
                <a:tc>
                  <a:txBody>
                    <a:bodyPr/>
                    <a:lstStyle/>
                    <a:p>
                      <a:pPr>
                        <a:buNone/>
                      </a:pPr>
                      <a:r>
                        <a:rPr lang="en-US" sz="1800" b="1" cap="all" spc="150">
                          <a:solidFill>
                            <a:srgbClr val="FFFFFF"/>
                          </a:solidFill>
                        </a:rPr>
                        <a:t>Tema principal</a:t>
                      </a:r>
                    </a:p>
                  </a:txBody>
                  <a:tcPr marL="94839" marR="94839" marT="94839" marB="94839" anchor="ctr">
                    <a:lnL w="12700" cmpd="sng">
                      <a:noFill/>
                    </a:lnL>
                    <a:lnR w="12700" cmpd="sng">
                      <a:noFill/>
                    </a:lnR>
                    <a:lnT w="6350" cap="flat" cmpd="sng" algn="ctr">
                      <a:noFill/>
                      <a:prstDash val="solid"/>
                    </a:lnT>
                    <a:lnB w="6350" cap="flat" cmpd="sng" algn="ctr">
                      <a:noFill/>
                      <a:prstDash val="solid"/>
                    </a:lnB>
                    <a:solidFill>
                      <a:schemeClr val="accent1"/>
                    </a:solidFill>
                  </a:tcPr>
                </a:tc>
                <a:tc>
                  <a:txBody>
                    <a:bodyPr/>
                    <a:lstStyle/>
                    <a:p>
                      <a:pPr>
                        <a:buNone/>
                      </a:pPr>
                      <a:r>
                        <a:rPr lang="en-US" sz="1800" b="1" cap="all" spc="150" dirty="0" err="1">
                          <a:solidFill>
                            <a:srgbClr val="FFFFFF"/>
                          </a:solidFill>
                        </a:rPr>
                        <a:t>Descripción</a:t>
                      </a:r>
                      <a:r>
                        <a:rPr lang="en-US" sz="1800" b="1" cap="all" spc="150" dirty="0">
                          <a:solidFill>
                            <a:srgbClr val="FFFFFF"/>
                          </a:solidFill>
                        </a:rPr>
                        <a:t> breve</a:t>
                      </a:r>
                    </a:p>
                  </a:txBody>
                  <a:tcPr marL="94839" marR="94839" marT="94839" marB="94839" anchor="ctr">
                    <a:lnL w="12700" cmpd="sng">
                      <a:noFill/>
                    </a:lnL>
                    <a:lnR w="12700" cmpd="sng">
                      <a:noFill/>
                    </a:lnR>
                    <a:lnT w="6350" cap="flat" cmpd="sng" algn="ctr">
                      <a:noFill/>
                      <a:prstDash val="solid"/>
                    </a:lnT>
                    <a:lnB w="6350" cap="flat" cmpd="sng" algn="ctr">
                      <a:noFill/>
                      <a:prstDash val="solid"/>
                    </a:lnB>
                    <a:solidFill>
                      <a:schemeClr val="accent1"/>
                    </a:solidFill>
                  </a:tcPr>
                </a:tc>
                <a:extLst>
                  <a:ext uri="{0D108BD9-81ED-4DB2-BD59-A6C34878D82A}">
                    <a16:rowId xmlns:a16="http://schemas.microsoft.com/office/drawing/2014/main" val="3400715044"/>
                  </a:ext>
                </a:extLst>
              </a:tr>
              <a:tr h="480549">
                <a:tc>
                  <a:txBody>
                    <a:bodyPr/>
                    <a:lstStyle/>
                    <a:p>
                      <a:pPr>
                        <a:buNone/>
                      </a:pPr>
                      <a:r>
                        <a:rPr lang="en-US" sz="1600" b="1" cap="none" spc="0" dirty="0">
                          <a:solidFill>
                            <a:schemeClr val="tx1"/>
                          </a:solidFill>
                          <a:hlinkClick r:id="rId3" action="ppaction://hlinksldjump"/>
                        </a:rPr>
                        <a:t>Ejemplo 1</a:t>
                      </a:r>
                      <a:endParaRPr lang="en-US" sz="1600" b="1" cap="none" spc="0" dirty="0">
                        <a:solidFill>
                          <a:schemeClr val="tx1"/>
                        </a:solidFill>
                      </a:endParaRPr>
                    </a:p>
                  </a:txBody>
                  <a:tcPr marL="94839" marR="94839" marT="94839" marB="94839" anchor="ctr">
                    <a:lnL w="12700" cmpd="sng">
                      <a:noFill/>
                      <a:prstDash val="solid"/>
                    </a:lnL>
                    <a:lnR w="12700" cmpd="sng">
                      <a:noFill/>
                      <a:prstDash val="solid"/>
                    </a:lnR>
                    <a:lnT w="6350" cap="flat" cmpd="sng" algn="ctr">
                      <a:noFill/>
                      <a:prstDash val="solid"/>
                    </a:lnT>
                    <a:lnB w="6350" cap="flat" cmpd="sng" algn="ctr">
                      <a:solidFill>
                        <a:schemeClr val="tx1"/>
                      </a:solidFill>
                      <a:prstDash val="solid"/>
                    </a:lnB>
                    <a:noFill/>
                  </a:tcPr>
                </a:tc>
                <a:tc>
                  <a:txBody>
                    <a:bodyPr/>
                    <a:lstStyle/>
                    <a:p>
                      <a:pPr>
                        <a:buNone/>
                      </a:pPr>
                      <a:r>
                        <a:rPr lang="en-US" sz="1600" cap="none" spc="0" dirty="0">
                          <a:solidFill>
                            <a:schemeClr val="tx1"/>
                          </a:solidFill>
                        </a:rPr>
                        <a:t>UPDATE </a:t>
                      </a:r>
                      <a:r>
                        <a:rPr lang="en-US" sz="1600" cap="none" spc="0" dirty="0" err="1">
                          <a:solidFill>
                            <a:schemeClr val="tx1"/>
                          </a:solidFill>
                        </a:rPr>
                        <a:t>básico</a:t>
                      </a:r>
                      <a:endParaRPr lang="en-US" sz="1600" cap="none" spc="0" dirty="0">
                        <a:solidFill>
                          <a:schemeClr val="tx1"/>
                        </a:solidFill>
                      </a:endParaRPr>
                    </a:p>
                  </a:txBody>
                  <a:tcPr marL="94839" marR="94839" marT="94839" marB="94839" anchor="ctr">
                    <a:lnL w="12700" cmpd="sng">
                      <a:noFill/>
                      <a:prstDash val="solid"/>
                    </a:lnL>
                    <a:lnR w="12700" cmpd="sng">
                      <a:noFill/>
                      <a:prstDash val="solid"/>
                    </a:lnR>
                    <a:lnT w="6350" cap="flat" cmpd="sng" algn="ctr">
                      <a:noFill/>
                      <a:prstDash val="solid"/>
                    </a:lnT>
                    <a:lnB w="6350" cap="flat" cmpd="sng" algn="ctr">
                      <a:solidFill>
                        <a:schemeClr val="tx1"/>
                      </a:solidFill>
                      <a:prstDash val="solid"/>
                    </a:lnB>
                    <a:noFill/>
                  </a:tcPr>
                </a:tc>
                <a:tc>
                  <a:txBody>
                    <a:bodyPr/>
                    <a:lstStyle/>
                    <a:p>
                      <a:pPr>
                        <a:buNone/>
                      </a:pPr>
                      <a:r>
                        <a:rPr lang="en-US" sz="1600" cap="none" spc="0" dirty="0" err="1">
                          <a:solidFill>
                            <a:schemeClr val="tx1"/>
                          </a:solidFill>
                        </a:rPr>
                        <a:t>Modificar</a:t>
                      </a:r>
                      <a:r>
                        <a:rPr lang="en-US" sz="1600" cap="none" spc="0" dirty="0">
                          <a:solidFill>
                            <a:schemeClr val="tx1"/>
                          </a:solidFill>
                        </a:rPr>
                        <a:t> </a:t>
                      </a:r>
                      <a:r>
                        <a:rPr lang="en-US" sz="1600" cap="none" spc="0" dirty="0" err="1">
                          <a:solidFill>
                            <a:schemeClr val="tx1"/>
                          </a:solidFill>
                        </a:rPr>
                        <a:t>una</a:t>
                      </a:r>
                      <a:r>
                        <a:rPr lang="en-US" sz="1600" cap="none" spc="0" dirty="0">
                          <a:solidFill>
                            <a:schemeClr val="tx1"/>
                          </a:solidFill>
                        </a:rPr>
                        <a:t> </a:t>
                      </a:r>
                      <a:r>
                        <a:rPr lang="en-US" sz="1600" cap="none" spc="0" dirty="0" err="1">
                          <a:solidFill>
                            <a:schemeClr val="tx1"/>
                          </a:solidFill>
                        </a:rPr>
                        <a:t>tabla</a:t>
                      </a:r>
                      <a:r>
                        <a:rPr lang="en-US" sz="1600" cap="none" spc="0" dirty="0">
                          <a:solidFill>
                            <a:schemeClr val="tx1"/>
                          </a:solidFill>
                        </a:rPr>
                        <a:t> </a:t>
                      </a:r>
                      <a:r>
                        <a:rPr lang="en-US" sz="1600" cap="none" spc="0" dirty="0" err="1">
                          <a:solidFill>
                            <a:schemeClr val="tx1"/>
                          </a:solidFill>
                        </a:rPr>
                        <a:t>pero</a:t>
                      </a:r>
                      <a:r>
                        <a:rPr lang="en-US" sz="1600" cap="none" spc="0" dirty="0">
                          <a:solidFill>
                            <a:schemeClr val="tx1"/>
                          </a:solidFill>
                        </a:rPr>
                        <a:t> la </a:t>
                      </a:r>
                      <a:r>
                        <a:rPr lang="en-US" sz="1600" cap="none" spc="0" dirty="0" err="1">
                          <a:solidFill>
                            <a:schemeClr val="tx1"/>
                          </a:solidFill>
                        </a:rPr>
                        <a:t>condición</a:t>
                      </a:r>
                      <a:r>
                        <a:rPr lang="en-US" sz="1600" cap="none" spc="0" dirty="0">
                          <a:solidFill>
                            <a:schemeClr val="tx1"/>
                          </a:solidFill>
                        </a:rPr>
                        <a:t> </a:t>
                      </a:r>
                      <a:r>
                        <a:rPr lang="en-US" sz="1600" cap="none" spc="0" dirty="0" err="1">
                          <a:solidFill>
                            <a:schemeClr val="tx1"/>
                          </a:solidFill>
                        </a:rPr>
                        <a:t>en</a:t>
                      </a:r>
                      <a:r>
                        <a:rPr lang="en-US" sz="1600" cap="none" spc="0" dirty="0">
                          <a:solidFill>
                            <a:schemeClr val="tx1"/>
                          </a:solidFill>
                        </a:rPr>
                        <a:t> </a:t>
                      </a:r>
                      <a:r>
                        <a:rPr lang="en-US" sz="1600" cap="none" spc="0" dirty="0" err="1">
                          <a:solidFill>
                            <a:schemeClr val="tx1"/>
                          </a:solidFill>
                        </a:rPr>
                        <a:t>otra</a:t>
                      </a:r>
                      <a:endParaRPr lang="en-US" sz="1600" cap="none" spc="0" dirty="0">
                        <a:solidFill>
                          <a:schemeClr val="tx1"/>
                        </a:solidFill>
                      </a:endParaRPr>
                    </a:p>
                  </a:txBody>
                  <a:tcPr marL="94839" marR="94839" marT="94839" marB="94839" anchor="ctr">
                    <a:lnL w="12700" cmpd="sng">
                      <a:noFill/>
                      <a:prstDash val="solid"/>
                    </a:lnL>
                    <a:lnR w="12700" cmpd="sng">
                      <a:noFill/>
                      <a:prstDash val="solid"/>
                    </a:lnR>
                    <a:lnT w="6350" cap="flat" cmpd="sng" algn="ctr">
                      <a:noFill/>
                      <a:prstDash val="solid"/>
                    </a:lnT>
                    <a:lnB w="6350" cap="flat" cmpd="sng" algn="ctr">
                      <a:solidFill>
                        <a:schemeClr val="tx1"/>
                      </a:solidFill>
                      <a:prstDash val="solid"/>
                    </a:lnB>
                    <a:noFill/>
                  </a:tcPr>
                </a:tc>
                <a:extLst>
                  <a:ext uri="{0D108BD9-81ED-4DB2-BD59-A6C34878D82A}">
                    <a16:rowId xmlns:a16="http://schemas.microsoft.com/office/drawing/2014/main" val="2017737751"/>
                  </a:ext>
                </a:extLst>
              </a:tr>
              <a:tr h="480549">
                <a:tc>
                  <a:txBody>
                    <a:bodyPr/>
                    <a:lstStyle/>
                    <a:p>
                      <a:pPr>
                        <a:buNone/>
                      </a:pPr>
                      <a:r>
                        <a:rPr lang="en-US" sz="1600" b="1" cap="none" spc="0" dirty="0">
                          <a:solidFill>
                            <a:schemeClr val="tx1"/>
                          </a:solidFill>
                          <a:hlinkClick r:id="rId4" action="ppaction://hlinksldjump"/>
                        </a:rPr>
                        <a:t>Ejemplo 2</a:t>
                      </a:r>
                      <a:endParaRPr lang="en-US" sz="1600" b="1" cap="none" spc="0" dirty="0">
                        <a:solidFill>
                          <a:schemeClr val="tx1"/>
                        </a:solidFill>
                      </a:endParaRPr>
                    </a:p>
                  </a:txBody>
                  <a:tcPr marL="94839" marR="94839" marT="94839" marB="94839" anchor="ctr">
                    <a:lnL w="12700" cmpd="sng">
                      <a:noFill/>
                      <a:prstDash val="solid"/>
                    </a:lnL>
                    <a:lnR w="12700" cmpd="sng">
                      <a:noFill/>
                      <a:prstDash val="solid"/>
                    </a:lnR>
                    <a:lnT w="6350" cap="flat" cmpd="sng" algn="ctr">
                      <a:solidFill>
                        <a:schemeClr val="tx1"/>
                      </a:solidFill>
                      <a:prstDash val="solid"/>
                    </a:lnT>
                    <a:lnB w="6350" cap="flat" cmpd="sng" algn="ctr">
                      <a:solidFill>
                        <a:schemeClr val="tx1"/>
                      </a:solidFill>
                      <a:prstDash val="solid"/>
                    </a:lnB>
                    <a:noFill/>
                  </a:tcPr>
                </a:tc>
                <a:tc>
                  <a:txBody>
                    <a:bodyPr/>
                    <a:lstStyle/>
                    <a:p>
                      <a:pPr>
                        <a:buNone/>
                      </a:pPr>
                      <a:r>
                        <a:rPr lang="en-US" sz="1600" cap="none" spc="0" dirty="0">
                          <a:solidFill>
                            <a:schemeClr val="tx1"/>
                          </a:solidFill>
                        </a:rPr>
                        <a:t>UPDATE con </a:t>
                      </a:r>
                      <a:r>
                        <a:rPr lang="en-US" sz="1600" cap="none" spc="0" dirty="0" err="1">
                          <a:solidFill>
                            <a:schemeClr val="tx1"/>
                          </a:solidFill>
                        </a:rPr>
                        <a:t>varias</a:t>
                      </a:r>
                      <a:r>
                        <a:rPr lang="en-US" sz="1600" cap="none" spc="0" dirty="0">
                          <a:solidFill>
                            <a:schemeClr val="tx1"/>
                          </a:solidFill>
                        </a:rPr>
                        <a:t> columnas</a:t>
                      </a:r>
                    </a:p>
                  </a:txBody>
                  <a:tcPr marL="94839" marR="94839" marT="94839" marB="94839" anchor="ctr">
                    <a:lnL w="12700" cmpd="sng">
                      <a:noFill/>
                      <a:prstDash val="solid"/>
                    </a:lnL>
                    <a:lnR w="12700" cmpd="sng">
                      <a:noFill/>
                      <a:prstDash val="solid"/>
                    </a:lnR>
                    <a:lnT w="6350" cap="flat" cmpd="sng" algn="ctr">
                      <a:solidFill>
                        <a:schemeClr val="tx1"/>
                      </a:solidFill>
                      <a:prstDash val="solid"/>
                    </a:lnT>
                    <a:lnB w="6350" cap="flat" cmpd="sng" algn="ctr">
                      <a:solidFill>
                        <a:schemeClr val="tx1"/>
                      </a:solidFill>
                      <a:prstDash val="solid"/>
                    </a:lnB>
                    <a:noFill/>
                  </a:tcPr>
                </a:tc>
                <a:tc>
                  <a:txBody>
                    <a:bodyPr/>
                    <a:lstStyle/>
                    <a:p>
                      <a:pPr>
                        <a:buNone/>
                      </a:pPr>
                      <a:r>
                        <a:rPr lang="en-US" sz="1600" cap="none" spc="0" dirty="0" err="1">
                          <a:solidFill>
                            <a:schemeClr val="tx1"/>
                          </a:solidFill>
                        </a:rPr>
                        <a:t>Modificar</a:t>
                      </a:r>
                      <a:r>
                        <a:rPr lang="en-US" sz="1600" cap="none" spc="0" dirty="0">
                          <a:solidFill>
                            <a:schemeClr val="tx1"/>
                          </a:solidFill>
                        </a:rPr>
                        <a:t> </a:t>
                      </a:r>
                      <a:r>
                        <a:rPr lang="en-US" sz="1600" cap="none" spc="0" dirty="0" err="1">
                          <a:solidFill>
                            <a:schemeClr val="tx1"/>
                          </a:solidFill>
                        </a:rPr>
                        <a:t>más</a:t>
                      </a:r>
                      <a:r>
                        <a:rPr lang="en-US" sz="1600" cap="none" spc="0" dirty="0">
                          <a:solidFill>
                            <a:schemeClr val="tx1"/>
                          </a:solidFill>
                        </a:rPr>
                        <a:t> de un campo</a:t>
                      </a:r>
                    </a:p>
                  </a:txBody>
                  <a:tcPr marL="94839" marR="94839" marT="94839" marB="94839" anchor="ctr">
                    <a:lnL w="12700" cmpd="sng">
                      <a:noFill/>
                      <a:prstDash val="solid"/>
                    </a:lnL>
                    <a:lnR w="12700" cmpd="sng">
                      <a:noFill/>
                      <a:prstDash val="solid"/>
                    </a:lnR>
                    <a:lnT w="6350" cap="flat" cmpd="sng" algn="ctr">
                      <a:solidFill>
                        <a:schemeClr val="tx1"/>
                      </a:solidFill>
                      <a:prstDash val="solid"/>
                    </a:lnT>
                    <a:lnB w="6350" cap="flat" cmpd="sng" algn="ctr">
                      <a:solidFill>
                        <a:schemeClr val="tx1"/>
                      </a:solidFill>
                      <a:prstDash val="solid"/>
                    </a:lnB>
                    <a:noFill/>
                  </a:tcPr>
                </a:tc>
                <a:extLst>
                  <a:ext uri="{0D108BD9-81ED-4DB2-BD59-A6C34878D82A}">
                    <a16:rowId xmlns:a16="http://schemas.microsoft.com/office/drawing/2014/main" val="3576102369"/>
                  </a:ext>
                </a:extLst>
              </a:tr>
              <a:tr h="480549">
                <a:tc>
                  <a:txBody>
                    <a:bodyPr/>
                    <a:lstStyle/>
                    <a:p>
                      <a:pPr>
                        <a:buNone/>
                      </a:pPr>
                      <a:r>
                        <a:rPr lang="en-US" sz="1600" b="1" cap="none" spc="0" dirty="0">
                          <a:solidFill>
                            <a:schemeClr val="tx1"/>
                          </a:solidFill>
                          <a:hlinkClick r:id="rId5" action="ppaction://hlinksldjump"/>
                        </a:rPr>
                        <a:t>Ejemplo 3</a:t>
                      </a:r>
                      <a:endParaRPr lang="en-US" sz="1600" b="1" cap="none" spc="0" dirty="0">
                        <a:solidFill>
                          <a:schemeClr val="tx1"/>
                        </a:solidFill>
                      </a:endParaRPr>
                    </a:p>
                  </a:txBody>
                  <a:tcPr marL="94839" marR="94839" marT="94839" marB="94839" anchor="ctr">
                    <a:lnL w="12700" cmpd="sng">
                      <a:noFill/>
                      <a:prstDash val="solid"/>
                    </a:lnL>
                    <a:lnR w="12700" cmpd="sng">
                      <a:noFill/>
                      <a:prstDash val="solid"/>
                    </a:lnR>
                    <a:lnT w="6350" cap="flat" cmpd="sng" algn="ctr">
                      <a:solidFill>
                        <a:schemeClr val="tx1"/>
                      </a:solidFill>
                      <a:prstDash val="solid"/>
                    </a:lnT>
                    <a:lnB w="6350" cap="flat" cmpd="sng" algn="ctr">
                      <a:solidFill>
                        <a:schemeClr val="tx1"/>
                      </a:solidFill>
                      <a:prstDash val="solid"/>
                    </a:lnB>
                    <a:noFill/>
                  </a:tcPr>
                </a:tc>
                <a:tc>
                  <a:txBody>
                    <a:bodyPr/>
                    <a:lstStyle/>
                    <a:p>
                      <a:pPr>
                        <a:buNone/>
                      </a:pPr>
                      <a:r>
                        <a:rPr lang="en-US" sz="1600" cap="none" spc="0">
                          <a:solidFill>
                            <a:schemeClr val="tx1"/>
                          </a:solidFill>
                        </a:rPr>
                        <a:t>UPDATE con condiciones complejas</a:t>
                      </a:r>
                    </a:p>
                  </a:txBody>
                  <a:tcPr marL="94839" marR="94839" marT="94839" marB="94839" anchor="ctr">
                    <a:lnL w="12700" cmpd="sng">
                      <a:noFill/>
                      <a:prstDash val="solid"/>
                    </a:lnL>
                    <a:lnR w="12700" cmpd="sng">
                      <a:noFill/>
                      <a:prstDash val="solid"/>
                    </a:lnR>
                    <a:lnT w="6350" cap="flat" cmpd="sng" algn="ctr">
                      <a:solidFill>
                        <a:schemeClr val="tx1"/>
                      </a:solidFill>
                      <a:prstDash val="solid"/>
                    </a:lnT>
                    <a:lnB w="6350" cap="flat" cmpd="sng" algn="ctr">
                      <a:solidFill>
                        <a:schemeClr val="tx1"/>
                      </a:solidFill>
                      <a:prstDash val="solid"/>
                    </a:lnB>
                    <a:noFill/>
                  </a:tcPr>
                </a:tc>
                <a:tc>
                  <a:txBody>
                    <a:bodyPr/>
                    <a:lstStyle/>
                    <a:p>
                      <a:pPr>
                        <a:buNone/>
                      </a:pPr>
                      <a:r>
                        <a:rPr lang="en-US" sz="1600" cap="none" spc="0" dirty="0" err="1">
                          <a:solidFill>
                            <a:schemeClr val="tx1"/>
                          </a:solidFill>
                        </a:rPr>
                        <a:t>Modificar</a:t>
                      </a:r>
                      <a:r>
                        <a:rPr lang="en-US" sz="1600" cap="none" spc="0" dirty="0">
                          <a:solidFill>
                            <a:schemeClr val="tx1"/>
                          </a:solidFill>
                        </a:rPr>
                        <a:t> </a:t>
                      </a:r>
                      <a:r>
                        <a:rPr lang="en-US" sz="1600" cap="none" spc="0" dirty="0" err="1">
                          <a:solidFill>
                            <a:schemeClr val="tx1"/>
                          </a:solidFill>
                        </a:rPr>
                        <a:t>una</a:t>
                      </a:r>
                      <a:r>
                        <a:rPr lang="en-US" sz="1600" cap="none" spc="0" dirty="0">
                          <a:solidFill>
                            <a:schemeClr val="tx1"/>
                          </a:solidFill>
                        </a:rPr>
                        <a:t> </a:t>
                      </a:r>
                      <a:r>
                        <a:rPr lang="en-US" sz="1600" cap="none" spc="0" dirty="0" err="1">
                          <a:solidFill>
                            <a:schemeClr val="tx1"/>
                          </a:solidFill>
                        </a:rPr>
                        <a:t>tabla</a:t>
                      </a:r>
                      <a:r>
                        <a:rPr lang="en-US" sz="1600" cap="none" spc="0" dirty="0">
                          <a:solidFill>
                            <a:schemeClr val="tx1"/>
                          </a:solidFill>
                        </a:rPr>
                        <a:t> con la </a:t>
                      </a:r>
                      <a:r>
                        <a:rPr lang="en-US" sz="1600" cap="none" spc="0" dirty="0" err="1">
                          <a:solidFill>
                            <a:schemeClr val="tx1"/>
                          </a:solidFill>
                        </a:rPr>
                        <a:t>condicion</a:t>
                      </a:r>
                      <a:r>
                        <a:rPr lang="en-US" sz="1600" cap="none" spc="0" dirty="0">
                          <a:solidFill>
                            <a:schemeClr val="tx1"/>
                          </a:solidFill>
                        </a:rPr>
                        <a:t> </a:t>
                      </a:r>
                      <a:r>
                        <a:rPr lang="en-US" sz="1600" cap="none" spc="0" dirty="0" err="1">
                          <a:solidFill>
                            <a:schemeClr val="tx1"/>
                          </a:solidFill>
                        </a:rPr>
                        <a:t>en</a:t>
                      </a:r>
                      <a:r>
                        <a:rPr lang="en-US" sz="1600" cap="none" spc="0" dirty="0">
                          <a:solidFill>
                            <a:schemeClr val="tx1"/>
                          </a:solidFill>
                        </a:rPr>
                        <a:t> </a:t>
                      </a:r>
                      <a:r>
                        <a:rPr lang="en-US" sz="1600" cap="none" spc="0" dirty="0" err="1">
                          <a:solidFill>
                            <a:schemeClr val="tx1"/>
                          </a:solidFill>
                        </a:rPr>
                        <a:t>otra</a:t>
                      </a:r>
                      <a:r>
                        <a:rPr lang="en-US" sz="1600" cap="none" spc="0" dirty="0">
                          <a:solidFill>
                            <a:schemeClr val="tx1"/>
                          </a:solidFill>
                        </a:rPr>
                        <a:t> y </a:t>
                      </a:r>
                      <a:r>
                        <a:rPr lang="en-US" sz="1600" cap="none" spc="0" dirty="0" err="1">
                          <a:solidFill>
                            <a:schemeClr val="tx1"/>
                          </a:solidFill>
                        </a:rPr>
                        <a:t>usando</a:t>
                      </a:r>
                      <a:r>
                        <a:rPr lang="en-US" sz="1600" cap="none" spc="0" dirty="0">
                          <a:solidFill>
                            <a:schemeClr val="tx1"/>
                          </a:solidFill>
                        </a:rPr>
                        <a:t> </a:t>
                      </a:r>
                      <a:r>
                        <a:rPr lang="en-US" sz="1600" cap="none" spc="0" dirty="0" err="1">
                          <a:solidFill>
                            <a:schemeClr val="tx1"/>
                          </a:solidFill>
                        </a:rPr>
                        <a:t>funciones</a:t>
                      </a:r>
                      <a:r>
                        <a:rPr lang="en-US" sz="1600" cap="none" spc="0" dirty="0">
                          <a:solidFill>
                            <a:schemeClr val="tx1"/>
                          </a:solidFill>
                        </a:rPr>
                        <a:t> de </a:t>
                      </a:r>
                      <a:r>
                        <a:rPr lang="en-US" sz="1600" cap="none" spc="0" dirty="0" err="1">
                          <a:solidFill>
                            <a:schemeClr val="tx1"/>
                          </a:solidFill>
                        </a:rPr>
                        <a:t>fecha</a:t>
                      </a:r>
                      <a:r>
                        <a:rPr lang="en-US" sz="1600" cap="none" spc="0" dirty="0">
                          <a:solidFill>
                            <a:schemeClr val="tx1"/>
                          </a:solidFill>
                        </a:rPr>
                        <a:t>.</a:t>
                      </a:r>
                    </a:p>
                  </a:txBody>
                  <a:tcPr marL="94839" marR="94839" marT="94839" marB="94839" anchor="ctr">
                    <a:lnL w="12700" cmpd="sng">
                      <a:noFill/>
                      <a:prstDash val="solid"/>
                    </a:lnL>
                    <a:lnR w="12700" cmpd="sng">
                      <a:noFill/>
                      <a:prstDash val="solid"/>
                    </a:lnR>
                    <a:lnT w="6350" cap="flat" cmpd="sng" algn="ctr">
                      <a:solidFill>
                        <a:schemeClr val="tx1"/>
                      </a:solidFill>
                      <a:prstDash val="solid"/>
                    </a:lnT>
                    <a:lnB w="6350" cap="flat" cmpd="sng" algn="ctr">
                      <a:solidFill>
                        <a:schemeClr val="tx1"/>
                      </a:solidFill>
                      <a:prstDash val="solid"/>
                    </a:lnB>
                    <a:noFill/>
                  </a:tcPr>
                </a:tc>
                <a:extLst>
                  <a:ext uri="{0D108BD9-81ED-4DB2-BD59-A6C34878D82A}">
                    <a16:rowId xmlns:a16="http://schemas.microsoft.com/office/drawing/2014/main" val="3124702398"/>
                  </a:ext>
                </a:extLst>
              </a:tr>
              <a:tr h="480549">
                <a:tc>
                  <a:txBody>
                    <a:bodyPr/>
                    <a:lstStyle/>
                    <a:p>
                      <a:pPr>
                        <a:buNone/>
                      </a:pPr>
                      <a:r>
                        <a:rPr lang="en-US" sz="1600" b="1" cap="none" spc="0" dirty="0">
                          <a:solidFill>
                            <a:schemeClr val="tx1"/>
                          </a:solidFill>
                          <a:hlinkClick r:id="rId6" action="ppaction://hlinksldjump"/>
                        </a:rPr>
                        <a:t>Ejemplo 4</a:t>
                      </a:r>
                      <a:endParaRPr lang="en-US" sz="1600" b="1" cap="none" spc="0" dirty="0">
                        <a:solidFill>
                          <a:schemeClr val="tx1"/>
                        </a:solidFill>
                      </a:endParaRPr>
                    </a:p>
                  </a:txBody>
                  <a:tcPr marL="94839" marR="94839" marT="94839" marB="94839" anchor="ctr">
                    <a:lnL w="12700" cmpd="sng">
                      <a:noFill/>
                      <a:prstDash val="solid"/>
                    </a:lnL>
                    <a:lnR w="12700" cmpd="sng">
                      <a:noFill/>
                      <a:prstDash val="solid"/>
                    </a:lnR>
                    <a:lnT w="6350" cap="flat" cmpd="sng" algn="ctr">
                      <a:solidFill>
                        <a:schemeClr val="tx1"/>
                      </a:solidFill>
                      <a:prstDash val="solid"/>
                    </a:lnT>
                    <a:lnB w="6350" cap="flat" cmpd="sng" algn="ctr">
                      <a:solidFill>
                        <a:schemeClr val="tx1"/>
                      </a:solidFill>
                      <a:prstDash val="solid"/>
                    </a:lnB>
                    <a:noFill/>
                  </a:tcPr>
                </a:tc>
                <a:tc>
                  <a:txBody>
                    <a:bodyPr/>
                    <a:lstStyle/>
                    <a:p>
                      <a:pPr>
                        <a:buNone/>
                      </a:pPr>
                      <a:r>
                        <a:rPr lang="en-US" sz="1600" cap="none" spc="0">
                          <a:solidFill>
                            <a:schemeClr val="tx1"/>
                          </a:solidFill>
                        </a:rPr>
                        <a:t>UPDATE usando subconsulta</a:t>
                      </a:r>
                    </a:p>
                  </a:txBody>
                  <a:tcPr marL="94839" marR="94839" marT="94839" marB="94839" anchor="ctr">
                    <a:lnL w="12700" cmpd="sng">
                      <a:noFill/>
                      <a:prstDash val="solid"/>
                    </a:lnL>
                    <a:lnR w="12700" cmpd="sng">
                      <a:noFill/>
                      <a:prstDash val="solid"/>
                    </a:lnR>
                    <a:lnT w="6350" cap="flat" cmpd="sng" algn="ctr">
                      <a:solidFill>
                        <a:schemeClr val="tx1"/>
                      </a:solidFill>
                      <a:prstDash val="solid"/>
                    </a:lnT>
                    <a:lnB w="6350" cap="flat" cmpd="sng" algn="ctr">
                      <a:solidFill>
                        <a:schemeClr val="tx1"/>
                      </a:solidFill>
                      <a:prstDash val="solid"/>
                    </a:lnB>
                    <a:noFill/>
                  </a:tcPr>
                </a:tc>
                <a:tc>
                  <a:txBody>
                    <a:bodyPr/>
                    <a:lstStyle/>
                    <a:p>
                      <a:pPr>
                        <a:buNone/>
                      </a:pPr>
                      <a:r>
                        <a:rPr lang="en-US" sz="1600" cap="none" spc="0" dirty="0" err="1">
                          <a:solidFill>
                            <a:schemeClr val="tx1"/>
                          </a:solidFill>
                        </a:rPr>
                        <a:t>Modificacion</a:t>
                      </a:r>
                      <a:r>
                        <a:rPr lang="en-US" sz="1600" cap="none" spc="0" dirty="0">
                          <a:solidFill>
                            <a:schemeClr val="tx1"/>
                          </a:solidFill>
                        </a:rPr>
                        <a:t> con </a:t>
                      </a:r>
                      <a:r>
                        <a:rPr lang="en-US" sz="1600" cap="none" spc="0" dirty="0" err="1">
                          <a:solidFill>
                            <a:schemeClr val="tx1"/>
                          </a:solidFill>
                        </a:rPr>
                        <a:t>subconsultas</a:t>
                      </a:r>
                      <a:r>
                        <a:rPr lang="en-US" sz="1600" cap="none" spc="0" dirty="0">
                          <a:solidFill>
                            <a:schemeClr val="tx1"/>
                          </a:solidFill>
                        </a:rPr>
                        <a:t> o con inner join</a:t>
                      </a:r>
                    </a:p>
                  </a:txBody>
                  <a:tcPr marL="94839" marR="94839" marT="94839" marB="94839" anchor="ctr">
                    <a:lnL w="12700" cmpd="sng">
                      <a:noFill/>
                      <a:prstDash val="solid"/>
                    </a:lnL>
                    <a:lnR w="12700" cmpd="sng">
                      <a:noFill/>
                      <a:prstDash val="solid"/>
                    </a:lnR>
                    <a:lnT w="6350" cap="flat" cmpd="sng" algn="ctr">
                      <a:solidFill>
                        <a:schemeClr val="tx1"/>
                      </a:solidFill>
                      <a:prstDash val="solid"/>
                    </a:lnT>
                    <a:lnB w="6350" cap="flat" cmpd="sng" algn="ctr">
                      <a:solidFill>
                        <a:schemeClr val="tx1"/>
                      </a:solidFill>
                      <a:prstDash val="solid"/>
                    </a:lnB>
                    <a:noFill/>
                  </a:tcPr>
                </a:tc>
                <a:extLst>
                  <a:ext uri="{0D108BD9-81ED-4DB2-BD59-A6C34878D82A}">
                    <a16:rowId xmlns:a16="http://schemas.microsoft.com/office/drawing/2014/main" val="3633461557"/>
                  </a:ext>
                </a:extLst>
              </a:tr>
              <a:tr h="480549">
                <a:tc>
                  <a:txBody>
                    <a:bodyPr/>
                    <a:lstStyle/>
                    <a:p>
                      <a:pPr>
                        <a:buNone/>
                      </a:pPr>
                      <a:r>
                        <a:rPr lang="en-US" sz="1600" b="1" cap="none" spc="0" dirty="0">
                          <a:solidFill>
                            <a:schemeClr val="tx1"/>
                          </a:solidFill>
                          <a:hlinkClick r:id="rId7" action="ppaction://hlinksldjump"/>
                        </a:rPr>
                        <a:t>Ejemplo 5</a:t>
                      </a:r>
                      <a:endParaRPr lang="en-US" sz="1600" b="1" cap="none" spc="0" dirty="0">
                        <a:solidFill>
                          <a:schemeClr val="tx1"/>
                        </a:solidFill>
                      </a:endParaRPr>
                    </a:p>
                  </a:txBody>
                  <a:tcPr marL="94839" marR="94839" marT="94839" marB="94839" anchor="ctr">
                    <a:lnL w="12700" cmpd="sng">
                      <a:noFill/>
                      <a:prstDash val="solid"/>
                    </a:lnL>
                    <a:lnR w="12700" cmpd="sng">
                      <a:noFill/>
                      <a:prstDash val="solid"/>
                    </a:lnR>
                    <a:lnT w="6350" cap="flat" cmpd="sng" algn="ctr">
                      <a:solidFill>
                        <a:schemeClr val="tx1"/>
                      </a:solidFill>
                      <a:prstDash val="solid"/>
                    </a:lnT>
                    <a:lnB w="6350" cap="flat" cmpd="sng" algn="ctr">
                      <a:solidFill>
                        <a:schemeClr val="tx1"/>
                      </a:solidFill>
                      <a:prstDash val="solid"/>
                    </a:lnB>
                    <a:noFill/>
                  </a:tcPr>
                </a:tc>
                <a:tc>
                  <a:txBody>
                    <a:bodyPr/>
                    <a:lstStyle/>
                    <a:p>
                      <a:pPr>
                        <a:buNone/>
                      </a:pPr>
                      <a:r>
                        <a:rPr lang="en-US" sz="1600" cap="none" spc="0">
                          <a:solidFill>
                            <a:schemeClr val="tx1"/>
                          </a:solidFill>
                        </a:rPr>
                        <a:t>UPDATE con JOIN</a:t>
                      </a:r>
                    </a:p>
                  </a:txBody>
                  <a:tcPr marL="94839" marR="94839" marT="94839" marB="94839" anchor="ctr">
                    <a:lnL w="12700" cmpd="sng">
                      <a:noFill/>
                      <a:prstDash val="solid"/>
                    </a:lnL>
                    <a:lnR w="12700" cmpd="sng">
                      <a:noFill/>
                      <a:prstDash val="solid"/>
                    </a:lnR>
                    <a:lnT w="6350" cap="flat" cmpd="sng" algn="ctr">
                      <a:solidFill>
                        <a:schemeClr val="tx1"/>
                      </a:solidFill>
                      <a:prstDash val="solid"/>
                    </a:lnT>
                    <a:lnB w="6350" cap="flat" cmpd="sng" algn="ctr">
                      <a:solidFill>
                        <a:schemeClr val="tx1"/>
                      </a:solidFill>
                      <a:prstDash val="solid"/>
                    </a:lnB>
                    <a:noFill/>
                  </a:tcPr>
                </a:tc>
                <a:tc>
                  <a:txBody>
                    <a:bodyPr/>
                    <a:lstStyle/>
                    <a:p>
                      <a:pPr>
                        <a:buNone/>
                      </a:pPr>
                      <a:r>
                        <a:rPr lang="en-US" sz="1600" cap="none" spc="0" dirty="0" err="1">
                          <a:solidFill>
                            <a:schemeClr val="tx1"/>
                          </a:solidFill>
                        </a:rPr>
                        <a:t>Modificación</a:t>
                      </a:r>
                      <a:r>
                        <a:rPr lang="en-US" sz="1600" cap="none" spc="0" dirty="0">
                          <a:solidFill>
                            <a:schemeClr val="tx1"/>
                          </a:solidFill>
                        </a:rPr>
                        <a:t> con </a:t>
                      </a:r>
                      <a:r>
                        <a:rPr lang="en-US" sz="1600" cap="none" spc="0" dirty="0" err="1">
                          <a:solidFill>
                            <a:schemeClr val="tx1"/>
                          </a:solidFill>
                        </a:rPr>
                        <a:t>subconsultas</a:t>
                      </a:r>
                      <a:endParaRPr lang="en-US" sz="1600" cap="none" spc="0" dirty="0">
                        <a:solidFill>
                          <a:schemeClr val="tx1"/>
                        </a:solidFill>
                      </a:endParaRPr>
                    </a:p>
                  </a:txBody>
                  <a:tcPr marL="94839" marR="94839" marT="94839" marB="94839" anchor="ctr">
                    <a:lnL w="12700" cmpd="sng">
                      <a:noFill/>
                      <a:prstDash val="solid"/>
                    </a:lnL>
                    <a:lnR w="12700" cmpd="sng">
                      <a:noFill/>
                      <a:prstDash val="solid"/>
                    </a:lnR>
                    <a:lnT w="6350" cap="flat" cmpd="sng" algn="ctr">
                      <a:solidFill>
                        <a:schemeClr val="tx1"/>
                      </a:solidFill>
                      <a:prstDash val="solid"/>
                    </a:lnT>
                    <a:lnB w="6350" cap="flat" cmpd="sng" algn="ctr">
                      <a:solidFill>
                        <a:schemeClr val="tx1"/>
                      </a:solidFill>
                      <a:prstDash val="solid"/>
                    </a:lnB>
                    <a:noFill/>
                  </a:tcPr>
                </a:tc>
                <a:extLst>
                  <a:ext uri="{0D108BD9-81ED-4DB2-BD59-A6C34878D82A}">
                    <a16:rowId xmlns:a16="http://schemas.microsoft.com/office/drawing/2014/main" val="2810752439"/>
                  </a:ext>
                </a:extLst>
              </a:tr>
              <a:tr h="480549">
                <a:tc>
                  <a:txBody>
                    <a:bodyPr/>
                    <a:lstStyle/>
                    <a:p>
                      <a:pPr>
                        <a:buNone/>
                      </a:pPr>
                      <a:r>
                        <a:rPr lang="en-US" sz="1600" b="1" cap="none" spc="0" dirty="0">
                          <a:solidFill>
                            <a:schemeClr val="tx1"/>
                          </a:solidFill>
                          <a:hlinkClick r:id="rId8" action="ppaction://hlinksldjump"/>
                        </a:rPr>
                        <a:t>Ejemplo 6</a:t>
                      </a:r>
                      <a:endParaRPr lang="en-US" sz="1600" b="1" cap="none" spc="0" dirty="0">
                        <a:solidFill>
                          <a:schemeClr val="tx1"/>
                        </a:solidFill>
                      </a:endParaRPr>
                    </a:p>
                  </a:txBody>
                  <a:tcPr marL="94839" marR="94839" marT="94839" marB="94839" anchor="ctr">
                    <a:lnL w="12700" cmpd="sng">
                      <a:noFill/>
                      <a:prstDash val="solid"/>
                    </a:lnL>
                    <a:lnR w="12700" cmpd="sng">
                      <a:noFill/>
                      <a:prstDash val="solid"/>
                    </a:lnR>
                    <a:lnT w="6350" cap="flat" cmpd="sng" algn="ctr">
                      <a:solidFill>
                        <a:schemeClr val="tx1"/>
                      </a:solidFill>
                      <a:prstDash val="solid"/>
                    </a:lnT>
                    <a:lnB w="6350" cap="flat" cmpd="sng" algn="ctr">
                      <a:solidFill>
                        <a:schemeClr val="tx1"/>
                      </a:solidFill>
                      <a:prstDash val="solid"/>
                    </a:lnB>
                    <a:noFill/>
                  </a:tcPr>
                </a:tc>
                <a:tc>
                  <a:txBody>
                    <a:bodyPr/>
                    <a:lstStyle/>
                    <a:p>
                      <a:pPr>
                        <a:buNone/>
                      </a:pPr>
                      <a:r>
                        <a:rPr lang="en-US" sz="1600" cap="none" spc="0">
                          <a:solidFill>
                            <a:schemeClr val="tx1"/>
                          </a:solidFill>
                        </a:rPr>
                        <a:t>UPDATE y control de transacciones</a:t>
                      </a:r>
                    </a:p>
                  </a:txBody>
                  <a:tcPr marL="94839" marR="94839" marT="94839" marB="94839" anchor="ctr">
                    <a:lnL w="12700" cmpd="sng">
                      <a:noFill/>
                      <a:prstDash val="solid"/>
                    </a:lnL>
                    <a:lnR w="12700" cmpd="sng">
                      <a:noFill/>
                      <a:prstDash val="solid"/>
                    </a:lnR>
                    <a:lnT w="6350" cap="flat" cmpd="sng" algn="ctr">
                      <a:solidFill>
                        <a:schemeClr val="tx1"/>
                      </a:solidFill>
                      <a:prstDash val="solid"/>
                    </a:lnT>
                    <a:lnB w="6350" cap="flat" cmpd="sng" algn="ctr">
                      <a:solidFill>
                        <a:schemeClr val="tx1"/>
                      </a:solidFill>
                      <a:prstDash val="solid"/>
                    </a:lnB>
                    <a:noFill/>
                  </a:tcPr>
                </a:tc>
                <a:tc>
                  <a:txBody>
                    <a:bodyPr/>
                    <a:lstStyle/>
                    <a:p>
                      <a:pPr>
                        <a:buNone/>
                      </a:pPr>
                      <a:r>
                        <a:rPr lang="en-US" sz="1600" cap="none" spc="0" dirty="0" err="1">
                          <a:solidFill>
                            <a:schemeClr val="tx1"/>
                          </a:solidFill>
                        </a:rPr>
                        <a:t>Modificación</a:t>
                      </a:r>
                      <a:r>
                        <a:rPr lang="en-US" sz="1600" cap="none" spc="0" dirty="0">
                          <a:solidFill>
                            <a:schemeClr val="tx1"/>
                          </a:solidFill>
                        </a:rPr>
                        <a:t> con consulta </a:t>
                      </a:r>
                      <a:r>
                        <a:rPr lang="en-US" sz="1600" cap="none" spc="0" dirty="0" err="1">
                          <a:solidFill>
                            <a:schemeClr val="tx1"/>
                          </a:solidFill>
                        </a:rPr>
                        <a:t>correlacionada</a:t>
                      </a:r>
                      <a:endParaRPr lang="en-US" sz="1600" cap="none" spc="0" dirty="0">
                        <a:solidFill>
                          <a:schemeClr val="tx1"/>
                        </a:solidFill>
                      </a:endParaRPr>
                    </a:p>
                  </a:txBody>
                  <a:tcPr marL="94839" marR="94839" marT="94839" marB="94839" anchor="ctr">
                    <a:lnL w="12700" cmpd="sng">
                      <a:noFill/>
                      <a:prstDash val="solid"/>
                    </a:lnL>
                    <a:lnR w="12700" cmpd="sng">
                      <a:noFill/>
                      <a:prstDash val="solid"/>
                    </a:lnR>
                    <a:lnT w="6350" cap="flat" cmpd="sng" algn="ctr">
                      <a:solidFill>
                        <a:schemeClr val="tx1"/>
                      </a:solidFill>
                      <a:prstDash val="solid"/>
                    </a:lnT>
                    <a:lnB w="6350" cap="flat" cmpd="sng" algn="ctr">
                      <a:solidFill>
                        <a:schemeClr val="tx1"/>
                      </a:solidFill>
                      <a:prstDash val="solid"/>
                    </a:lnB>
                    <a:noFill/>
                  </a:tcPr>
                </a:tc>
                <a:extLst>
                  <a:ext uri="{0D108BD9-81ED-4DB2-BD59-A6C34878D82A}">
                    <a16:rowId xmlns:a16="http://schemas.microsoft.com/office/drawing/2014/main" val="381649982"/>
                  </a:ext>
                </a:extLst>
              </a:tr>
              <a:tr h="480549">
                <a:tc>
                  <a:txBody>
                    <a:bodyPr/>
                    <a:lstStyle/>
                    <a:p>
                      <a:pPr>
                        <a:buNone/>
                      </a:pPr>
                      <a:r>
                        <a:rPr lang="en-US" sz="1600" b="1" cap="none" spc="0" dirty="0">
                          <a:solidFill>
                            <a:schemeClr val="tx1"/>
                          </a:solidFill>
                          <a:hlinkClick r:id="rId9" action="ppaction://hlinksldjump"/>
                        </a:rPr>
                        <a:t>Ejemplo 7</a:t>
                      </a:r>
                      <a:endParaRPr lang="en-US" sz="1600" b="1" cap="none" spc="0" dirty="0">
                        <a:solidFill>
                          <a:schemeClr val="tx1"/>
                        </a:solidFill>
                      </a:endParaRPr>
                    </a:p>
                  </a:txBody>
                  <a:tcPr marL="94839" marR="94839" marT="94839" marB="94839" anchor="ctr">
                    <a:lnL w="12700" cmpd="sng">
                      <a:noFill/>
                      <a:prstDash val="solid"/>
                    </a:lnL>
                    <a:lnR w="12700" cmpd="sng">
                      <a:noFill/>
                      <a:prstDash val="solid"/>
                    </a:lnR>
                    <a:lnT w="6350" cap="flat" cmpd="sng" algn="ctr">
                      <a:solidFill>
                        <a:schemeClr val="tx1"/>
                      </a:solidFill>
                      <a:prstDash val="solid"/>
                    </a:lnT>
                    <a:lnB w="6350" cap="flat" cmpd="sng" algn="ctr">
                      <a:solidFill>
                        <a:schemeClr val="tx1"/>
                      </a:solidFill>
                      <a:prstDash val="solid"/>
                    </a:lnB>
                    <a:noFill/>
                  </a:tcPr>
                </a:tc>
                <a:tc>
                  <a:txBody>
                    <a:bodyPr/>
                    <a:lstStyle/>
                    <a:p>
                      <a:pPr>
                        <a:buNone/>
                      </a:pPr>
                      <a:r>
                        <a:rPr lang="en-US" sz="1600" cap="none" spc="0">
                          <a:solidFill>
                            <a:schemeClr val="tx1"/>
                          </a:solidFill>
                        </a:rPr>
                        <a:t>UPDATE condicionado por fechas</a:t>
                      </a:r>
                    </a:p>
                  </a:txBody>
                  <a:tcPr marL="94839" marR="94839" marT="94839" marB="94839" anchor="ctr">
                    <a:lnL w="12700" cmpd="sng">
                      <a:noFill/>
                      <a:prstDash val="solid"/>
                    </a:lnL>
                    <a:lnR w="12700" cmpd="sng">
                      <a:noFill/>
                      <a:prstDash val="solid"/>
                    </a:lnR>
                    <a:lnT w="6350" cap="flat" cmpd="sng" algn="ctr">
                      <a:solidFill>
                        <a:schemeClr val="tx1"/>
                      </a:solidFill>
                      <a:prstDash val="solid"/>
                    </a:lnT>
                    <a:lnB w="6350" cap="flat" cmpd="sng" algn="ctr">
                      <a:solidFill>
                        <a:schemeClr val="tx1"/>
                      </a:solidFill>
                      <a:prstDash val="solid"/>
                    </a:lnB>
                    <a:noFill/>
                  </a:tcPr>
                </a:tc>
                <a:tc>
                  <a:txBody>
                    <a:bodyPr/>
                    <a:lstStyle/>
                    <a:p>
                      <a:pPr>
                        <a:buNone/>
                      </a:pPr>
                      <a:r>
                        <a:rPr lang="en-US" sz="1600" cap="none" spc="0" dirty="0" err="1">
                          <a:solidFill>
                            <a:schemeClr val="tx1"/>
                          </a:solidFill>
                        </a:rPr>
                        <a:t>Modificación</a:t>
                      </a:r>
                      <a:r>
                        <a:rPr lang="en-US" sz="1600" cap="none" spc="0" dirty="0">
                          <a:solidFill>
                            <a:schemeClr val="tx1"/>
                          </a:solidFill>
                        </a:rPr>
                        <a:t> con consulta </a:t>
                      </a:r>
                      <a:r>
                        <a:rPr lang="en-US" sz="1600" cap="none" spc="0" dirty="0" err="1">
                          <a:solidFill>
                            <a:schemeClr val="tx1"/>
                          </a:solidFill>
                        </a:rPr>
                        <a:t>correlacionada</a:t>
                      </a:r>
                      <a:endParaRPr lang="en-US" sz="1600" cap="none" spc="0" dirty="0">
                        <a:solidFill>
                          <a:schemeClr val="tx1"/>
                        </a:solidFill>
                      </a:endParaRPr>
                    </a:p>
                  </a:txBody>
                  <a:tcPr marL="94839" marR="94839" marT="94839" marB="94839" anchor="ctr">
                    <a:lnL w="12700" cmpd="sng">
                      <a:noFill/>
                      <a:prstDash val="solid"/>
                    </a:lnL>
                    <a:lnR w="12700" cmpd="sng">
                      <a:noFill/>
                      <a:prstDash val="solid"/>
                    </a:lnR>
                    <a:lnT w="6350" cap="flat" cmpd="sng" algn="ctr">
                      <a:solidFill>
                        <a:schemeClr val="tx1"/>
                      </a:solidFill>
                      <a:prstDash val="solid"/>
                    </a:lnT>
                    <a:lnB w="6350" cap="flat" cmpd="sng" algn="ctr">
                      <a:solidFill>
                        <a:schemeClr val="tx1"/>
                      </a:solidFill>
                      <a:prstDash val="solid"/>
                    </a:lnB>
                    <a:noFill/>
                  </a:tcPr>
                </a:tc>
                <a:extLst>
                  <a:ext uri="{0D108BD9-81ED-4DB2-BD59-A6C34878D82A}">
                    <a16:rowId xmlns:a16="http://schemas.microsoft.com/office/drawing/2014/main" val="534457606"/>
                  </a:ext>
                </a:extLst>
              </a:tr>
              <a:tr h="480549">
                <a:tc>
                  <a:txBody>
                    <a:bodyPr/>
                    <a:lstStyle/>
                    <a:p>
                      <a:pPr>
                        <a:buNone/>
                      </a:pPr>
                      <a:r>
                        <a:rPr lang="en-US" sz="1600" b="1" cap="none" spc="0" dirty="0">
                          <a:solidFill>
                            <a:schemeClr val="tx1"/>
                          </a:solidFill>
                          <a:hlinkClick r:id="rId10" action="ppaction://hlinksldjump"/>
                        </a:rPr>
                        <a:t>Ejemplo 8</a:t>
                      </a:r>
                      <a:endParaRPr lang="en-US" sz="1600" b="1" cap="none" spc="0" dirty="0">
                        <a:solidFill>
                          <a:schemeClr val="tx1"/>
                        </a:solidFill>
                      </a:endParaRPr>
                    </a:p>
                  </a:txBody>
                  <a:tcPr marL="94839" marR="94839" marT="94839" marB="94839" anchor="ctr">
                    <a:lnL w="12700" cmpd="sng">
                      <a:noFill/>
                      <a:prstDash val="solid"/>
                    </a:lnL>
                    <a:lnR w="12700" cmpd="sng">
                      <a:noFill/>
                      <a:prstDash val="solid"/>
                    </a:lnR>
                    <a:lnT w="6350" cap="flat" cmpd="sng" algn="ctr">
                      <a:solidFill>
                        <a:schemeClr val="tx1"/>
                      </a:solidFill>
                      <a:prstDash val="solid"/>
                    </a:lnT>
                    <a:lnB w="6350" cap="flat" cmpd="sng" algn="ctr">
                      <a:solidFill>
                        <a:schemeClr val="tx1"/>
                      </a:solidFill>
                      <a:prstDash val="solid"/>
                    </a:lnB>
                    <a:noFill/>
                  </a:tcPr>
                </a:tc>
                <a:tc>
                  <a:txBody>
                    <a:bodyPr/>
                    <a:lstStyle/>
                    <a:p>
                      <a:pPr>
                        <a:buNone/>
                      </a:pPr>
                      <a:r>
                        <a:rPr lang="en-US" sz="1600" cap="none" spc="0">
                          <a:solidFill>
                            <a:schemeClr val="tx1"/>
                          </a:solidFill>
                        </a:rPr>
                        <a:t>UPDATE masivo</a:t>
                      </a:r>
                    </a:p>
                  </a:txBody>
                  <a:tcPr marL="94839" marR="94839" marT="94839" marB="94839" anchor="ctr">
                    <a:lnL w="12700" cmpd="sng">
                      <a:noFill/>
                      <a:prstDash val="solid"/>
                    </a:lnL>
                    <a:lnR w="12700" cmpd="sng">
                      <a:noFill/>
                      <a:prstDash val="solid"/>
                    </a:lnR>
                    <a:lnT w="6350" cap="flat" cmpd="sng" algn="ctr">
                      <a:solidFill>
                        <a:schemeClr val="tx1"/>
                      </a:solidFill>
                      <a:prstDash val="solid"/>
                    </a:lnT>
                    <a:lnB w="6350" cap="flat" cmpd="sng" algn="ctr">
                      <a:solidFill>
                        <a:schemeClr val="tx1"/>
                      </a:solidFill>
                      <a:prstDash val="solid"/>
                    </a:lnB>
                    <a:noFill/>
                  </a:tcPr>
                </a:tc>
                <a:tc>
                  <a:txBody>
                    <a:bodyPr/>
                    <a:lstStyle/>
                    <a:p>
                      <a:pPr>
                        <a:buNone/>
                      </a:pPr>
                      <a:r>
                        <a:rPr lang="en-US" sz="1600" cap="none" spc="0" dirty="0" err="1">
                          <a:solidFill>
                            <a:schemeClr val="tx1"/>
                          </a:solidFill>
                        </a:rPr>
                        <a:t>Modificación</a:t>
                      </a:r>
                      <a:r>
                        <a:rPr lang="en-US" sz="1600" cap="none" spc="0" dirty="0">
                          <a:solidFill>
                            <a:schemeClr val="tx1"/>
                          </a:solidFill>
                        </a:rPr>
                        <a:t> con consulta </a:t>
                      </a:r>
                      <a:r>
                        <a:rPr lang="en-US" sz="1600" cap="none" spc="0" dirty="0" err="1">
                          <a:solidFill>
                            <a:schemeClr val="tx1"/>
                          </a:solidFill>
                        </a:rPr>
                        <a:t>renombrada</a:t>
                      </a:r>
                      <a:endParaRPr lang="en-US" sz="1600" cap="none" spc="0" dirty="0">
                        <a:solidFill>
                          <a:schemeClr val="tx1"/>
                        </a:solidFill>
                      </a:endParaRPr>
                    </a:p>
                  </a:txBody>
                  <a:tcPr marL="94839" marR="94839" marT="94839" marB="94839" anchor="ctr">
                    <a:lnL w="12700" cmpd="sng">
                      <a:noFill/>
                      <a:prstDash val="solid"/>
                    </a:lnL>
                    <a:lnR w="12700" cmpd="sng">
                      <a:noFill/>
                      <a:prstDash val="solid"/>
                    </a:lnR>
                    <a:lnT w="6350" cap="flat" cmpd="sng" algn="ctr">
                      <a:solidFill>
                        <a:schemeClr val="tx1"/>
                      </a:solidFill>
                      <a:prstDash val="solid"/>
                    </a:lnT>
                    <a:lnB w="6350" cap="flat" cmpd="sng" algn="ctr">
                      <a:solidFill>
                        <a:schemeClr val="tx1"/>
                      </a:solidFill>
                      <a:prstDash val="solid"/>
                    </a:lnB>
                    <a:noFill/>
                  </a:tcPr>
                </a:tc>
                <a:extLst>
                  <a:ext uri="{0D108BD9-81ED-4DB2-BD59-A6C34878D82A}">
                    <a16:rowId xmlns:a16="http://schemas.microsoft.com/office/drawing/2014/main" val="3727084138"/>
                  </a:ext>
                </a:extLst>
              </a:tr>
              <a:tr h="480549">
                <a:tc>
                  <a:txBody>
                    <a:bodyPr/>
                    <a:lstStyle/>
                    <a:p>
                      <a:pPr>
                        <a:buNone/>
                      </a:pPr>
                      <a:r>
                        <a:rPr lang="en-US" sz="1600" b="1" cap="none" spc="0" dirty="0">
                          <a:solidFill>
                            <a:schemeClr val="tx1"/>
                          </a:solidFill>
                          <a:hlinkClick r:id="rId11" action="ppaction://hlinksldjump"/>
                        </a:rPr>
                        <a:t>Ejemplo 9</a:t>
                      </a:r>
                      <a:endParaRPr lang="en-US" sz="1600" b="1" cap="none" spc="0" dirty="0">
                        <a:solidFill>
                          <a:schemeClr val="tx1"/>
                        </a:solidFill>
                      </a:endParaRPr>
                    </a:p>
                  </a:txBody>
                  <a:tcPr marL="94839" marR="94839" marT="94839" marB="94839" anchor="ctr">
                    <a:lnL w="12700" cmpd="sng">
                      <a:noFill/>
                      <a:prstDash val="solid"/>
                    </a:lnL>
                    <a:lnR w="12700" cmpd="sng">
                      <a:noFill/>
                      <a:prstDash val="solid"/>
                    </a:lnR>
                    <a:lnT w="6350" cap="flat" cmpd="sng" algn="ctr">
                      <a:solidFill>
                        <a:schemeClr val="tx1"/>
                      </a:solidFill>
                      <a:prstDash val="solid"/>
                    </a:lnT>
                    <a:lnB w="6350" cap="flat" cmpd="sng" algn="ctr">
                      <a:solidFill>
                        <a:schemeClr val="tx1"/>
                      </a:solidFill>
                      <a:prstDash val="solid"/>
                    </a:lnB>
                    <a:noFill/>
                  </a:tcPr>
                </a:tc>
                <a:tc>
                  <a:txBody>
                    <a:bodyPr/>
                    <a:lstStyle/>
                    <a:p>
                      <a:pPr>
                        <a:buNone/>
                      </a:pPr>
                      <a:r>
                        <a:rPr lang="en-US" sz="1600" cap="none" spc="0">
                          <a:solidFill>
                            <a:schemeClr val="tx1"/>
                          </a:solidFill>
                        </a:rPr>
                        <a:t>UPDATE con validaciones</a:t>
                      </a:r>
                    </a:p>
                  </a:txBody>
                  <a:tcPr marL="94839" marR="94839" marT="94839" marB="94839" anchor="ctr">
                    <a:lnL w="12700" cmpd="sng">
                      <a:noFill/>
                      <a:prstDash val="solid"/>
                    </a:lnL>
                    <a:lnR w="12700" cmpd="sng">
                      <a:noFill/>
                      <a:prstDash val="solid"/>
                    </a:lnR>
                    <a:lnT w="6350" cap="flat" cmpd="sng" algn="ctr">
                      <a:solidFill>
                        <a:schemeClr val="tx1"/>
                      </a:solidFill>
                      <a:prstDash val="solid"/>
                    </a:lnT>
                    <a:lnB w="6350" cap="flat" cmpd="sng" algn="ctr">
                      <a:solidFill>
                        <a:schemeClr val="tx1"/>
                      </a:solidFill>
                      <a:prstDash val="solid"/>
                    </a:lnB>
                    <a:noFill/>
                  </a:tcPr>
                </a:tc>
                <a:tc>
                  <a:txBody>
                    <a:bodyPr/>
                    <a:lstStyle/>
                    <a:p>
                      <a:pPr>
                        <a:buNone/>
                      </a:pPr>
                      <a:r>
                        <a:rPr lang="en-US" sz="1600" cap="none" spc="0" dirty="0" err="1">
                          <a:solidFill>
                            <a:schemeClr val="tx1"/>
                          </a:solidFill>
                        </a:rPr>
                        <a:t>Modificación</a:t>
                      </a:r>
                      <a:r>
                        <a:rPr lang="en-US" sz="1600" cap="none" spc="0" dirty="0">
                          <a:solidFill>
                            <a:schemeClr val="tx1"/>
                          </a:solidFill>
                        </a:rPr>
                        <a:t> con consulta </a:t>
                      </a:r>
                      <a:r>
                        <a:rPr lang="en-US" sz="1600" cap="none" spc="0" dirty="0" err="1">
                          <a:solidFill>
                            <a:schemeClr val="tx1"/>
                          </a:solidFill>
                        </a:rPr>
                        <a:t>correlacionada</a:t>
                      </a:r>
                      <a:endParaRPr lang="en-US" sz="1600" cap="none" spc="0" dirty="0">
                        <a:solidFill>
                          <a:schemeClr val="tx1"/>
                        </a:solidFill>
                      </a:endParaRPr>
                    </a:p>
                  </a:txBody>
                  <a:tcPr marL="94839" marR="94839" marT="94839" marB="94839" anchor="ctr">
                    <a:lnL w="12700" cmpd="sng">
                      <a:noFill/>
                      <a:prstDash val="solid"/>
                    </a:lnL>
                    <a:lnR w="12700" cmpd="sng">
                      <a:noFill/>
                      <a:prstDash val="solid"/>
                    </a:lnR>
                    <a:lnT w="6350" cap="flat" cmpd="sng" algn="ctr">
                      <a:solidFill>
                        <a:schemeClr val="tx1"/>
                      </a:solidFill>
                      <a:prstDash val="solid"/>
                    </a:lnT>
                    <a:lnB w="6350" cap="flat" cmpd="sng" algn="ctr">
                      <a:solidFill>
                        <a:schemeClr val="tx1"/>
                      </a:solidFill>
                      <a:prstDash val="solid"/>
                    </a:lnB>
                    <a:noFill/>
                  </a:tcPr>
                </a:tc>
                <a:extLst>
                  <a:ext uri="{0D108BD9-81ED-4DB2-BD59-A6C34878D82A}">
                    <a16:rowId xmlns:a16="http://schemas.microsoft.com/office/drawing/2014/main" val="2227664174"/>
                  </a:ext>
                </a:extLst>
              </a:tr>
              <a:tr h="480549">
                <a:tc>
                  <a:txBody>
                    <a:bodyPr/>
                    <a:lstStyle/>
                    <a:p>
                      <a:pPr>
                        <a:buNone/>
                      </a:pPr>
                      <a:r>
                        <a:rPr lang="en-US" sz="1600" b="1" cap="none" spc="0" dirty="0">
                          <a:solidFill>
                            <a:schemeClr val="tx1"/>
                          </a:solidFill>
                          <a:hlinkClick r:id="rId12" action="ppaction://hlinksldjump"/>
                        </a:rPr>
                        <a:t>Ejemplo 10</a:t>
                      </a:r>
                      <a:endParaRPr lang="en-US" sz="1600" b="1" cap="none" spc="0" dirty="0">
                        <a:solidFill>
                          <a:schemeClr val="tx1"/>
                        </a:solidFill>
                      </a:endParaRPr>
                    </a:p>
                  </a:txBody>
                  <a:tcPr marL="94839" marR="94839" marT="94839" marB="94839" anchor="ctr">
                    <a:lnL w="12700" cmpd="sng">
                      <a:noFill/>
                      <a:prstDash val="solid"/>
                    </a:lnL>
                    <a:lnR w="12700" cmpd="sng">
                      <a:noFill/>
                      <a:prstDash val="solid"/>
                    </a:lnR>
                    <a:lnT w="6350" cap="flat" cmpd="sng" algn="ctr">
                      <a:solidFill>
                        <a:schemeClr val="tx1"/>
                      </a:solidFill>
                      <a:prstDash val="solid"/>
                    </a:lnT>
                    <a:lnB w="9525" cap="flat" cmpd="sng" algn="ctr">
                      <a:noFill/>
                      <a:prstDash val="solid"/>
                    </a:lnB>
                    <a:noFill/>
                  </a:tcPr>
                </a:tc>
                <a:tc>
                  <a:txBody>
                    <a:bodyPr/>
                    <a:lstStyle/>
                    <a:p>
                      <a:pPr>
                        <a:buNone/>
                      </a:pPr>
                      <a:r>
                        <a:rPr lang="en-US" sz="1600" cap="none" spc="0">
                          <a:solidFill>
                            <a:schemeClr val="tx1"/>
                          </a:solidFill>
                        </a:rPr>
                        <a:t>UPDATE avanzado en entorno real</a:t>
                      </a:r>
                    </a:p>
                  </a:txBody>
                  <a:tcPr marL="94839" marR="94839" marT="94839" marB="94839" anchor="ctr">
                    <a:lnL w="12700" cmpd="sng">
                      <a:noFill/>
                      <a:prstDash val="solid"/>
                    </a:lnL>
                    <a:lnR w="12700" cmpd="sng">
                      <a:noFill/>
                      <a:prstDash val="solid"/>
                    </a:lnR>
                    <a:lnT w="6350" cap="flat" cmpd="sng" algn="ctr">
                      <a:solidFill>
                        <a:schemeClr val="tx1"/>
                      </a:solidFill>
                      <a:prstDash val="solid"/>
                    </a:lnT>
                    <a:lnB w="9525" cap="flat" cmpd="sng" algn="ctr">
                      <a:noFill/>
                      <a:prstDash val="solid"/>
                    </a:lnB>
                    <a:noFill/>
                  </a:tcPr>
                </a:tc>
                <a:tc>
                  <a:txBody>
                    <a:bodyPr/>
                    <a:lstStyle/>
                    <a:p>
                      <a:pPr>
                        <a:buNone/>
                      </a:pPr>
                      <a:r>
                        <a:rPr lang="en-US" sz="1600" cap="none" spc="0" dirty="0" err="1">
                          <a:solidFill>
                            <a:schemeClr val="tx1"/>
                          </a:solidFill>
                        </a:rPr>
                        <a:t>Modificación</a:t>
                      </a:r>
                      <a:r>
                        <a:rPr lang="en-US" sz="1600" cap="none" spc="0" dirty="0">
                          <a:solidFill>
                            <a:schemeClr val="tx1"/>
                          </a:solidFill>
                        </a:rPr>
                        <a:t> con consulta </a:t>
                      </a:r>
                      <a:r>
                        <a:rPr lang="en-US" sz="1600" cap="none" spc="0" dirty="0" err="1">
                          <a:solidFill>
                            <a:schemeClr val="tx1"/>
                          </a:solidFill>
                        </a:rPr>
                        <a:t>correlacionada</a:t>
                      </a:r>
                      <a:endParaRPr lang="en-US" sz="1600" cap="none" spc="0" dirty="0">
                        <a:solidFill>
                          <a:schemeClr val="tx1"/>
                        </a:solidFill>
                      </a:endParaRPr>
                    </a:p>
                  </a:txBody>
                  <a:tcPr marL="94839" marR="94839" marT="94839" marB="94839" anchor="ctr">
                    <a:lnL w="12700" cmpd="sng">
                      <a:noFill/>
                      <a:prstDash val="solid"/>
                    </a:lnL>
                    <a:lnR w="12700" cmpd="sng">
                      <a:noFill/>
                      <a:prstDash val="solid"/>
                    </a:lnR>
                    <a:lnT w="6350" cap="flat" cmpd="sng" algn="ctr">
                      <a:solidFill>
                        <a:schemeClr val="tx1"/>
                      </a:solidFill>
                      <a:prstDash val="solid"/>
                    </a:lnT>
                    <a:lnB w="9525" cap="flat" cmpd="sng" algn="ctr">
                      <a:noFill/>
                      <a:prstDash val="solid"/>
                    </a:lnB>
                    <a:noFill/>
                  </a:tcPr>
                </a:tc>
                <a:extLst>
                  <a:ext uri="{0D108BD9-81ED-4DB2-BD59-A6C34878D82A}">
                    <a16:rowId xmlns:a16="http://schemas.microsoft.com/office/drawing/2014/main" val="827504513"/>
                  </a:ext>
                </a:extLst>
              </a:tr>
            </a:tbl>
          </a:graphicData>
        </a:graphic>
      </p:graphicFrame>
    </p:spTree>
    <p:extLst>
      <p:ext uri="{BB962C8B-B14F-4D97-AF65-F5344CB8AC3E}">
        <p14:creationId xmlns:p14="http://schemas.microsoft.com/office/powerpoint/2010/main" val="1487963344"/>
      </p:ext>
    </p:extLst>
  </p:cSld>
  <p:clrMapOvr>
    <a:masterClrMapping/>
  </p:clrMapOvr>
  <p:transition>
    <p:fade/>
  </p:transition>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E4254445-E3FE-33D3-3062-0058549FA946}"/>
              </a:ext>
            </a:extLst>
          </p:cNvPr>
          <p:cNvSpPr>
            <a:spLocks noGrp="1"/>
          </p:cNvSpPr>
          <p:nvPr>
            <p:ph type="title"/>
          </p:nvPr>
        </p:nvSpPr>
        <p:spPr/>
        <p:txBody>
          <a:bodyPr/>
          <a:lstStyle/>
          <a:p>
            <a:r>
              <a:rPr lang="es-ES" dirty="0"/>
              <a:t>EJEMPLO 1</a:t>
            </a:r>
          </a:p>
        </p:txBody>
      </p:sp>
      <p:sp>
        <p:nvSpPr>
          <p:cNvPr id="3" name="Marcador de contenido 2">
            <a:extLst>
              <a:ext uri="{FF2B5EF4-FFF2-40B4-BE49-F238E27FC236}">
                <a16:creationId xmlns:a16="http://schemas.microsoft.com/office/drawing/2014/main" id="{1871067C-AC33-63CD-2AD9-6F919B744020}"/>
              </a:ext>
            </a:extLst>
          </p:cNvPr>
          <p:cNvSpPr>
            <a:spLocks noGrp="1"/>
          </p:cNvSpPr>
          <p:nvPr>
            <p:ph idx="1"/>
          </p:nvPr>
        </p:nvSpPr>
        <p:spPr/>
        <p:txBody>
          <a:bodyPr>
            <a:normAutofit/>
          </a:bodyPr>
          <a:lstStyle/>
          <a:p>
            <a:r>
              <a:rPr lang="es-ES" sz="2400" b="1" dirty="0"/>
              <a:t>Ejemplo 1</a:t>
            </a:r>
            <a:r>
              <a:rPr lang="es-ES" sz="2400" dirty="0"/>
              <a:t>: Modificar la columna alquilado de la tabla automóviles para que todos los automóviles que están actualmente contratados queden marcados como no disponibles y que los que no están contratados figuren como disponibles.</a:t>
            </a:r>
          </a:p>
          <a:p>
            <a:r>
              <a:rPr lang="es-ES" sz="2400" dirty="0"/>
              <a:t>Primero hacemos un </a:t>
            </a:r>
            <a:r>
              <a:rPr lang="es-ES" sz="2400" dirty="0" err="1"/>
              <a:t>update</a:t>
            </a:r>
            <a:r>
              <a:rPr lang="es-ES" sz="2400" dirty="0"/>
              <a:t> para poner todos a false</a:t>
            </a:r>
          </a:p>
          <a:p>
            <a:r>
              <a:rPr lang="es-ES" sz="2400" dirty="0"/>
              <a:t>Luego hacemos un </a:t>
            </a:r>
            <a:r>
              <a:rPr lang="es-ES" sz="2400" dirty="0" err="1"/>
              <a:t>update</a:t>
            </a:r>
            <a:r>
              <a:rPr lang="es-ES" sz="2400" dirty="0"/>
              <a:t> para poner a true los que si están alquilados.</a:t>
            </a:r>
          </a:p>
          <a:p>
            <a:endParaRPr lang="es-ES" sz="2400" dirty="0"/>
          </a:p>
          <a:p>
            <a:endParaRPr lang="es-ES" dirty="0"/>
          </a:p>
        </p:txBody>
      </p:sp>
    </p:spTree>
    <p:extLst>
      <p:ext uri="{BB962C8B-B14F-4D97-AF65-F5344CB8AC3E}">
        <p14:creationId xmlns:p14="http://schemas.microsoft.com/office/powerpoint/2010/main" val="163847518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E4254445-E3FE-33D3-3062-0058549FA946}"/>
              </a:ext>
            </a:extLst>
          </p:cNvPr>
          <p:cNvSpPr>
            <a:spLocks noGrp="1"/>
          </p:cNvSpPr>
          <p:nvPr>
            <p:ph type="title"/>
          </p:nvPr>
        </p:nvSpPr>
        <p:spPr/>
        <p:txBody>
          <a:bodyPr/>
          <a:lstStyle/>
          <a:p>
            <a:r>
              <a:rPr lang="es-ES" dirty="0"/>
              <a:t>EJEMPLO 1</a:t>
            </a:r>
          </a:p>
        </p:txBody>
      </p:sp>
      <p:sp>
        <p:nvSpPr>
          <p:cNvPr id="3" name="Marcador de contenido 2">
            <a:extLst>
              <a:ext uri="{FF2B5EF4-FFF2-40B4-BE49-F238E27FC236}">
                <a16:creationId xmlns:a16="http://schemas.microsoft.com/office/drawing/2014/main" id="{1871067C-AC33-63CD-2AD9-6F919B744020}"/>
              </a:ext>
            </a:extLst>
          </p:cNvPr>
          <p:cNvSpPr>
            <a:spLocks noGrp="1"/>
          </p:cNvSpPr>
          <p:nvPr>
            <p:ph idx="1"/>
          </p:nvPr>
        </p:nvSpPr>
        <p:spPr/>
        <p:txBody>
          <a:bodyPr>
            <a:normAutofit/>
          </a:bodyPr>
          <a:lstStyle/>
          <a:p>
            <a:r>
              <a:rPr lang="es-ES" sz="2400" b="1" dirty="0"/>
              <a:t>Ejemplo 1</a:t>
            </a:r>
            <a:r>
              <a:rPr lang="es-ES" sz="2400" dirty="0"/>
              <a:t>: Modificar la columna alquilado de la tabla automóviles para que todos los automóviles que están actualmente contratados queden marcados como no disponibles y que los que no están contratados figuren como disponibles.</a:t>
            </a:r>
          </a:p>
          <a:p>
            <a:endParaRPr lang="es-ES" sz="2400" dirty="0"/>
          </a:p>
          <a:p>
            <a:pPr marL="0" indent="0">
              <a:buNone/>
            </a:pPr>
            <a:r>
              <a:rPr lang="es-ES" sz="2400" dirty="0">
                <a:solidFill>
                  <a:schemeClr val="accent1">
                    <a:lumMod val="75000"/>
                  </a:schemeClr>
                </a:solidFill>
              </a:rPr>
              <a:t>UPDATE </a:t>
            </a:r>
            <a:r>
              <a:rPr lang="es-ES" sz="2400" dirty="0" err="1">
                <a:solidFill>
                  <a:schemeClr val="accent1">
                    <a:lumMod val="75000"/>
                  </a:schemeClr>
                </a:solidFill>
              </a:rPr>
              <a:t>automoviles</a:t>
            </a:r>
            <a:r>
              <a:rPr lang="es-ES" sz="2400" dirty="0">
                <a:solidFill>
                  <a:schemeClr val="accent1">
                    <a:lumMod val="75000"/>
                  </a:schemeClr>
                </a:solidFill>
              </a:rPr>
              <a:t> SET alquilado=false;</a:t>
            </a:r>
          </a:p>
          <a:p>
            <a:pPr marL="0" indent="0">
              <a:buNone/>
            </a:pPr>
            <a:endParaRPr lang="es-ES" sz="900" dirty="0">
              <a:solidFill>
                <a:schemeClr val="accent1">
                  <a:lumMod val="75000"/>
                </a:schemeClr>
              </a:solidFill>
            </a:endParaRPr>
          </a:p>
          <a:p>
            <a:pPr marL="0" indent="0">
              <a:buNone/>
            </a:pPr>
            <a:r>
              <a:rPr lang="es-ES" sz="2400" dirty="0">
                <a:solidFill>
                  <a:schemeClr val="accent1">
                    <a:lumMod val="75000"/>
                  </a:schemeClr>
                </a:solidFill>
              </a:rPr>
              <a:t>UPDATE </a:t>
            </a:r>
            <a:r>
              <a:rPr lang="es-ES" sz="2400" dirty="0" err="1">
                <a:solidFill>
                  <a:schemeClr val="accent1">
                    <a:lumMod val="75000"/>
                  </a:schemeClr>
                </a:solidFill>
              </a:rPr>
              <a:t>automoviles</a:t>
            </a:r>
            <a:r>
              <a:rPr lang="es-ES" sz="2400" dirty="0">
                <a:solidFill>
                  <a:schemeClr val="accent1">
                    <a:lumMod val="75000"/>
                  </a:schemeClr>
                </a:solidFill>
              </a:rPr>
              <a:t> </a:t>
            </a:r>
          </a:p>
          <a:p>
            <a:pPr marL="0" indent="0">
              <a:buNone/>
            </a:pPr>
            <a:r>
              <a:rPr lang="es-ES" sz="2400" dirty="0">
                <a:solidFill>
                  <a:schemeClr val="accent1">
                    <a:lumMod val="75000"/>
                  </a:schemeClr>
                </a:solidFill>
              </a:rPr>
              <a:t>INNER JOIN contratos ON </a:t>
            </a:r>
            <a:r>
              <a:rPr lang="es-ES" sz="2400" dirty="0" err="1">
                <a:solidFill>
                  <a:schemeClr val="accent1">
                    <a:lumMod val="75000"/>
                  </a:schemeClr>
                </a:solidFill>
              </a:rPr>
              <a:t>contratos.matricula</a:t>
            </a:r>
            <a:r>
              <a:rPr lang="es-ES" sz="2400" dirty="0">
                <a:solidFill>
                  <a:schemeClr val="accent1">
                    <a:lumMod val="75000"/>
                  </a:schemeClr>
                </a:solidFill>
              </a:rPr>
              <a:t>=</a:t>
            </a:r>
            <a:r>
              <a:rPr lang="es-ES" sz="2400" dirty="0" err="1">
                <a:solidFill>
                  <a:schemeClr val="accent1">
                    <a:lumMod val="75000"/>
                  </a:schemeClr>
                </a:solidFill>
              </a:rPr>
              <a:t>automoviles.matricula</a:t>
            </a:r>
            <a:r>
              <a:rPr lang="es-ES" sz="2400" dirty="0">
                <a:solidFill>
                  <a:schemeClr val="accent1">
                    <a:lumMod val="75000"/>
                  </a:schemeClr>
                </a:solidFill>
              </a:rPr>
              <a:t>  </a:t>
            </a:r>
          </a:p>
          <a:p>
            <a:pPr marL="0" indent="0">
              <a:buNone/>
            </a:pPr>
            <a:r>
              <a:rPr lang="es-ES" sz="2400" dirty="0">
                <a:solidFill>
                  <a:schemeClr val="accent1">
                    <a:lumMod val="75000"/>
                  </a:schemeClr>
                </a:solidFill>
              </a:rPr>
              <a:t>SET alquilado=true WHERE </a:t>
            </a:r>
            <a:r>
              <a:rPr lang="es-ES" sz="2400" dirty="0" err="1">
                <a:solidFill>
                  <a:schemeClr val="accent1">
                    <a:lumMod val="75000"/>
                  </a:schemeClr>
                </a:solidFill>
              </a:rPr>
              <a:t>ffin</a:t>
            </a:r>
            <a:r>
              <a:rPr lang="es-ES" sz="2400" dirty="0">
                <a:solidFill>
                  <a:schemeClr val="accent1">
                    <a:lumMod val="75000"/>
                  </a:schemeClr>
                </a:solidFill>
              </a:rPr>
              <a:t> IS NULL;</a:t>
            </a:r>
          </a:p>
          <a:p>
            <a:endParaRPr lang="es-ES" dirty="0"/>
          </a:p>
        </p:txBody>
      </p:sp>
      <p:sp>
        <p:nvSpPr>
          <p:cNvPr id="5" name="CuadroTexto 4">
            <a:extLst>
              <a:ext uri="{FF2B5EF4-FFF2-40B4-BE49-F238E27FC236}">
                <a16:creationId xmlns:a16="http://schemas.microsoft.com/office/drawing/2014/main" id="{D247B689-7281-D173-67D2-4A6CADEC5542}"/>
              </a:ext>
            </a:extLst>
          </p:cNvPr>
          <p:cNvSpPr txBox="1"/>
          <p:nvPr/>
        </p:nvSpPr>
        <p:spPr>
          <a:xfrm>
            <a:off x="8705850" y="3038475"/>
            <a:ext cx="2781300" cy="1200329"/>
          </a:xfrm>
          <a:prstGeom prst="rect">
            <a:avLst/>
          </a:prstGeom>
          <a:noFill/>
        </p:spPr>
        <p:txBody>
          <a:bodyPr wrap="square" rtlCol="0">
            <a:spAutoFit/>
          </a:bodyPr>
          <a:lstStyle/>
          <a:p>
            <a:r>
              <a:rPr lang="es-ES" dirty="0"/>
              <a:t>Si quiero modificar una tabla pero la condición está en otra tabla, hacemos </a:t>
            </a:r>
            <a:r>
              <a:rPr lang="es-ES" dirty="0" err="1"/>
              <a:t>inner</a:t>
            </a:r>
            <a:r>
              <a:rPr lang="es-ES" dirty="0"/>
              <a:t> </a:t>
            </a:r>
            <a:r>
              <a:rPr lang="es-ES" dirty="0" err="1"/>
              <a:t>join</a:t>
            </a:r>
            <a:r>
              <a:rPr lang="es-ES" dirty="0"/>
              <a:t>.</a:t>
            </a:r>
          </a:p>
        </p:txBody>
      </p:sp>
    </p:spTree>
    <p:extLst>
      <p:ext uri="{BB962C8B-B14F-4D97-AF65-F5344CB8AC3E}">
        <p14:creationId xmlns:p14="http://schemas.microsoft.com/office/powerpoint/2010/main" val="30557310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904F0556-5A7B-4764-0864-EEF3BCFBF5DD}"/>
              </a:ext>
            </a:extLst>
          </p:cNvPr>
          <p:cNvSpPr>
            <a:spLocks noGrp="1"/>
          </p:cNvSpPr>
          <p:nvPr>
            <p:ph type="title"/>
          </p:nvPr>
        </p:nvSpPr>
        <p:spPr/>
        <p:txBody>
          <a:bodyPr/>
          <a:lstStyle/>
          <a:p>
            <a:r>
              <a:rPr lang="es-ES" dirty="0"/>
              <a:t>EJEMPLO 2</a:t>
            </a:r>
          </a:p>
        </p:txBody>
      </p:sp>
      <p:sp>
        <p:nvSpPr>
          <p:cNvPr id="3" name="Marcador de contenido 2">
            <a:extLst>
              <a:ext uri="{FF2B5EF4-FFF2-40B4-BE49-F238E27FC236}">
                <a16:creationId xmlns:a16="http://schemas.microsoft.com/office/drawing/2014/main" id="{69B64021-8930-01BA-E016-540279DCD2C9}"/>
              </a:ext>
            </a:extLst>
          </p:cNvPr>
          <p:cNvSpPr>
            <a:spLocks noGrp="1"/>
          </p:cNvSpPr>
          <p:nvPr>
            <p:ph idx="1"/>
          </p:nvPr>
        </p:nvSpPr>
        <p:spPr/>
        <p:txBody>
          <a:bodyPr>
            <a:normAutofit/>
          </a:bodyPr>
          <a:lstStyle/>
          <a:p>
            <a:r>
              <a:rPr lang="es-ES" sz="2400" b="1" dirty="0"/>
              <a:t>Ejemplo 2:</a:t>
            </a:r>
            <a:r>
              <a:rPr lang="es-ES" sz="2400" dirty="0"/>
              <a:t> Modificar la columna alquilado de la tabla automóviles para que todos los automóviles que están actualmente contratados queden marcados como no disponibles y que la fecha inicial de los contratos actuales de esos automóviles, la fecha de inicio, sea un día superior a la que tienen actualmente.</a:t>
            </a:r>
          </a:p>
          <a:p>
            <a:pPr marL="0" indent="0">
              <a:buNone/>
            </a:pPr>
            <a:r>
              <a:rPr lang="es-ES" altLang="es-ES" sz="2400" dirty="0">
                <a:solidFill>
                  <a:schemeClr val="accent1">
                    <a:lumMod val="75000"/>
                  </a:schemeClr>
                </a:solidFill>
              </a:rPr>
              <a:t>UPDATE </a:t>
            </a:r>
            <a:r>
              <a:rPr lang="es-ES" altLang="es-ES" sz="2400" dirty="0" err="1">
                <a:solidFill>
                  <a:schemeClr val="accent1">
                    <a:lumMod val="75000"/>
                  </a:schemeClr>
                </a:solidFill>
              </a:rPr>
              <a:t>automoviles</a:t>
            </a:r>
            <a:r>
              <a:rPr lang="es-ES" altLang="es-ES" sz="2400" dirty="0">
                <a:solidFill>
                  <a:schemeClr val="accent1">
                    <a:lumMod val="75000"/>
                  </a:schemeClr>
                </a:solidFill>
              </a:rPr>
              <a:t> </a:t>
            </a:r>
          </a:p>
          <a:p>
            <a:pPr marL="0" indent="0">
              <a:buNone/>
            </a:pPr>
            <a:r>
              <a:rPr lang="es-ES" altLang="es-ES" sz="2400" dirty="0">
                <a:solidFill>
                  <a:schemeClr val="accent1">
                    <a:lumMod val="75000"/>
                  </a:schemeClr>
                </a:solidFill>
              </a:rPr>
              <a:t>INNER JOIN contratos ON </a:t>
            </a:r>
            <a:r>
              <a:rPr lang="es-ES" altLang="es-ES" sz="2400" dirty="0" err="1">
                <a:solidFill>
                  <a:schemeClr val="accent1">
                    <a:lumMod val="75000"/>
                  </a:schemeClr>
                </a:solidFill>
              </a:rPr>
              <a:t>contratos.matricula</a:t>
            </a:r>
            <a:r>
              <a:rPr lang="es-ES" altLang="es-ES" sz="2400" dirty="0">
                <a:solidFill>
                  <a:schemeClr val="accent1">
                    <a:lumMod val="75000"/>
                  </a:schemeClr>
                </a:solidFill>
              </a:rPr>
              <a:t>=</a:t>
            </a:r>
            <a:r>
              <a:rPr lang="es-ES" altLang="es-ES" sz="2400" dirty="0" err="1">
                <a:solidFill>
                  <a:schemeClr val="accent1">
                    <a:lumMod val="75000"/>
                  </a:schemeClr>
                </a:solidFill>
              </a:rPr>
              <a:t>automoviles.matricula</a:t>
            </a:r>
            <a:r>
              <a:rPr lang="es-ES" altLang="es-ES" sz="2400" dirty="0">
                <a:solidFill>
                  <a:schemeClr val="accent1">
                    <a:lumMod val="75000"/>
                  </a:schemeClr>
                </a:solidFill>
              </a:rPr>
              <a:t> </a:t>
            </a:r>
          </a:p>
          <a:p>
            <a:pPr marL="0" indent="0">
              <a:buNone/>
            </a:pPr>
            <a:r>
              <a:rPr lang="es-ES" altLang="es-ES" sz="2400" dirty="0">
                <a:solidFill>
                  <a:schemeClr val="accent1">
                    <a:lumMod val="75000"/>
                  </a:schemeClr>
                </a:solidFill>
              </a:rPr>
              <a:t>SET alquilado=true, </a:t>
            </a:r>
            <a:r>
              <a:rPr lang="es-ES" altLang="es-ES" sz="2400" dirty="0" err="1">
                <a:solidFill>
                  <a:schemeClr val="accent1">
                    <a:lumMod val="75000"/>
                  </a:schemeClr>
                </a:solidFill>
              </a:rPr>
              <a:t>fini</a:t>
            </a:r>
            <a:r>
              <a:rPr lang="es-ES" altLang="es-ES" sz="2400" dirty="0">
                <a:solidFill>
                  <a:schemeClr val="accent1">
                    <a:lumMod val="75000"/>
                  </a:schemeClr>
                </a:solidFill>
              </a:rPr>
              <a:t>=</a:t>
            </a:r>
            <a:r>
              <a:rPr lang="es-ES" altLang="es-ES" sz="2400" dirty="0" err="1">
                <a:solidFill>
                  <a:schemeClr val="accent1">
                    <a:lumMod val="75000"/>
                  </a:schemeClr>
                </a:solidFill>
              </a:rPr>
              <a:t>adddate</a:t>
            </a:r>
            <a:r>
              <a:rPr lang="es-ES" altLang="es-ES" sz="2400" dirty="0">
                <a:solidFill>
                  <a:schemeClr val="accent1">
                    <a:lumMod val="75000"/>
                  </a:schemeClr>
                </a:solidFill>
              </a:rPr>
              <a:t>(</a:t>
            </a:r>
            <a:r>
              <a:rPr lang="es-ES" altLang="es-ES" sz="2400" dirty="0" err="1">
                <a:solidFill>
                  <a:schemeClr val="accent1">
                    <a:lumMod val="75000"/>
                  </a:schemeClr>
                </a:solidFill>
              </a:rPr>
              <a:t>fini</a:t>
            </a:r>
            <a:r>
              <a:rPr lang="es-ES" altLang="es-ES" sz="2400" dirty="0">
                <a:solidFill>
                  <a:schemeClr val="accent1">
                    <a:lumMod val="75000"/>
                  </a:schemeClr>
                </a:solidFill>
              </a:rPr>
              <a:t>, </a:t>
            </a:r>
            <a:r>
              <a:rPr lang="es-ES" altLang="es-ES" sz="2400" dirty="0" err="1">
                <a:solidFill>
                  <a:schemeClr val="accent1">
                    <a:lumMod val="75000"/>
                  </a:schemeClr>
                </a:solidFill>
              </a:rPr>
              <a:t>interval</a:t>
            </a:r>
            <a:r>
              <a:rPr lang="es-ES" altLang="es-ES" sz="2400" dirty="0">
                <a:solidFill>
                  <a:schemeClr val="accent1">
                    <a:lumMod val="75000"/>
                  </a:schemeClr>
                </a:solidFill>
              </a:rPr>
              <a:t> 1 </a:t>
            </a:r>
            <a:r>
              <a:rPr lang="es-ES" altLang="es-ES" sz="2400" dirty="0" err="1">
                <a:solidFill>
                  <a:schemeClr val="accent1">
                    <a:lumMod val="75000"/>
                  </a:schemeClr>
                </a:solidFill>
              </a:rPr>
              <a:t>day</a:t>
            </a:r>
            <a:r>
              <a:rPr lang="es-ES" altLang="es-ES" sz="2400" dirty="0">
                <a:solidFill>
                  <a:schemeClr val="accent1">
                    <a:lumMod val="75000"/>
                  </a:schemeClr>
                </a:solidFill>
              </a:rPr>
              <a:t>) </a:t>
            </a:r>
          </a:p>
          <a:p>
            <a:pPr marL="0" indent="0">
              <a:buNone/>
            </a:pPr>
            <a:r>
              <a:rPr lang="es-ES" altLang="es-ES" sz="2400" dirty="0">
                <a:solidFill>
                  <a:schemeClr val="accent1">
                    <a:lumMod val="75000"/>
                  </a:schemeClr>
                </a:solidFill>
              </a:rPr>
              <a:t>WHERE </a:t>
            </a:r>
            <a:r>
              <a:rPr lang="es-ES" altLang="es-ES" sz="2400" dirty="0" err="1">
                <a:solidFill>
                  <a:schemeClr val="accent1">
                    <a:lumMod val="75000"/>
                  </a:schemeClr>
                </a:solidFill>
              </a:rPr>
              <a:t>ffin</a:t>
            </a:r>
            <a:r>
              <a:rPr lang="es-ES" altLang="es-ES" sz="2400" dirty="0">
                <a:solidFill>
                  <a:schemeClr val="accent1">
                    <a:lumMod val="75000"/>
                  </a:schemeClr>
                </a:solidFill>
              </a:rPr>
              <a:t> IS NULL; </a:t>
            </a:r>
          </a:p>
          <a:p>
            <a:pPr marL="0" indent="0">
              <a:buNone/>
            </a:pPr>
            <a:endParaRPr lang="es-ES" sz="2400" dirty="0"/>
          </a:p>
        </p:txBody>
      </p:sp>
    </p:spTree>
    <p:extLst>
      <p:ext uri="{BB962C8B-B14F-4D97-AF65-F5344CB8AC3E}">
        <p14:creationId xmlns:p14="http://schemas.microsoft.com/office/powerpoint/2010/main" val="45257231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CC795E33-91F7-4CFA-3748-C5171FAA94CA}"/>
              </a:ext>
            </a:extLst>
          </p:cNvPr>
          <p:cNvSpPr>
            <a:spLocks noGrp="1"/>
          </p:cNvSpPr>
          <p:nvPr>
            <p:ph type="title"/>
          </p:nvPr>
        </p:nvSpPr>
        <p:spPr/>
        <p:txBody>
          <a:bodyPr/>
          <a:lstStyle/>
          <a:p>
            <a:r>
              <a:rPr lang="es-ES" dirty="0"/>
              <a:t>EJEMPLO 3</a:t>
            </a:r>
          </a:p>
        </p:txBody>
      </p:sp>
      <p:sp>
        <p:nvSpPr>
          <p:cNvPr id="3" name="Marcador de contenido 2">
            <a:extLst>
              <a:ext uri="{FF2B5EF4-FFF2-40B4-BE49-F238E27FC236}">
                <a16:creationId xmlns:a16="http://schemas.microsoft.com/office/drawing/2014/main" id="{210F858A-38FA-3F88-AD1D-F3DC196482A9}"/>
              </a:ext>
            </a:extLst>
          </p:cNvPr>
          <p:cNvSpPr>
            <a:spLocks noGrp="1"/>
          </p:cNvSpPr>
          <p:nvPr>
            <p:ph idx="1"/>
          </p:nvPr>
        </p:nvSpPr>
        <p:spPr/>
        <p:txBody>
          <a:bodyPr>
            <a:normAutofit lnSpcReduction="10000"/>
          </a:bodyPr>
          <a:lstStyle/>
          <a:p>
            <a:pPr>
              <a:lnSpc>
                <a:spcPct val="100000"/>
              </a:lnSpc>
            </a:pPr>
            <a:r>
              <a:rPr lang="es-ES" sz="2400" b="1" dirty="0"/>
              <a:t>Ejemplo 3: </a:t>
            </a:r>
            <a:r>
              <a:rPr lang="es-ES" sz="2400" dirty="0"/>
              <a:t>Suponiendo que añadimos una columna importe a la tabla contratos, establecer el importe de cada contrato finalizado como el precio por los días alquilado.</a:t>
            </a:r>
          </a:p>
          <a:p>
            <a:pPr marL="0" indent="0">
              <a:buNone/>
            </a:pPr>
            <a:r>
              <a:rPr lang="es-ES" sz="2400" dirty="0">
                <a:solidFill>
                  <a:schemeClr val="accent1">
                    <a:lumMod val="75000"/>
                  </a:schemeClr>
                </a:solidFill>
              </a:rPr>
              <a:t>ALTER TABLE contratos ADD COLUMN importe decimal(6,2);</a:t>
            </a:r>
          </a:p>
          <a:p>
            <a:pPr marL="0" indent="0">
              <a:buNone/>
            </a:pPr>
            <a:endParaRPr lang="es-ES" sz="2400" dirty="0">
              <a:solidFill>
                <a:schemeClr val="accent1">
                  <a:lumMod val="75000"/>
                </a:schemeClr>
              </a:solidFill>
            </a:endParaRPr>
          </a:p>
          <a:p>
            <a:pPr marL="0" indent="0">
              <a:buNone/>
            </a:pPr>
            <a:r>
              <a:rPr lang="es-ES" sz="2400" dirty="0">
                <a:solidFill>
                  <a:schemeClr val="accent1">
                    <a:lumMod val="75000"/>
                  </a:schemeClr>
                </a:solidFill>
              </a:rPr>
              <a:t>UPDATE </a:t>
            </a:r>
            <a:r>
              <a:rPr lang="es-ES" sz="2400" dirty="0" err="1">
                <a:solidFill>
                  <a:schemeClr val="accent1">
                    <a:lumMod val="75000"/>
                  </a:schemeClr>
                </a:solidFill>
              </a:rPr>
              <a:t>automoviles</a:t>
            </a:r>
            <a:r>
              <a:rPr lang="es-ES" sz="2400" dirty="0">
                <a:solidFill>
                  <a:schemeClr val="accent1">
                    <a:lumMod val="75000"/>
                  </a:schemeClr>
                </a:solidFill>
              </a:rPr>
              <a:t> </a:t>
            </a:r>
          </a:p>
          <a:p>
            <a:pPr marL="0" indent="0">
              <a:buNone/>
            </a:pPr>
            <a:r>
              <a:rPr lang="es-ES" sz="2400" dirty="0">
                <a:solidFill>
                  <a:schemeClr val="accent1">
                    <a:lumMod val="75000"/>
                  </a:schemeClr>
                </a:solidFill>
              </a:rPr>
              <a:t>INNER JOIN contratos </a:t>
            </a:r>
          </a:p>
          <a:p>
            <a:pPr marL="0" indent="0">
              <a:buNone/>
            </a:pPr>
            <a:r>
              <a:rPr lang="es-ES" sz="2400" dirty="0">
                <a:solidFill>
                  <a:schemeClr val="accent1">
                    <a:lumMod val="75000"/>
                  </a:schemeClr>
                </a:solidFill>
              </a:rPr>
              <a:t>ON </a:t>
            </a:r>
            <a:r>
              <a:rPr lang="es-ES" sz="2400" dirty="0" err="1">
                <a:solidFill>
                  <a:schemeClr val="accent1">
                    <a:lumMod val="75000"/>
                  </a:schemeClr>
                </a:solidFill>
              </a:rPr>
              <a:t>contratos.matricula</a:t>
            </a:r>
            <a:r>
              <a:rPr lang="es-ES" sz="2400" dirty="0">
                <a:solidFill>
                  <a:schemeClr val="accent1">
                    <a:lumMod val="75000"/>
                  </a:schemeClr>
                </a:solidFill>
              </a:rPr>
              <a:t>=</a:t>
            </a:r>
            <a:r>
              <a:rPr lang="es-ES" sz="2400" dirty="0" err="1">
                <a:solidFill>
                  <a:schemeClr val="accent1">
                    <a:lumMod val="75000"/>
                  </a:schemeClr>
                </a:solidFill>
              </a:rPr>
              <a:t>automoviles.matricula</a:t>
            </a:r>
            <a:r>
              <a:rPr lang="es-ES" sz="2400" dirty="0">
                <a:solidFill>
                  <a:schemeClr val="accent1">
                    <a:lumMod val="75000"/>
                  </a:schemeClr>
                </a:solidFill>
              </a:rPr>
              <a:t>  </a:t>
            </a:r>
          </a:p>
          <a:p>
            <a:pPr marL="0" indent="0">
              <a:buNone/>
            </a:pPr>
            <a:r>
              <a:rPr lang="es-ES" sz="2400" dirty="0">
                <a:solidFill>
                  <a:schemeClr val="accent1">
                    <a:lumMod val="75000"/>
                  </a:schemeClr>
                </a:solidFill>
              </a:rPr>
              <a:t>SET importe=precio*</a:t>
            </a:r>
            <a:r>
              <a:rPr lang="es-ES" sz="2400" dirty="0" err="1">
                <a:solidFill>
                  <a:schemeClr val="accent1">
                    <a:lumMod val="75000"/>
                  </a:schemeClr>
                </a:solidFill>
              </a:rPr>
              <a:t>datediff</a:t>
            </a:r>
            <a:r>
              <a:rPr lang="es-ES" sz="2400" dirty="0">
                <a:solidFill>
                  <a:schemeClr val="accent1">
                    <a:lumMod val="75000"/>
                  </a:schemeClr>
                </a:solidFill>
              </a:rPr>
              <a:t>(</a:t>
            </a:r>
            <a:r>
              <a:rPr lang="es-ES" sz="2400" dirty="0" err="1">
                <a:solidFill>
                  <a:schemeClr val="accent1">
                    <a:lumMod val="75000"/>
                  </a:schemeClr>
                </a:solidFill>
              </a:rPr>
              <a:t>ffin,fini</a:t>
            </a:r>
            <a:r>
              <a:rPr lang="es-ES" sz="2400" dirty="0">
                <a:solidFill>
                  <a:schemeClr val="accent1">
                    <a:lumMod val="75000"/>
                  </a:schemeClr>
                </a:solidFill>
              </a:rPr>
              <a:t>) </a:t>
            </a:r>
          </a:p>
          <a:p>
            <a:pPr marL="0" indent="0">
              <a:buNone/>
            </a:pPr>
            <a:r>
              <a:rPr lang="es-ES" sz="2400" dirty="0">
                <a:solidFill>
                  <a:schemeClr val="accent1">
                    <a:lumMod val="75000"/>
                  </a:schemeClr>
                </a:solidFill>
              </a:rPr>
              <a:t>WHERE </a:t>
            </a:r>
            <a:r>
              <a:rPr lang="es-ES" sz="2400" dirty="0" err="1">
                <a:solidFill>
                  <a:schemeClr val="accent1">
                    <a:lumMod val="75000"/>
                  </a:schemeClr>
                </a:solidFill>
              </a:rPr>
              <a:t>ffin</a:t>
            </a:r>
            <a:r>
              <a:rPr lang="es-ES" sz="2400" dirty="0">
                <a:solidFill>
                  <a:schemeClr val="accent1">
                    <a:lumMod val="75000"/>
                  </a:schemeClr>
                </a:solidFill>
              </a:rPr>
              <a:t> IS NOT NULL;</a:t>
            </a:r>
          </a:p>
          <a:p>
            <a:endParaRPr lang="es-ES" dirty="0"/>
          </a:p>
        </p:txBody>
      </p:sp>
    </p:spTree>
    <p:extLst>
      <p:ext uri="{BB962C8B-B14F-4D97-AF65-F5344CB8AC3E}">
        <p14:creationId xmlns:p14="http://schemas.microsoft.com/office/powerpoint/2010/main" val="57135684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E4254445-E3FE-33D3-3062-0058549FA946}"/>
              </a:ext>
            </a:extLst>
          </p:cNvPr>
          <p:cNvSpPr>
            <a:spLocks noGrp="1"/>
          </p:cNvSpPr>
          <p:nvPr>
            <p:ph type="title"/>
          </p:nvPr>
        </p:nvSpPr>
        <p:spPr/>
        <p:txBody>
          <a:bodyPr/>
          <a:lstStyle/>
          <a:p>
            <a:r>
              <a:rPr lang="es-ES" dirty="0"/>
              <a:t>EJEMPLO 4</a:t>
            </a:r>
          </a:p>
        </p:txBody>
      </p:sp>
      <p:sp>
        <p:nvSpPr>
          <p:cNvPr id="3" name="Marcador de contenido 2">
            <a:extLst>
              <a:ext uri="{FF2B5EF4-FFF2-40B4-BE49-F238E27FC236}">
                <a16:creationId xmlns:a16="http://schemas.microsoft.com/office/drawing/2014/main" id="{1871067C-AC33-63CD-2AD9-6F919B744020}"/>
              </a:ext>
            </a:extLst>
          </p:cNvPr>
          <p:cNvSpPr>
            <a:spLocks noGrp="1"/>
          </p:cNvSpPr>
          <p:nvPr>
            <p:ph idx="1"/>
          </p:nvPr>
        </p:nvSpPr>
        <p:spPr/>
        <p:txBody>
          <a:bodyPr>
            <a:normAutofit/>
          </a:bodyPr>
          <a:lstStyle/>
          <a:p>
            <a:r>
              <a:rPr lang="es-ES" dirty="0"/>
              <a:t>Para los </a:t>
            </a:r>
            <a:r>
              <a:rPr lang="es-ES" dirty="0" err="1"/>
              <a:t>update</a:t>
            </a:r>
            <a:r>
              <a:rPr lang="es-ES" dirty="0"/>
              <a:t>, se pueden hacer las instrucciones con subconsultas, o utilizando </a:t>
            </a:r>
            <a:r>
              <a:rPr lang="es-ES" dirty="0" err="1"/>
              <a:t>inner</a:t>
            </a:r>
            <a:r>
              <a:rPr lang="es-ES" dirty="0"/>
              <a:t> </a:t>
            </a:r>
            <a:r>
              <a:rPr lang="es-ES" dirty="0" err="1"/>
              <a:t>join</a:t>
            </a:r>
            <a:endParaRPr lang="es-ES" dirty="0"/>
          </a:p>
          <a:p>
            <a:r>
              <a:rPr lang="es-ES" b="1" dirty="0"/>
              <a:t>Ejemplo 4</a:t>
            </a:r>
            <a:r>
              <a:rPr lang="es-ES" dirty="0"/>
              <a:t>:Modificar las fechas de inicio y de finalización de los contratos realizados por Mariano Dorado para que tengan una fecha un día superior a la que tienen.</a:t>
            </a:r>
          </a:p>
          <a:p>
            <a:r>
              <a:rPr lang="es-ES" dirty="0"/>
              <a:t>Hacemos este ejemplo con subconsultas.</a:t>
            </a:r>
          </a:p>
          <a:p>
            <a:endParaRPr lang="es-ES" dirty="0"/>
          </a:p>
        </p:txBody>
      </p:sp>
    </p:spTree>
    <p:extLst>
      <p:ext uri="{BB962C8B-B14F-4D97-AF65-F5344CB8AC3E}">
        <p14:creationId xmlns:p14="http://schemas.microsoft.com/office/powerpoint/2010/main" val="221531644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E4254445-E3FE-33D3-3062-0058549FA946}"/>
              </a:ext>
            </a:extLst>
          </p:cNvPr>
          <p:cNvSpPr>
            <a:spLocks noGrp="1"/>
          </p:cNvSpPr>
          <p:nvPr>
            <p:ph type="title"/>
          </p:nvPr>
        </p:nvSpPr>
        <p:spPr/>
        <p:txBody>
          <a:bodyPr/>
          <a:lstStyle/>
          <a:p>
            <a:r>
              <a:rPr lang="es-ES" dirty="0"/>
              <a:t>EJEMPLO 4</a:t>
            </a:r>
          </a:p>
        </p:txBody>
      </p:sp>
      <p:sp>
        <p:nvSpPr>
          <p:cNvPr id="3" name="Marcador de contenido 2">
            <a:extLst>
              <a:ext uri="{FF2B5EF4-FFF2-40B4-BE49-F238E27FC236}">
                <a16:creationId xmlns:a16="http://schemas.microsoft.com/office/drawing/2014/main" id="{1871067C-AC33-63CD-2AD9-6F919B744020}"/>
              </a:ext>
            </a:extLst>
          </p:cNvPr>
          <p:cNvSpPr>
            <a:spLocks noGrp="1"/>
          </p:cNvSpPr>
          <p:nvPr>
            <p:ph idx="1"/>
          </p:nvPr>
        </p:nvSpPr>
        <p:spPr/>
        <p:txBody>
          <a:bodyPr>
            <a:normAutofit/>
          </a:bodyPr>
          <a:lstStyle/>
          <a:p>
            <a:r>
              <a:rPr lang="es-ES" b="1" dirty="0"/>
              <a:t>Ejemplo 4</a:t>
            </a:r>
            <a:r>
              <a:rPr lang="es-ES" dirty="0"/>
              <a:t>:Modificar las fechas de inicio y de finalización de los contratos realizados por Mariano Dorado para que tengan una fecha un día superior a la que tienen.</a:t>
            </a:r>
          </a:p>
          <a:p>
            <a:pPr marL="0" indent="0">
              <a:lnSpc>
                <a:spcPct val="110000"/>
              </a:lnSpc>
              <a:spcBef>
                <a:spcPts val="0"/>
              </a:spcBef>
              <a:buNone/>
            </a:pPr>
            <a:r>
              <a:rPr lang="es-ES" sz="2000" dirty="0">
                <a:solidFill>
                  <a:schemeClr val="accent1">
                    <a:lumMod val="75000"/>
                  </a:schemeClr>
                </a:solidFill>
              </a:rPr>
              <a:t>UPDATE contratos  </a:t>
            </a:r>
          </a:p>
          <a:p>
            <a:pPr marL="0" indent="0">
              <a:lnSpc>
                <a:spcPct val="110000"/>
              </a:lnSpc>
              <a:spcBef>
                <a:spcPts val="0"/>
              </a:spcBef>
              <a:buNone/>
            </a:pPr>
            <a:r>
              <a:rPr lang="es-ES" sz="2000" dirty="0">
                <a:solidFill>
                  <a:schemeClr val="accent1">
                    <a:lumMod val="75000"/>
                  </a:schemeClr>
                </a:solidFill>
              </a:rPr>
              <a:t>SET </a:t>
            </a:r>
            <a:r>
              <a:rPr lang="es-ES" sz="2000" dirty="0" err="1">
                <a:solidFill>
                  <a:schemeClr val="accent1">
                    <a:lumMod val="75000"/>
                  </a:schemeClr>
                </a:solidFill>
              </a:rPr>
              <a:t>fini</a:t>
            </a:r>
            <a:r>
              <a:rPr lang="es-ES" sz="2000" dirty="0">
                <a:solidFill>
                  <a:schemeClr val="accent1">
                    <a:lumMod val="75000"/>
                  </a:schemeClr>
                </a:solidFill>
              </a:rPr>
              <a:t>=</a:t>
            </a:r>
            <a:r>
              <a:rPr lang="es-ES" sz="2000" dirty="0" err="1">
                <a:solidFill>
                  <a:schemeClr val="accent1">
                    <a:lumMod val="75000"/>
                  </a:schemeClr>
                </a:solidFill>
              </a:rPr>
              <a:t>adddate</a:t>
            </a:r>
            <a:r>
              <a:rPr lang="es-ES" sz="2000" dirty="0">
                <a:solidFill>
                  <a:schemeClr val="accent1">
                    <a:lumMod val="75000"/>
                  </a:schemeClr>
                </a:solidFill>
              </a:rPr>
              <a:t>(</a:t>
            </a:r>
            <a:r>
              <a:rPr lang="es-ES" sz="2000" dirty="0" err="1">
                <a:solidFill>
                  <a:schemeClr val="accent1">
                    <a:lumMod val="75000"/>
                  </a:schemeClr>
                </a:solidFill>
              </a:rPr>
              <a:t>fini,INTERVAL</a:t>
            </a:r>
            <a:r>
              <a:rPr lang="es-ES" sz="2000" dirty="0">
                <a:solidFill>
                  <a:schemeClr val="accent1">
                    <a:lumMod val="75000"/>
                  </a:schemeClr>
                </a:solidFill>
              </a:rPr>
              <a:t> 1 DAY),</a:t>
            </a:r>
            <a:r>
              <a:rPr lang="es-ES" sz="2000" dirty="0" err="1">
                <a:solidFill>
                  <a:schemeClr val="accent1">
                    <a:lumMod val="75000"/>
                  </a:schemeClr>
                </a:solidFill>
              </a:rPr>
              <a:t>ffin</a:t>
            </a:r>
            <a:r>
              <a:rPr lang="es-ES" sz="2000" dirty="0">
                <a:solidFill>
                  <a:schemeClr val="accent1">
                    <a:lumMod val="75000"/>
                  </a:schemeClr>
                </a:solidFill>
              </a:rPr>
              <a:t>=</a:t>
            </a:r>
            <a:r>
              <a:rPr lang="es-ES" sz="2000" dirty="0" err="1">
                <a:solidFill>
                  <a:schemeClr val="accent1">
                    <a:lumMod val="75000"/>
                  </a:schemeClr>
                </a:solidFill>
              </a:rPr>
              <a:t>adddate</a:t>
            </a:r>
            <a:r>
              <a:rPr lang="es-ES" sz="2000" dirty="0">
                <a:solidFill>
                  <a:schemeClr val="accent1">
                    <a:lumMod val="75000"/>
                  </a:schemeClr>
                </a:solidFill>
              </a:rPr>
              <a:t>(</a:t>
            </a:r>
            <a:r>
              <a:rPr lang="es-ES" sz="2000" dirty="0" err="1">
                <a:solidFill>
                  <a:schemeClr val="accent1">
                    <a:lumMod val="75000"/>
                  </a:schemeClr>
                </a:solidFill>
              </a:rPr>
              <a:t>ffin,INTERVAL</a:t>
            </a:r>
            <a:r>
              <a:rPr lang="es-ES" sz="2000" dirty="0">
                <a:solidFill>
                  <a:schemeClr val="accent1">
                    <a:lumMod val="75000"/>
                  </a:schemeClr>
                </a:solidFill>
              </a:rPr>
              <a:t> 1 DAY)</a:t>
            </a:r>
          </a:p>
          <a:p>
            <a:pPr marL="0" indent="0">
              <a:lnSpc>
                <a:spcPct val="110000"/>
              </a:lnSpc>
              <a:spcBef>
                <a:spcPts val="0"/>
              </a:spcBef>
              <a:buNone/>
            </a:pPr>
            <a:r>
              <a:rPr lang="es-ES" sz="2000" dirty="0">
                <a:solidFill>
                  <a:schemeClr val="accent1">
                    <a:lumMod val="75000"/>
                  </a:schemeClr>
                </a:solidFill>
              </a:rPr>
              <a:t>WHERE </a:t>
            </a:r>
            <a:r>
              <a:rPr lang="es-ES" sz="2000" dirty="0" err="1">
                <a:solidFill>
                  <a:schemeClr val="accent1">
                    <a:lumMod val="75000"/>
                  </a:schemeClr>
                </a:solidFill>
              </a:rPr>
              <a:t>dnicliente</a:t>
            </a:r>
            <a:r>
              <a:rPr lang="es-ES" sz="2000" dirty="0">
                <a:solidFill>
                  <a:schemeClr val="accent1">
                    <a:lumMod val="75000"/>
                  </a:schemeClr>
                </a:solidFill>
              </a:rPr>
              <a:t>= (</a:t>
            </a:r>
            <a:r>
              <a:rPr lang="es-ES" sz="2000" dirty="0">
                <a:solidFill>
                  <a:srgbClr val="FF0000"/>
                </a:solidFill>
              </a:rPr>
              <a:t>SELECT </a:t>
            </a:r>
            <a:r>
              <a:rPr lang="es-ES" sz="2000" dirty="0" err="1">
                <a:solidFill>
                  <a:srgbClr val="FF0000"/>
                </a:solidFill>
              </a:rPr>
              <a:t>dni</a:t>
            </a:r>
            <a:r>
              <a:rPr lang="es-ES" sz="2000" dirty="0">
                <a:solidFill>
                  <a:srgbClr val="FF0000"/>
                </a:solidFill>
              </a:rPr>
              <a:t> </a:t>
            </a:r>
          </a:p>
          <a:p>
            <a:pPr marL="0" indent="0">
              <a:lnSpc>
                <a:spcPct val="110000"/>
              </a:lnSpc>
              <a:spcBef>
                <a:spcPts val="0"/>
              </a:spcBef>
              <a:buNone/>
            </a:pPr>
            <a:r>
              <a:rPr lang="es-ES" sz="2000" dirty="0">
                <a:solidFill>
                  <a:srgbClr val="FF0000"/>
                </a:solidFill>
              </a:rPr>
              <a:t>		    FROM clientes </a:t>
            </a:r>
          </a:p>
          <a:p>
            <a:pPr marL="0" indent="0">
              <a:lnSpc>
                <a:spcPct val="110000"/>
              </a:lnSpc>
              <a:spcBef>
                <a:spcPts val="0"/>
              </a:spcBef>
              <a:buNone/>
            </a:pPr>
            <a:r>
              <a:rPr lang="es-ES" sz="2000" dirty="0">
                <a:solidFill>
                  <a:srgbClr val="FF0000"/>
                </a:solidFill>
              </a:rPr>
              <a:t>		    WHERE nombre='Mariano' AND apellidos='Dorado’</a:t>
            </a:r>
            <a:r>
              <a:rPr lang="es-ES" sz="2000" dirty="0">
                <a:solidFill>
                  <a:schemeClr val="accent1">
                    <a:lumMod val="75000"/>
                  </a:schemeClr>
                </a:solidFill>
              </a:rPr>
              <a:t>);</a:t>
            </a:r>
          </a:p>
          <a:p>
            <a:pPr>
              <a:lnSpc>
                <a:spcPct val="110000"/>
              </a:lnSpc>
              <a:spcBef>
                <a:spcPts val="0"/>
              </a:spcBef>
            </a:pPr>
            <a:endParaRPr lang="es-ES" sz="2000" dirty="0"/>
          </a:p>
          <a:p>
            <a:r>
              <a:rPr lang="es-ES" dirty="0"/>
              <a:t>Esta consulta también se puede hacer con </a:t>
            </a:r>
            <a:r>
              <a:rPr lang="es-ES" dirty="0" err="1"/>
              <a:t>inner</a:t>
            </a:r>
            <a:r>
              <a:rPr lang="es-ES" dirty="0"/>
              <a:t> </a:t>
            </a:r>
            <a:r>
              <a:rPr lang="es-ES" dirty="0" err="1"/>
              <a:t>join</a:t>
            </a:r>
            <a:endParaRPr lang="es-ES" dirty="0"/>
          </a:p>
        </p:txBody>
      </p:sp>
      <p:sp>
        <p:nvSpPr>
          <p:cNvPr id="8" name="CuadroTexto 7">
            <a:extLst>
              <a:ext uri="{FF2B5EF4-FFF2-40B4-BE49-F238E27FC236}">
                <a16:creationId xmlns:a16="http://schemas.microsoft.com/office/drawing/2014/main" id="{39F2ADE7-0FB3-6F23-78BD-F6DD376C0DAE}"/>
              </a:ext>
            </a:extLst>
          </p:cNvPr>
          <p:cNvSpPr txBox="1"/>
          <p:nvPr/>
        </p:nvSpPr>
        <p:spPr>
          <a:xfrm>
            <a:off x="9067800" y="3057525"/>
            <a:ext cx="2286000" cy="2585323"/>
          </a:xfrm>
          <a:prstGeom prst="rect">
            <a:avLst/>
          </a:prstGeom>
          <a:noFill/>
        </p:spPr>
        <p:txBody>
          <a:bodyPr wrap="square" rtlCol="0">
            <a:spAutoFit/>
          </a:bodyPr>
          <a:lstStyle/>
          <a:p>
            <a:r>
              <a:rPr lang="es-ES" dirty="0"/>
              <a:t>Dentro de UPDATE, podemos usar subconsultas, tanto para obtener los valores que se asignan con SET como para establecer las condiciones WHERE.</a:t>
            </a:r>
          </a:p>
          <a:p>
            <a:endParaRPr lang="es-ES" dirty="0"/>
          </a:p>
        </p:txBody>
      </p:sp>
    </p:spTree>
    <p:extLst>
      <p:ext uri="{BB962C8B-B14F-4D97-AF65-F5344CB8AC3E}">
        <p14:creationId xmlns:p14="http://schemas.microsoft.com/office/powerpoint/2010/main" val="396896438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E4254445-E3FE-33D3-3062-0058549FA946}"/>
              </a:ext>
            </a:extLst>
          </p:cNvPr>
          <p:cNvSpPr>
            <a:spLocks noGrp="1"/>
          </p:cNvSpPr>
          <p:nvPr>
            <p:ph type="title"/>
          </p:nvPr>
        </p:nvSpPr>
        <p:spPr/>
        <p:txBody>
          <a:bodyPr/>
          <a:lstStyle/>
          <a:p>
            <a:r>
              <a:rPr lang="es-ES" dirty="0"/>
              <a:t>EJEMPLO 4</a:t>
            </a:r>
          </a:p>
        </p:txBody>
      </p:sp>
      <p:sp>
        <p:nvSpPr>
          <p:cNvPr id="3" name="Marcador de contenido 2">
            <a:extLst>
              <a:ext uri="{FF2B5EF4-FFF2-40B4-BE49-F238E27FC236}">
                <a16:creationId xmlns:a16="http://schemas.microsoft.com/office/drawing/2014/main" id="{1871067C-AC33-63CD-2AD9-6F919B744020}"/>
              </a:ext>
            </a:extLst>
          </p:cNvPr>
          <p:cNvSpPr>
            <a:spLocks noGrp="1"/>
          </p:cNvSpPr>
          <p:nvPr>
            <p:ph idx="1"/>
          </p:nvPr>
        </p:nvSpPr>
        <p:spPr/>
        <p:txBody>
          <a:bodyPr>
            <a:normAutofit/>
          </a:bodyPr>
          <a:lstStyle/>
          <a:p>
            <a:r>
              <a:rPr lang="es-ES" b="1" dirty="0"/>
              <a:t>Ejemplo 4</a:t>
            </a:r>
            <a:r>
              <a:rPr lang="es-ES" dirty="0"/>
              <a:t> con </a:t>
            </a:r>
            <a:r>
              <a:rPr lang="es-ES" dirty="0" err="1"/>
              <a:t>inner</a:t>
            </a:r>
            <a:r>
              <a:rPr lang="es-ES" dirty="0"/>
              <a:t> </a:t>
            </a:r>
            <a:r>
              <a:rPr lang="es-ES" dirty="0" err="1"/>
              <a:t>join</a:t>
            </a:r>
            <a:endParaRPr lang="es-ES" dirty="0"/>
          </a:p>
          <a:p>
            <a:pPr marL="0" indent="0">
              <a:buNone/>
            </a:pPr>
            <a:r>
              <a:rPr lang="es-ES" sz="2000" dirty="0">
                <a:solidFill>
                  <a:schemeClr val="accent1">
                    <a:lumMod val="75000"/>
                  </a:schemeClr>
                </a:solidFill>
              </a:rPr>
              <a:t>UPDATE </a:t>
            </a:r>
            <a:r>
              <a:rPr lang="es-ES" sz="2000" dirty="0">
                <a:solidFill>
                  <a:srgbClr val="FF0000"/>
                </a:solidFill>
              </a:rPr>
              <a:t>contratos</a:t>
            </a:r>
            <a:r>
              <a:rPr lang="es-ES" sz="2000" dirty="0">
                <a:solidFill>
                  <a:schemeClr val="accent1">
                    <a:lumMod val="75000"/>
                  </a:schemeClr>
                </a:solidFill>
              </a:rPr>
              <a:t>  </a:t>
            </a:r>
          </a:p>
          <a:p>
            <a:pPr marL="0" indent="0">
              <a:buNone/>
            </a:pPr>
            <a:r>
              <a:rPr lang="es-ES" sz="2000" dirty="0">
                <a:solidFill>
                  <a:schemeClr val="accent1">
                    <a:lumMod val="75000"/>
                  </a:schemeClr>
                </a:solidFill>
              </a:rPr>
              <a:t>INNER JOIN </a:t>
            </a:r>
            <a:r>
              <a:rPr lang="es-ES" sz="2000" dirty="0">
                <a:solidFill>
                  <a:srgbClr val="00B050"/>
                </a:solidFill>
              </a:rPr>
              <a:t>clientes</a:t>
            </a:r>
            <a:r>
              <a:rPr lang="es-ES" sz="2000" dirty="0">
                <a:solidFill>
                  <a:schemeClr val="accent1">
                    <a:lumMod val="75000"/>
                  </a:schemeClr>
                </a:solidFill>
              </a:rPr>
              <a:t> ON </a:t>
            </a:r>
            <a:r>
              <a:rPr lang="es-ES" sz="2000" dirty="0" err="1">
                <a:solidFill>
                  <a:schemeClr val="accent1">
                    <a:lumMod val="75000"/>
                  </a:schemeClr>
                </a:solidFill>
              </a:rPr>
              <a:t>dni</a:t>
            </a:r>
            <a:r>
              <a:rPr lang="es-ES" sz="2000" dirty="0">
                <a:solidFill>
                  <a:schemeClr val="accent1">
                    <a:lumMod val="75000"/>
                  </a:schemeClr>
                </a:solidFill>
              </a:rPr>
              <a:t>=</a:t>
            </a:r>
            <a:r>
              <a:rPr lang="es-ES" sz="2000" dirty="0" err="1">
                <a:solidFill>
                  <a:schemeClr val="accent1">
                    <a:lumMod val="75000"/>
                  </a:schemeClr>
                </a:solidFill>
              </a:rPr>
              <a:t>dnicliente</a:t>
            </a:r>
            <a:endParaRPr lang="es-ES" sz="2000" dirty="0">
              <a:solidFill>
                <a:schemeClr val="accent1">
                  <a:lumMod val="75000"/>
                </a:schemeClr>
              </a:solidFill>
            </a:endParaRPr>
          </a:p>
          <a:p>
            <a:pPr marL="0" indent="0">
              <a:lnSpc>
                <a:spcPct val="110000"/>
              </a:lnSpc>
              <a:spcBef>
                <a:spcPts val="0"/>
              </a:spcBef>
              <a:buNone/>
            </a:pPr>
            <a:r>
              <a:rPr lang="es-ES" sz="2000" dirty="0">
                <a:solidFill>
                  <a:schemeClr val="accent1">
                    <a:lumMod val="75000"/>
                  </a:schemeClr>
                </a:solidFill>
              </a:rPr>
              <a:t>SET </a:t>
            </a:r>
            <a:r>
              <a:rPr lang="es-ES" sz="2000" dirty="0" err="1">
                <a:solidFill>
                  <a:srgbClr val="FF0000"/>
                </a:solidFill>
              </a:rPr>
              <a:t>fini</a:t>
            </a:r>
            <a:r>
              <a:rPr lang="es-ES" sz="2000" dirty="0">
                <a:solidFill>
                  <a:schemeClr val="accent1">
                    <a:lumMod val="75000"/>
                  </a:schemeClr>
                </a:solidFill>
              </a:rPr>
              <a:t>=</a:t>
            </a:r>
            <a:r>
              <a:rPr lang="es-ES" sz="2000" dirty="0" err="1">
                <a:solidFill>
                  <a:schemeClr val="accent1">
                    <a:lumMod val="75000"/>
                  </a:schemeClr>
                </a:solidFill>
              </a:rPr>
              <a:t>adddate</a:t>
            </a:r>
            <a:r>
              <a:rPr lang="es-ES" sz="2000" dirty="0">
                <a:solidFill>
                  <a:schemeClr val="accent1">
                    <a:lumMod val="75000"/>
                  </a:schemeClr>
                </a:solidFill>
              </a:rPr>
              <a:t>(</a:t>
            </a:r>
            <a:r>
              <a:rPr lang="es-ES" sz="2000" dirty="0" err="1">
                <a:solidFill>
                  <a:srgbClr val="FF0000"/>
                </a:solidFill>
              </a:rPr>
              <a:t>fini</a:t>
            </a:r>
            <a:r>
              <a:rPr lang="es-ES" sz="2000" dirty="0" err="1">
                <a:solidFill>
                  <a:schemeClr val="accent1">
                    <a:lumMod val="75000"/>
                  </a:schemeClr>
                </a:solidFill>
              </a:rPr>
              <a:t>,INTERVAL</a:t>
            </a:r>
            <a:r>
              <a:rPr lang="es-ES" sz="2000" dirty="0">
                <a:solidFill>
                  <a:schemeClr val="accent1">
                    <a:lumMod val="75000"/>
                  </a:schemeClr>
                </a:solidFill>
              </a:rPr>
              <a:t> 1 DAY),</a:t>
            </a:r>
            <a:r>
              <a:rPr lang="es-ES" sz="2000" dirty="0" err="1">
                <a:solidFill>
                  <a:srgbClr val="FF0000"/>
                </a:solidFill>
              </a:rPr>
              <a:t>ffin</a:t>
            </a:r>
            <a:r>
              <a:rPr lang="es-ES" sz="2000" dirty="0">
                <a:solidFill>
                  <a:schemeClr val="accent1">
                    <a:lumMod val="75000"/>
                  </a:schemeClr>
                </a:solidFill>
              </a:rPr>
              <a:t>=</a:t>
            </a:r>
            <a:r>
              <a:rPr lang="es-ES" sz="2000" dirty="0" err="1">
                <a:solidFill>
                  <a:schemeClr val="accent1">
                    <a:lumMod val="75000"/>
                  </a:schemeClr>
                </a:solidFill>
              </a:rPr>
              <a:t>adddate</a:t>
            </a:r>
            <a:r>
              <a:rPr lang="es-ES" sz="2000" dirty="0">
                <a:solidFill>
                  <a:schemeClr val="accent1">
                    <a:lumMod val="75000"/>
                  </a:schemeClr>
                </a:solidFill>
              </a:rPr>
              <a:t>(</a:t>
            </a:r>
            <a:r>
              <a:rPr lang="es-ES" sz="2000" dirty="0" err="1">
                <a:solidFill>
                  <a:srgbClr val="FF0000"/>
                </a:solidFill>
              </a:rPr>
              <a:t>ffin</a:t>
            </a:r>
            <a:r>
              <a:rPr lang="es-ES" sz="2000" dirty="0" err="1">
                <a:solidFill>
                  <a:schemeClr val="accent1">
                    <a:lumMod val="75000"/>
                  </a:schemeClr>
                </a:solidFill>
              </a:rPr>
              <a:t>,INTERVAL</a:t>
            </a:r>
            <a:r>
              <a:rPr lang="es-ES" sz="2000" dirty="0">
                <a:solidFill>
                  <a:schemeClr val="accent1">
                    <a:lumMod val="75000"/>
                  </a:schemeClr>
                </a:solidFill>
              </a:rPr>
              <a:t> 1 DAY)</a:t>
            </a:r>
          </a:p>
          <a:p>
            <a:pPr marL="0" indent="0">
              <a:lnSpc>
                <a:spcPct val="110000"/>
              </a:lnSpc>
              <a:spcBef>
                <a:spcPts val="0"/>
              </a:spcBef>
              <a:buNone/>
            </a:pPr>
            <a:r>
              <a:rPr lang="es-ES" sz="2000" dirty="0">
                <a:solidFill>
                  <a:schemeClr val="accent1">
                    <a:lumMod val="75000"/>
                  </a:schemeClr>
                </a:solidFill>
              </a:rPr>
              <a:t>WHERE </a:t>
            </a:r>
            <a:r>
              <a:rPr lang="es-ES" sz="2000" dirty="0">
                <a:solidFill>
                  <a:srgbClr val="00B050"/>
                </a:solidFill>
              </a:rPr>
              <a:t>nombre</a:t>
            </a:r>
            <a:r>
              <a:rPr lang="es-ES" sz="2000" dirty="0">
                <a:solidFill>
                  <a:schemeClr val="accent1">
                    <a:lumMod val="75000"/>
                  </a:schemeClr>
                </a:solidFill>
              </a:rPr>
              <a:t>='Mariano' AND </a:t>
            </a:r>
            <a:r>
              <a:rPr lang="es-ES" sz="2000" dirty="0">
                <a:solidFill>
                  <a:srgbClr val="00B050"/>
                </a:solidFill>
              </a:rPr>
              <a:t>apellidos</a:t>
            </a:r>
            <a:r>
              <a:rPr lang="es-ES" sz="2000" dirty="0">
                <a:solidFill>
                  <a:schemeClr val="accent1">
                    <a:lumMod val="75000"/>
                  </a:schemeClr>
                </a:solidFill>
              </a:rPr>
              <a:t>='Dorado’;</a:t>
            </a:r>
          </a:p>
          <a:p>
            <a:pPr>
              <a:lnSpc>
                <a:spcPct val="110000"/>
              </a:lnSpc>
              <a:spcBef>
                <a:spcPts val="0"/>
              </a:spcBef>
            </a:pPr>
            <a:endParaRPr lang="es-ES" sz="2000" dirty="0"/>
          </a:p>
        </p:txBody>
      </p:sp>
      <p:sp>
        <p:nvSpPr>
          <p:cNvPr id="4" name="CuadroTexto 3">
            <a:extLst>
              <a:ext uri="{FF2B5EF4-FFF2-40B4-BE49-F238E27FC236}">
                <a16:creationId xmlns:a16="http://schemas.microsoft.com/office/drawing/2014/main" id="{BAB21E8C-4F88-49EF-A322-FCD09BA13EA2}"/>
              </a:ext>
            </a:extLst>
          </p:cNvPr>
          <p:cNvSpPr txBox="1"/>
          <p:nvPr/>
        </p:nvSpPr>
        <p:spPr>
          <a:xfrm>
            <a:off x="6915149" y="3620056"/>
            <a:ext cx="3267075" cy="1200329"/>
          </a:xfrm>
          <a:prstGeom prst="rect">
            <a:avLst/>
          </a:prstGeom>
          <a:noFill/>
        </p:spPr>
        <p:txBody>
          <a:bodyPr wrap="square" rtlCol="0">
            <a:spAutoFit/>
          </a:bodyPr>
          <a:lstStyle/>
          <a:p>
            <a:r>
              <a:rPr lang="es-ES" dirty="0"/>
              <a:t>Se modifica la tabla contratos, pero las condiciones son de la tabla de clientes, por eso hay que hacer </a:t>
            </a:r>
            <a:r>
              <a:rPr lang="es-ES" dirty="0" err="1"/>
              <a:t>inner</a:t>
            </a:r>
            <a:r>
              <a:rPr lang="es-ES" dirty="0"/>
              <a:t> </a:t>
            </a:r>
            <a:r>
              <a:rPr lang="es-ES" dirty="0" err="1"/>
              <a:t>join</a:t>
            </a:r>
            <a:endParaRPr lang="es-ES" dirty="0"/>
          </a:p>
        </p:txBody>
      </p:sp>
    </p:spTree>
    <p:extLst>
      <p:ext uri="{BB962C8B-B14F-4D97-AF65-F5344CB8AC3E}">
        <p14:creationId xmlns:p14="http://schemas.microsoft.com/office/powerpoint/2010/main" val="44091182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628AD5E2-5586-A645-AB63-75235C1A7BC4}"/>
              </a:ext>
            </a:extLst>
          </p:cNvPr>
          <p:cNvSpPr>
            <a:spLocks noGrp="1"/>
          </p:cNvSpPr>
          <p:nvPr>
            <p:ph type="title"/>
          </p:nvPr>
        </p:nvSpPr>
        <p:spPr/>
        <p:txBody>
          <a:bodyPr/>
          <a:lstStyle/>
          <a:p>
            <a:r>
              <a:rPr lang="es-ES" dirty="0"/>
              <a:t>EJEMPLO 5</a:t>
            </a:r>
          </a:p>
        </p:txBody>
      </p:sp>
      <p:sp>
        <p:nvSpPr>
          <p:cNvPr id="3" name="Marcador de contenido 2">
            <a:extLst>
              <a:ext uri="{FF2B5EF4-FFF2-40B4-BE49-F238E27FC236}">
                <a16:creationId xmlns:a16="http://schemas.microsoft.com/office/drawing/2014/main" id="{B6304D3F-0798-590F-A7EA-B9FF3058537E}"/>
              </a:ext>
            </a:extLst>
          </p:cNvPr>
          <p:cNvSpPr>
            <a:spLocks noGrp="1"/>
          </p:cNvSpPr>
          <p:nvPr>
            <p:ph idx="1"/>
          </p:nvPr>
        </p:nvSpPr>
        <p:spPr/>
        <p:txBody>
          <a:bodyPr/>
          <a:lstStyle/>
          <a:p>
            <a:r>
              <a:rPr lang="es-ES" b="1" dirty="0"/>
              <a:t>Ejemplo 5</a:t>
            </a:r>
            <a:r>
              <a:rPr lang="es-ES" dirty="0"/>
              <a:t>: Establecer que el contrato 25 fue realizado por Antonio Diaz Vera.</a:t>
            </a:r>
          </a:p>
          <a:p>
            <a:r>
              <a:rPr lang="es-ES" dirty="0"/>
              <a:t>La hacemos con subconsultas</a:t>
            </a:r>
          </a:p>
          <a:p>
            <a:pPr marL="0" indent="0">
              <a:buNone/>
            </a:pPr>
            <a:endParaRPr lang="es-ES" dirty="0"/>
          </a:p>
          <a:p>
            <a:endParaRPr lang="es-ES" dirty="0"/>
          </a:p>
        </p:txBody>
      </p:sp>
    </p:spTree>
    <p:extLst>
      <p:ext uri="{BB962C8B-B14F-4D97-AF65-F5344CB8AC3E}">
        <p14:creationId xmlns:p14="http://schemas.microsoft.com/office/powerpoint/2010/main" val="376988151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628AD5E2-5586-A645-AB63-75235C1A7BC4}"/>
              </a:ext>
            </a:extLst>
          </p:cNvPr>
          <p:cNvSpPr>
            <a:spLocks noGrp="1"/>
          </p:cNvSpPr>
          <p:nvPr>
            <p:ph type="title"/>
          </p:nvPr>
        </p:nvSpPr>
        <p:spPr/>
        <p:txBody>
          <a:bodyPr/>
          <a:lstStyle/>
          <a:p>
            <a:r>
              <a:rPr lang="es-ES" dirty="0"/>
              <a:t>EJEMPLO 5</a:t>
            </a:r>
          </a:p>
        </p:txBody>
      </p:sp>
      <p:sp>
        <p:nvSpPr>
          <p:cNvPr id="3" name="Marcador de contenido 2">
            <a:extLst>
              <a:ext uri="{FF2B5EF4-FFF2-40B4-BE49-F238E27FC236}">
                <a16:creationId xmlns:a16="http://schemas.microsoft.com/office/drawing/2014/main" id="{B6304D3F-0798-590F-A7EA-B9FF3058537E}"/>
              </a:ext>
            </a:extLst>
          </p:cNvPr>
          <p:cNvSpPr>
            <a:spLocks noGrp="1"/>
          </p:cNvSpPr>
          <p:nvPr>
            <p:ph idx="1"/>
          </p:nvPr>
        </p:nvSpPr>
        <p:spPr/>
        <p:txBody>
          <a:bodyPr/>
          <a:lstStyle/>
          <a:p>
            <a:r>
              <a:rPr lang="es-ES" b="1" dirty="0"/>
              <a:t>Ejemplo 5</a:t>
            </a:r>
            <a:r>
              <a:rPr lang="es-ES" dirty="0"/>
              <a:t>: Establecer que el contrato 25 fue realizado por Antonio Diaz Vera.</a:t>
            </a:r>
          </a:p>
          <a:p>
            <a:pPr marL="0" indent="0">
              <a:buNone/>
            </a:pPr>
            <a:endParaRPr lang="es-ES" dirty="0"/>
          </a:p>
          <a:p>
            <a:pPr marL="0" indent="0">
              <a:buNone/>
            </a:pPr>
            <a:r>
              <a:rPr lang="es-ES" dirty="0"/>
              <a:t>UPDATE contratos  </a:t>
            </a:r>
          </a:p>
          <a:p>
            <a:pPr marL="0" indent="0">
              <a:buNone/>
            </a:pPr>
            <a:r>
              <a:rPr lang="es-ES" dirty="0"/>
              <a:t>SET </a:t>
            </a:r>
            <a:r>
              <a:rPr lang="es-ES" dirty="0" err="1"/>
              <a:t>dnicliente</a:t>
            </a:r>
            <a:r>
              <a:rPr lang="es-ES" dirty="0"/>
              <a:t>=</a:t>
            </a:r>
            <a:r>
              <a:rPr lang="es-ES" dirty="0">
                <a:solidFill>
                  <a:schemeClr val="accent1">
                    <a:lumMod val="75000"/>
                  </a:schemeClr>
                </a:solidFill>
              </a:rPr>
              <a:t>(SELECT </a:t>
            </a:r>
            <a:r>
              <a:rPr lang="es-ES" dirty="0" err="1">
                <a:solidFill>
                  <a:schemeClr val="accent1">
                    <a:lumMod val="75000"/>
                  </a:schemeClr>
                </a:solidFill>
              </a:rPr>
              <a:t>dni</a:t>
            </a:r>
            <a:r>
              <a:rPr lang="es-ES" dirty="0">
                <a:solidFill>
                  <a:schemeClr val="accent1">
                    <a:lumMod val="75000"/>
                  </a:schemeClr>
                </a:solidFill>
              </a:rPr>
              <a:t> FROM clientes WHERE nombre='Antonio' AND apellidos='Diaz vera')</a:t>
            </a:r>
          </a:p>
          <a:p>
            <a:pPr marL="0" indent="0">
              <a:buNone/>
            </a:pPr>
            <a:r>
              <a:rPr lang="es-ES" dirty="0"/>
              <a:t>WHERE </a:t>
            </a:r>
            <a:r>
              <a:rPr lang="es-ES" dirty="0" err="1"/>
              <a:t>numcontrato</a:t>
            </a:r>
            <a:r>
              <a:rPr lang="es-ES" dirty="0"/>
              <a:t>=25;</a:t>
            </a:r>
          </a:p>
          <a:p>
            <a:endParaRPr lang="es-ES" dirty="0"/>
          </a:p>
        </p:txBody>
      </p:sp>
    </p:spTree>
    <p:extLst>
      <p:ext uri="{BB962C8B-B14F-4D97-AF65-F5344CB8AC3E}">
        <p14:creationId xmlns:p14="http://schemas.microsoft.com/office/powerpoint/2010/main" val="3940485935"/>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5D3EC3B8-2512-2CD4-5922-A3CA4763E10D}"/>
              </a:ext>
            </a:extLst>
          </p:cNvPr>
          <p:cNvSpPr>
            <a:spLocks noGrp="1"/>
          </p:cNvSpPr>
          <p:nvPr>
            <p:ph type="title"/>
          </p:nvPr>
        </p:nvSpPr>
        <p:spPr/>
        <p:txBody>
          <a:bodyPr/>
          <a:lstStyle/>
          <a:p>
            <a:r>
              <a:rPr lang="es-ES" dirty="0"/>
              <a:t>EJEMPLO 6. Consulta correlacionada</a:t>
            </a:r>
          </a:p>
        </p:txBody>
      </p:sp>
      <p:sp>
        <p:nvSpPr>
          <p:cNvPr id="3" name="Marcador de contenido 2">
            <a:extLst>
              <a:ext uri="{FF2B5EF4-FFF2-40B4-BE49-F238E27FC236}">
                <a16:creationId xmlns:a16="http://schemas.microsoft.com/office/drawing/2014/main" id="{88DF6F08-E2F4-CB86-C1D8-465190209BB2}"/>
              </a:ext>
            </a:extLst>
          </p:cNvPr>
          <p:cNvSpPr>
            <a:spLocks noGrp="1"/>
          </p:cNvSpPr>
          <p:nvPr>
            <p:ph idx="1"/>
          </p:nvPr>
        </p:nvSpPr>
        <p:spPr/>
        <p:txBody>
          <a:bodyPr/>
          <a:lstStyle/>
          <a:p>
            <a:r>
              <a:rPr lang="es-ES" b="1" dirty="0"/>
              <a:t>Ejemplo 6</a:t>
            </a:r>
            <a:r>
              <a:rPr lang="es-ES" dirty="0"/>
              <a:t>: Establecer que en los kilómetros de los automóviles se carguen los kilómetros finales del último contrato finalizado de cada automóvil.</a:t>
            </a:r>
          </a:p>
          <a:p>
            <a:r>
              <a:rPr lang="es-ES" dirty="0"/>
              <a:t>Hay que actualizar </a:t>
            </a:r>
            <a:r>
              <a:rPr lang="es-ES" dirty="0">
                <a:highlight>
                  <a:srgbClr val="00FF00"/>
                </a:highlight>
              </a:rPr>
              <a:t>CADA</a:t>
            </a:r>
            <a:r>
              <a:rPr lang="es-ES" dirty="0"/>
              <a:t> automóvil en función de su contrato.</a:t>
            </a:r>
          </a:p>
          <a:p>
            <a:endParaRPr lang="es-ES" dirty="0"/>
          </a:p>
          <a:p>
            <a:endParaRPr lang="es-ES" dirty="0"/>
          </a:p>
          <a:p>
            <a:endParaRPr lang="es-ES" dirty="0"/>
          </a:p>
        </p:txBody>
      </p:sp>
    </p:spTree>
    <p:extLst>
      <p:ext uri="{BB962C8B-B14F-4D97-AF65-F5344CB8AC3E}">
        <p14:creationId xmlns:p14="http://schemas.microsoft.com/office/powerpoint/2010/main" val="3240861169"/>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5D3EC3B8-2512-2CD4-5922-A3CA4763E10D}"/>
              </a:ext>
            </a:extLst>
          </p:cNvPr>
          <p:cNvSpPr>
            <a:spLocks noGrp="1"/>
          </p:cNvSpPr>
          <p:nvPr>
            <p:ph type="title"/>
          </p:nvPr>
        </p:nvSpPr>
        <p:spPr/>
        <p:txBody>
          <a:bodyPr/>
          <a:lstStyle/>
          <a:p>
            <a:r>
              <a:rPr lang="es-ES" dirty="0"/>
              <a:t>EJEMPLO 6 . Consulta correlacionada</a:t>
            </a:r>
          </a:p>
        </p:txBody>
      </p:sp>
      <p:sp>
        <p:nvSpPr>
          <p:cNvPr id="3" name="Marcador de contenido 2">
            <a:extLst>
              <a:ext uri="{FF2B5EF4-FFF2-40B4-BE49-F238E27FC236}">
                <a16:creationId xmlns:a16="http://schemas.microsoft.com/office/drawing/2014/main" id="{88DF6F08-E2F4-CB86-C1D8-465190209BB2}"/>
              </a:ext>
            </a:extLst>
          </p:cNvPr>
          <p:cNvSpPr>
            <a:spLocks noGrp="1"/>
          </p:cNvSpPr>
          <p:nvPr>
            <p:ph idx="1"/>
          </p:nvPr>
        </p:nvSpPr>
        <p:spPr/>
        <p:txBody>
          <a:bodyPr/>
          <a:lstStyle/>
          <a:p>
            <a:r>
              <a:rPr lang="es-ES" b="1" dirty="0"/>
              <a:t>Ejemplo 6</a:t>
            </a:r>
            <a:r>
              <a:rPr lang="es-ES" dirty="0"/>
              <a:t>: Establecer que en los kilómetros de los automóviles se carguen los kilómetros finales del último contrato finalizado de </a:t>
            </a:r>
            <a:r>
              <a:rPr lang="es-ES" dirty="0">
                <a:highlight>
                  <a:srgbClr val="00FF00"/>
                </a:highlight>
              </a:rPr>
              <a:t>cada</a:t>
            </a:r>
            <a:r>
              <a:rPr lang="es-ES" dirty="0"/>
              <a:t> automóvil.</a:t>
            </a:r>
          </a:p>
          <a:p>
            <a:endParaRPr lang="es-ES" dirty="0"/>
          </a:p>
          <a:p>
            <a:pPr marL="0" indent="0">
              <a:lnSpc>
                <a:spcPct val="100000"/>
              </a:lnSpc>
              <a:spcBef>
                <a:spcPts val="0"/>
              </a:spcBef>
              <a:buNone/>
            </a:pPr>
            <a:r>
              <a:rPr lang="es-ES" dirty="0">
                <a:solidFill>
                  <a:schemeClr val="accent1">
                    <a:lumMod val="75000"/>
                  </a:schemeClr>
                </a:solidFill>
              </a:rPr>
              <a:t>UPDATE </a:t>
            </a:r>
            <a:r>
              <a:rPr lang="es-ES" dirty="0" err="1">
                <a:solidFill>
                  <a:srgbClr val="FF0000"/>
                </a:solidFill>
              </a:rPr>
              <a:t>automoviles</a:t>
            </a:r>
            <a:r>
              <a:rPr lang="es-ES" dirty="0">
                <a:solidFill>
                  <a:schemeClr val="accent1">
                    <a:lumMod val="75000"/>
                  </a:schemeClr>
                </a:solidFill>
              </a:rPr>
              <a:t> </a:t>
            </a:r>
          </a:p>
          <a:p>
            <a:pPr marL="0" indent="0">
              <a:lnSpc>
                <a:spcPct val="100000"/>
              </a:lnSpc>
              <a:spcBef>
                <a:spcPts val="0"/>
              </a:spcBef>
              <a:buNone/>
            </a:pPr>
            <a:r>
              <a:rPr lang="es-ES" dirty="0">
                <a:solidFill>
                  <a:schemeClr val="accent1">
                    <a:lumMod val="75000"/>
                  </a:schemeClr>
                </a:solidFill>
              </a:rPr>
              <a:t>SET </a:t>
            </a:r>
            <a:r>
              <a:rPr lang="es-ES" dirty="0" err="1">
                <a:solidFill>
                  <a:schemeClr val="accent1">
                    <a:lumMod val="75000"/>
                  </a:schemeClr>
                </a:solidFill>
              </a:rPr>
              <a:t>kilometros</a:t>
            </a:r>
            <a:r>
              <a:rPr lang="es-ES" dirty="0">
                <a:solidFill>
                  <a:schemeClr val="accent1">
                    <a:lumMod val="75000"/>
                  </a:schemeClr>
                </a:solidFill>
              </a:rPr>
              <a:t>=(SELECT </a:t>
            </a:r>
            <a:r>
              <a:rPr lang="es-ES" dirty="0" err="1">
                <a:solidFill>
                  <a:schemeClr val="accent1">
                    <a:lumMod val="75000"/>
                  </a:schemeClr>
                </a:solidFill>
              </a:rPr>
              <a:t>max</a:t>
            </a:r>
            <a:r>
              <a:rPr lang="es-ES" dirty="0">
                <a:solidFill>
                  <a:schemeClr val="accent1">
                    <a:lumMod val="75000"/>
                  </a:schemeClr>
                </a:solidFill>
              </a:rPr>
              <a:t>(</a:t>
            </a:r>
            <a:r>
              <a:rPr lang="es-ES" dirty="0" err="1">
                <a:solidFill>
                  <a:schemeClr val="accent1">
                    <a:lumMod val="75000"/>
                  </a:schemeClr>
                </a:solidFill>
              </a:rPr>
              <a:t>kfin</a:t>
            </a:r>
            <a:r>
              <a:rPr lang="es-ES" dirty="0">
                <a:solidFill>
                  <a:schemeClr val="accent1">
                    <a:lumMod val="75000"/>
                  </a:schemeClr>
                </a:solidFill>
              </a:rPr>
              <a:t>) </a:t>
            </a:r>
          </a:p>
          <a:p>
            <a:pPr marL="0" indent="0">
              <a:lnSpc>
                <a:spcPct val="100000"/>
              </a:lnSpc>
              <a:spcBef>
                <a:spcPts val="0"/>
              </a:spcBef>
              <a:buNone/>
            </a:pPr>
            <a:r>
              <a:rPr lang="es-ES" dirty="0">
                <a:solidFill>
                  <a:schemeClr val="accent1">
                    <a:lumMod val="75000"/>
                  </a:schemeClr>
                </a:solidFill>
              </a:rPr>
              <a:t>			FROM </a:t>
            </a:r>
            <a:r>
              <a:rPr lang="es-ES" dirty="0">
                <a:solidFill>
                  <a:srgbClr val="00B050"/>
                </a:solidFill>
              </a:rPr>
              <a:t>contratos</a:t>
            </a:r>
            <a:r>
              <a:rPr lang="es-ES" dirty="0">
                <a:solidFill>
                  <a:schemeClr val="accent1">
                    <a:lumMod val="75000"/>
                  </a:schemeClr>
                </a:solidFill>
              </a:rPr>
              <a:t> </a:t>
            </a:r>
          </a:p>
          <a:p>
            <a:pPr marL="0" indent="0">
              <a:lnSpc>
                <a:spcPct val="100000"/>
              </a:lnSpc>
              <a:spcBef>
                <a:spcPts val="0"/>
              </a:spcBef>
              <a:buNone/>
            </a:pPr>
            <a:r>
              <a:rPr lang="es-ES" dirty="0">
                <a:solidFill>
                  <a:schemeClr val="accent1">
                    <a:lumMod val="75000"/>
                  </a:schemeClr>
                </a:solidFill>
              </a:rPr>
              <a:t>			WHERE </a:t>
            </a:r>
            <a:r>
              <a:rPr lang="es-ES" dirty="0" err="1">
                <a:solidFill>
                  <a:schemeClr val="accent1">
                    <a:lumMod val="75000"/>
                  </a:schemeClr>
                </a:solidFill>
              </a:rPr>
              <a:t>kfin</a:t>
            </a:r>
            <a:r>
              <a:rPr lang="es-ES" dirty="0">
                <a:solidFill>
                  <a:schemeClr val="accent1">
                    <a:lumMod val="75000"/>
                  </a:schemeClr>
                </a:solidFill>
              </a:rPr>
              <a:t>  IS NOT NULL </a:t>
            </a:r>
          </a:p>
          <a:p>
            <a:pPr marL="0" indent="0">
              <a:lnSpc>
                <a:spcPct val="100000"/>
              </a:lnSpc>
              <a:spcBef>
                <a:spcPts val="0"/>
              </a:spcBef>
              <a:buNone/>
            </a:pPr>
            <a:r>
              <a:rPr lang="es-ES" dirty="0">
                <a:solidFill>
                  <a:schemeClr val="accent1">
                    <a:lumMod val="75000"/>
                  </a:schemeClr>
                </a:solidFill>
              </a:rPr>
              <a:t>			AND </a:t>
            </a:r>
            <a:r>
              <a:rPr lang="es-ES" dirty="0" err="1">
                <a:solidFill>
                  <a:srgbClr val="00B050"/>
                </a:solidFill>
                <a:highlight>
                  <a:srgbClr val="FFFF00"/>
                </a:highlight>
              </a:rPr>
              <a:t>contratos.matricula</a:t>
            </a:r>
            <a:r>
              <a:rPr lang="es-ES" dirty="0">
                <a:solidFill>
                  <a:schemeClr val="accent1">
                    <a:lumMod val="75000"/>
                  </a:schemeClr>
                </a:solidFill>
                <a:highlight>
                  <a:srgbClr val="FFFF00"/>
                </a:highlight>
              </a:rPr>
              <a:t>=</a:t>
            </a:r>
            <a:r>
              <a:rPr lang="es-ES" dirty="0" err="1">
                <a:solidFill>
                  <a:srgbClr val="FF0000"/>
                </a:solidFill>
                <a:highlight>
                  <a:srgbClr val="FFFF00"/>
                </a:highlight>
              </a:rPr>
              <a:t>automoviles.matricula</a:t>
            </a:r>
            <a:r>
              <a:rPr lang="es-ES" dirty="0">
                <a:solidFill>
                  <a:schemeClr val="accent1">
                    <a:lumMod val="75000"/>
                  </a:schemeClr>
                </a:solidFill>
              </a:rPr>
              <a:t>);</a:t>
            </a:r>
          </a:p>
          <a:p>
            <a:endParaRPr lang="es-ES" dirty="0"/>
          </a:p>
          <a:p>
            <a:endParaRPr lang="es-ES" dirty="0"/>
          </a:p>
        </p:txBody>
      </p:sp>
      <p:sp>
        <p:nvSpPr>
          <p:cNvPr id="5" name="CuadroTexto 4">
            <a:extLst>
              <a:ext uri="{FF2B5EF4-FFF2-40B4-BE49-F238E27FC236}">
                <a16:creationId xmlns:a16="http://schemas.microsoft.com/office/drawing/2014/main" id="{175EED68-E8C5-F7E4-1471-534618FCB1EA}"/>
              </a:ext>
            </a:extLst>
          </p:cNvPr>
          <p:cNvSpPr txBox="1"/>
          <p:nvPr/>
        </p:nvSpPr>
        <p:spPr>
          <a:xfrm>
            <a:off x="7515225" y="2886075"/>
            <a:ext cx="3771900" cy="1754326"/>
          </a:xfrm>
          <a:prstGeom prst="rect">
            <a:avLst/>
          </a:prstGeom>
          <a:noFill/>
        </p:spPr>
        <p:txBody>
          <a:bodyPr wrap="square" rtlCol="0">
            <a:spAutoFit/>
          </a:bodyPr>
          <a:lstStyle/>
          <a:p>
            <a:r>
              <a:rPr lang="es-ES" dirty="0"/>
              <a:t>Como hay que relacionar los contratos de cada automóvil con el máximo de km que tiene ese automóvil en contratos, la condición junta el campo de la tabla a modificar con la tabla donde establecemos la condición</a:t>
            </a:r>
          </a:p>
        </p:txBody>
      </p:sp>
    </p:spTree>
    <p:extLst>
      <p:ext uri="{BB962C8B-B14F-4D97-AF65-F5344CB8AC3E}">
        <p14:creationId xmlns:p14="http://schemas.microsoft.com/office/powerpoint/2010/main" val="312670398"/>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D91F7334-B93E-DCF8-4670-6D16A3DCBB24}"/>
              </a:ext>
            </a:extLst>
          </p:cNvPr>
          <p:cNvSpPr>
            <a:spLocks noGrp="1"/>
          </p:cNvSpPr>
          <p:nvPr>
            <p:ph type="title"/>
          </p:nvPr>
        </p:nvSpPr>
        <p:spPr/>
        <p:txBody>
          <a:bodyPr/>
          <a:lstStyle/>
          <a:p>
            <a:r>
              <a:rPr lang="es-ES" dirty="0"/>
              <a:t>EJEMPLO 6 . Consulta correlacionada</a:t>
            </a:r>
          </a:p>
        </p:txBody>
      </p:sp>
      <p:sp>
        <p:nvSpPr>
          <p:cNvPr id="3" name="Marcador de contenido 2">
            <a:extLst>
              <a:ext uri="{FF2B5EF4-FFF2-40B4-BE49-F238E27FC236}">
                <a16:creationId xmlns:a16="http://schemas.microsoft.com/office/drawing/2014/main" id="{18DDD98E-44BE-28FE-8CA3-57F732C11457}"/>
              </a:ext>
            </a:extLst>
          </p:cNvPr>
          <p:cNvSpPr>
            <a:spLocks noGrp="1"/>
          </p:cNvSpPr>
          <p:nvPr>
            <p:ph idx="1"/>
          </p:nvPr>
        </p:nvSpPr>
        <p:spPr/>
        <p:txBody>
          <a:bodyPr/>
          <a:lstStyle/>
          <a:p>
            <a:r>
              <a:rPr lang="es-ES" dirty="0"/>
              <a:t>Como puede verse, en la subconsulta, se compara la matricula de cada contrato con la matricula del automóvil que se está modificando. La ejecución de esta instrucción supone que, por cada automóvil, se ejecuta la subconsulta para obtener el máximo valor de kilómetros finales para ese automóvil.</a:t>
            </a:r>
          </a:p>
          <a:p>
            <a:endParaRPr lang="es-ES" dirty="0"/>
          </a:p>
          <a:p>
            <a:r>
              <a:rPr lang="es-ES" dirty="0"/>
              <a:t>Si un automóvil no tuviera contratos, se cargaría el valor NULL en kilómetros, lo cual no sería muy adecuado.</a:t>
            </a:r>
          </a:p>
        </p:txBody>
      </p:sp>
      <p:sp>
        <p:nvSpPr>
          <p:cNvPr id="4" name="Rectangle 1">
            <a:extLst>
              <a:ext uri="{FF2B5EF4-FFF2-40B4-BE49-F238E27FC236}">
                <a16:creationId xmlns:a16="http://schemas.microsoft.com/office/drawing/2014/main" id="{4DA2E996-9F28-A132-338B-C0678D7CDF84}"/>
              </a:ext>
            </a:extLst>
          </p:cNvPr>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s-ES"/>
          </a:p>
        </p:txBody>
      </p:sp>
    </p:spTree>
    <p:extLst>
      <p:ext uri="{BB962C8B-B14F-4D97-AF65-F5344CB8AC3E}">
        <p14:creationId xmlns:p14="http://schemas.microsoft.com/office/powerpoint/2010/main" val="1900982820"/>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D91F7334-B93E-DCF8-4670-6D16A3DCBB24}"/>
              </a:ext>
            </a:extLst>
          </p:cNvPr>
          <p:cNvSpPr>
            <a:spLocks noGrp="1"/>
          </p:cNvSpPr>
          <p:nvPr>
            <p:ph type="title"/>
          </p:nvPr>
        </p:nvSpPr>
        <p:spPr/>
        <p:txBody>
          <a:bodyPr/>
          <a:lstStyle/>
          <a:p>
            <a:r>
              <a:rPr lang="es-ES" dirty="0"/>
              <a:t>EJEMPLO 7. Consulta correlacionada</a:t>
            </a:r>
          </a:p>
        </p:txBody>
      </p:sp>
      <p:sp>
        <p:nvSpPr>
          <p:cNvPr id="3" name="Marcador de contenido 2">
            <a:extLst>
              <a:ext uri="{FF2B5EF4-FFF2-40B4-BE49-F238E27FC236}">
                <a16:creationId xmlns:a16="http://schemas.microsoft.com/office/drawing/2014/main" id="{18DDD98E-44BE-28FE-8CA3-57F732C11457}"/>
              </a:ext>
            </a:extLst>
          </p:cNvPr>
          <p:cNvSpPr>
            <a:spLocks noGrp="1"/>
          </p:cNvSpPr>
          <p:nvPr>
            <p:ph idx="1"/>
          </p:nvPr>
        </p:nvSpPr>
        <p:spPr/>
        <p:txBody>
          <a:bodyPr>
            <a:normAutofit/>
          </a:bodyPr>
          <a:lstStyle/>
          <a:p>
            <a:r>
              <a:rPr lang="es-ES" b="1" dirty="0"/>
              <a:t>Ejemplo 7</a:t>
            </a:r>
            <a:r>
              <a:rPr lang="es-ES" dirty="0"/>
              <a:t>: Para que no ocurra lo anterior, modifica los kilómetros sólo de automóviles con contratos finalizados para que contengan los kilómetros finales de </a:t>
            </a:r>
            <a:r>
              <a:rPr lang="es-ES" dirty="0">
                <a:highlight>
                  <a:srgbClr val="00FF00"/>
                </a:highlight>
              </a:rPr>
              <a:t>cada</a:t>
            </a:r>
            <a:r>
              <a:rPr lang="es-ES" dirty="0"/>
              <a:t> uno de los últimos contratos finalizados.</a:t>
            </a:r>
          </a:p>
          <a:p>
            <a:r>
              <a:rPr lang="es-ES" dirty="0"/>
              <a:t>La solución es haciendo subconsultas, una para el SET y otra para el WHERE.</a:t>
            </a:r>
          </a:p>
          <a:p>
            <a:endParaRPr lang="es-ES" dirty="0"/>
          </a:p>
        </p:txBody>
      </p:sp>
    </p:spTree>
    <p:extLst>
      <p:ext uri="{BB962C8B-B14F-4D97-AF65-F5344CB8AC3E}">
        <p14:creationId xmlns:p14="http://schemas.microsoft.com/office/powerpoint/2010/main" val="1195124162"/>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D91F7334-B93E-DCF8-4670-6D16A3DCBB24}"/>
              </a:ext>
            </a:extLst>
          </p:cNvPr>
          <p:cNvSpPr>
            <a:spLocks noGrp="1"/>
          </p:cNvSpPr>
          <p:nvPr>
            <p:ph type="title"/>
          </p:nvPr>
        </p:nvSpPr>
        <p:spPr/>
        <p:txBody>
          <a:bodyPr/>
          <a:lstStyle/>
          <a:p>
            <a:r>
              <a:rPr lang="es-ES" dirty="0"/>
              <a:t>EJEMPLO 7. Consulta correlacionada</a:t>
            </a:r>
          </a:p>
        </p:txBody>
      </p:sp>
      <p:sp>
        <p:nvSpPr>
          <p:cNvPr id="3" name="Marcador de contenido 2">
            <a:extLst>
              <a:ext uri="{FF2B5EF4-FFF2-40B4-BE49-F238E27FC236}">
                <a16:creationId xmlns:a16="http://schemas.microsoft.com/office/drawing/2014/main" id="{18DDD98E-44BE-28FE-8CA3-57F732C11457}"/>
              </a:ext>
            </a:extLst>
          </p:cNvPr>
          <p:cNvSpPr>
            <a:spLocks noGrp="1"/>
          </p:cNvSpPr>
          <p:nvPr>
            <p:ph idx="1"/>
          </p:nvPr>
        </p:nvSpPr>
        <p:spPr/>
        <p:txBody>
          <a:bodyPr>
            <a:normAutofit fontScale="85000" lnSpcReduction="20000"/>
          </a:bodyPr>
          <a:lstStyle/>
          <a:p>
            <a:r>
              <a:rPr lang="es-ES" b="1" dirty="0"/>
              <a:t>Ejemplo 7</a:t>
            </a:r>
            <a:r>
              <a:rPr lang="es-ES" dirty="0"/>
              <a:t>: Para que no ocurra lo anterior, modifica los kilómetros sólo de automóviles con contratos finalizados para que contengan los kilómetros finales de cada uno de los últimos contratos finalizados.</a:t>
            </a:r>
          </a:p>
          <a:p>
            <a:r>
              <a:rPr lang="es-ES" dirty="0"/>
              <a:t>Una solución es:</a:t>
            </a:r>
          </a:p>
          <a:p>
            <a:pPr marL="0" indent="0">
              <a:buNone/>
            </a:pPr>
            <a:r>
              <a:rPr lang="es-ES" dirty="0"/>
              <a:t>UPDATE </a:t>
            </a:r>
            <a:r>
              <a:rPr lang="es-ES" dirty="0" err="1"/>
              <a:t>automoviles</a:t>
            </a:r>
            <a:r>
              <a:rPr lang="es-ES" dirty="0"/>
              <a:t> </a:t>
            </a:r>
          </a:p>
          <a:p>
            <a:pPr marL="0" indent="0">
              <a:buNone/>
            </a:pPr>
            <a:r>
              <a:rPr lang="es-ES" dirty="0"/>
              <a:t>SET </a:t>
            </a:r>
            <a:r>
              <a:rPr lang="es-ES" dirty="0" err="1"/>
              <a:t>kilometros</a:t>
            </a:r>
            <a:r>
              <a:rPr lang="es-ES" dirty="0"/>
              <a:t>=(</a:t>
            </a:r>
            <a:r>
              <a:rPr lang="es-ES" dirty="0">
                <a:solidFill>
                  <a:schemeClr val="accent1">
                    <a:lumMod val="75000"/>
                  </a:schemeClr>
                </a:solidFill>
              </a:rPr>
              <a:t>SELECT </a:t>
            </a:r>
            <a:r>
              <a:rPr lang="es-ES" dirty="0" err="1">
                <a:solidFill>
                  <a:schemeClr val="accent1">
                    <a:lumMod val="75000"/>
                  </a:schemeClr>
                </a:solidFill>
              </a:rPr>
              <a:t>max</a:t>
            </a:r>
            <a:r>
              <a:rPr lang="es-ES" dirty="0">
                <a:solidFill>
                  <a:schemeClr val="accent1">
                    <a:lumMod val="75000"/>
                  </a:schemeClr>
                </a:solidFill>
              </a:rPr>
              <a:t>(</a:t>
            </a:r>
            <a:r>
              <a:rPr lang="es-ES" dirty="0" err="1">
                <a:solidFill>
                  <a:schemeClr val="accent1">
                    <a:lumMod val="75000"/>
                  </a:schemeClr>
                </a:solidFill>
              </a:rPr>
              <a:t>kfin</a:t>
            </a:r>
            <a:r>
              <a:rPr lang="es-ES" dirty="0">
                <a:solidFill>
                  <a:schemeClr val="accent1">
                    <a:lumMod val="75000"/>
                  </a:schemeClr>
                </a:solidFill>
              </a:rPr>
              <a:t>) </a:t>
            </a:r>
          </a:p>
          <a:p>
            <a:pPr marL="0" indent="0">
              <a:buNone/>
            </a:pPr>
            <a:r>
              <a:rPr lang="es-ES" dirty="0">
                <a:solidFill>
                  <a:schemeClr val="accent1">
                    <a:lumMod val="75000"/>
                  </a:schemeClr>
                </a:solidFill>
              </a:rPr>
              <a:t>			FROM contratos </a:t>
            </a:r>
          </a:p>
          <a:p>
            <a:pPr marL="0" indent="0">
              <a:buNone/>
            </a:pPr>
            <a:r>
              <a:rPr lang="es-ES" dirty="0">
                <a:solidFill>
                  <a:schemeClr val="accent1">
                    <a:lumMod val="75000"/>
                  </a:schemeClr>
                </a:solidFill>
              </a:rPr>
              <a:t>			WHERE </a:t>
            </a:r>
            <a:r>
              <a:rPr lang="es-ES" dirty="0" err="1">
                <a:solidFill>
                  <a:schemeClr val="accent1">
                    <a:lumMod val="75000"/>
                  </a:schemeClr>
                </a:solidFill>
              </a:rPr>
              <a:t>kfin</a:t>
            </a:r>
            <a:r>
              <a:rPr lang="es-ES" dirty="0">
                <a:solidFill>
                  <a:schemeClr val="accent1">
                    <a:lumMod val="75000"/>
                  </a:schemeClr>
                </a:solidFill>
              </a:rPr>
              <a:t>  IS NOT NULL </a:t>
            </a:r>
          </a:p>
          <a:p>
            <a:pPr marL="0" indent="0">
              <a:buNone/>
            </a:pPr>
            <a:r>
              <a:rPr lang="es-ES" dirty="0">
                <a:solidFill>
                  <a:schemeClr val="accent1">
                    <a:lumMod val="75000"/>
                  </a:schemeClr>
                </a:solidFill>
              </a:rPr>
              <a:t>			AND </a:t>
            </a:r>
            <a:r>
              <a:rPr lang="es-ES" dirty="0" err="1">
                <a:solidFill>
                  <a:schemeClr val="accent1">
                    <a:lumMod val="75000"/>
                  </a:schemeClr>
                </a:solidFill>
              </a:rPr>
              <a:t>contratos.matricula</a:t>
            </a:r>
            <a:r>
              <a:rPr lang="es-ES" dirty="0">
                <a:solidFill>
                  <a:schemeClr val="accent1">
                    <a:lumMod val="75000"/>
                  </a:schemeClr>
                </a:solidFill>
              </a:rPr>
              <a:t>=</a:t>
            </a:r>
            <a:r>
              <a:rPr lang="es-ES" dirty="0" err="1">
                <a:solidFill>
                  <a:schemeClr val="accent1">
                    <a:lumMod val="75000"/>
                  </a:schemeClr>
                </a:solidFill>
              </a:rPr>
              <a:t>automoviles.matricula</a:t>
            </a:r>
            <a:r>
              <a:rPr lang="es-ES" dirty="0"/>
              <a:t>)</a:t>
            </a:r>
          </a:p>
          <a:p>
            <a:pPr marL="0" indent="0">
              <a:buNone/>
            </a:pPr>
            <a:r>
              <a:rPr lang="es-ES" dirty="0"/>
              <a:t>WHERE matricula IN (</a:t>
            </a:r>
            <a:r>
              <a:rPr lang="es-ES" dirty="0">
                <a:solidFill>
                  <a:schemeClr val="accent6">
                    <a:lumMod val="75000"/>
                  </a:schemeClr>
                </a:solidFill>
              </a:rPr>
              <a:t>SELECT matricula </a:t>
            </a:r>
          </a:p>
          <a:p>
            <a:pPr marL="0" indent="0">
              <a:buNone/>
            </a:pPr>
            <a:r>
              <a:rPr lang="es-ES" dirty="0">
                <a:solidFill>
                  <a:schemeClr val="accent6">
                    <a:lumMod val="75000"/>
                  </a:schemeClr>
                </a:solidFill>
              </a:rPr>
              <a:t>			FROM contratos </a:t>
            </a:r>
          </a:p>
          <a:p>
            <a:pPr marL="0" indent="0">
              <a:buNone/>
            </a:pPr>
            <a:r>
              <a:rPr lang="es-ES" dirty="0">
                <a:solidFill>
                  <a:schemeClr val="accent6">
                    <a:lumMod val="75000"/>
                  </a:schemeClr>
                </a:solidFill>
              </a:rPr>
              <a:t>			WHERE </a:t>
            </a:r>
            <a:r>
              <a:rPr lang="es-ES" dirty="0" err="1">
                <a:solidFill>
                  <a:schemeClr val="accent6">
                    <a:lumMod val="75000"/>
                  </a:schemeClr>
                </a:solidFill>
              </a:rPr>
              <a:t>ffin</a:t>
            </a:r>
            <a:r>
              <a:rPr lang="es-ES" dirty="0">
                <a:solidFill>
                  <a:schemeClr val="accent6">
                    <a:lumMod val="75000"/>
                  </a:schemeClr>
                </a:solidFill>
              </a:rPr>
              <a:t>  IS NOT NULL</a:t>
            </a:r>
            <a:r>
              <a:rPr lang="es-ES" dirty="0"/>
              <a:t>);</a:t>
            </a:r>
          </a:p>
          <a:p>
            <a:endParaRPr lang="es-ES" dirty="0"/>
          </a:p>
        </p:txBody>
      </p:sp>
    </p:spTree>
    <p:extLst>
      <p:ext uri="{BB962C8B-B14F-4D97-AF65-F5344CB8AC3E}">
        <p14:creationId xmlns:p14="http://schemas.microsoft.com/office/powerpoint/2010/main" val="127508929"/>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D91F7334-B93E-DCF8-4670-6D16A3DCBB24}"/>
              </a:ext>
            </a:extLst>
          </p:cNvPr>
          <p:cNvSpPr>
            <a:spLocks noGrp="1"/>
          </p:cNvSpPr>
          <p:nvPr>
            <p:ph type="title"/>
          </p:nvPr>
        </p:nvSpPr>
        <p:spPr/>
        <p:txBody>
          <a:bodyPr/>
          <a:lstStyle/>
          <a:p>
            <a:r>
              <a:rPr lang="es-ES" dirty="0"/>
              <a:t>EJEMPLO 8</a:t>
            </a:r>
          </a:p>
        </p:txBody>
      </p:sp>
      <p:sp>
        <p:nvSpPr>
          <p:cNvPr id="3" name="Marcador de contenido 2">
            <a:extLst>
              <a:ext uri="{FF2B5EF4-FFF2-40B4-BE49-F238E27FC236}">
                <a16:creationId xmlns:a16="http://schemas.microsoft.com/office/drawing/2014/main" id="{18DDD98E-44BE-28FE-8CA3-57F732C11457}"/>
              </a:ext>
            </a:extLst>
          </p:cNvPr>
          <p:cNvSpPr>
            <a:spLocks noGrp="1"/>
          </p:cNvSpPr>
          <p:nvPr>
            <p:ph idx="1"/>
          </p:nvPr>
        </p:nvSpPr>
        <p:spPr/>
        <p:txBody>
          <a:bodyPr>
            <a:normAutofit fontScale="92500"/>
          </a:bodyPr>
          <a:lstStyle/>
          <a:p>
            <a:r>
              <a:rPr lang="es-ES" b="1" dirty="0"/>
              <a:t>Ejemplo 8</a:t>
            </a:r>
            <a:r>
              <a:rPr lang="es-ES" dirty="0"/>
              <a:t>: Establecer que el contrato número 26 ha sido realizado por el mismo cliente del contrato número 4.</a:t>
            </a:r>
          </a:p>
          <a:p>
            <a:r>
              <a:rPr lang="es-ES" dirty="0"/>
              <a:t>Si hacemos, como puede suponerse:</a:t>
            </a:r>
          </a:p>
          <a:p>
            <a:pPr marL="0" indent="0">
              <a:buNone/>
            </a:pPr>
            <a:r>
              <a:rPr lang="es-ES" dirty="0"/>
              <a:t>UPDATE </a:t>
            </a:r>
            <a:r>
              <a:rPr lang="es-ES" dirty="0">
                <a:highlight>
                  <a:srgbClr val="FFFF00"/>
                </a:highlight>
              </a:rPr>
              <a:t>contratos</a:t>
            </a:r>
            <a:r>
              <a:rPr lang="es-ES" dirty="0"/>
              <a:t>  </a:t>
            </a:r>
          </a:p>
          <a:p>
            <a:pPr marL="0" indent="0">
              <a:buNone/>
            </a:pPr>
            <a:r>
              <a:rPr lang="es-ES" dirty="0"/>
              <a:t>SET </a:t>
            </a:r>
            <a:r>
              <a:rPr lang="es-ES" dirty="0" err="1"/>
              <a:t>dnicliente</a:t>
            </a:r>
            <a:r>
              <a:rPr lang="es-ES" dirty="0"/>
              <a:t>= (</a:t>
            </a:r>
            <a:r>
              <a:rPr lang="es-ES" dirty="0">
                <a:solidFill>
                  <a:schemeClr val="accent6">
                    <a:lumMod val="75000"/>
                  </a:schemeClr>
                </a:solidFill>
              </a:rPr>
              <a:t>SELECT </a:t>
            </a:r>
            <a:r>
              <a:rPr lang="es-ES" dirty="0" err="1">
                <a:solidFill>
                  <a:schemeClr val="accent6">
                    <a:lumMod val="75000"/>
                  </a:schemeClr>
                </a:solidFill>
              </a:rPr>
              <a:t>dnicliente</a:t>
            </a:r>
            <a:r>
              <a:rPr lang="es-ES" dirty="0">
                <a:solidFill>
                  <a:schemeClr val="accent6">
                    <a:lumMod val="75000"/>
                  </a:schemeClr>
                </a:solidFill>
              </a:rPr>
              <a:t> </a:t>
            </a:r>
          </a:p>
          <a:p>
            <a:pPr marL="0" indent="0">
              <a:buNone/>
            </a:pPr>
            <a:r>
              <a:rPr lang="es-ES" dirty="0">
                <a:solidFill>
                  <a:schemeClr val="accent6">
                    <a:lumMod val="75000"/>
                  </a:schemeClr>
                </a:solidFill>
              </a:rPr>
              <a:t>                		FROM </a:t>
            </a:r>
            <a:r>
              <a:rPr lang="es-ES" dirty="0">
                <a:solidFill>
                  <a:schemeClr val="accent6">
                    <a:lumMod val="75000"/>
                  </a:schemeClr>
                </a:solidFill>
                <a:highlight>
                  <a:srgbClr val="FFFF00"/>
                </a:highlight>
              </a:rPr>
              <a:t>contratos</a:t>
            </a:r>
            <a:r>
              <a:rPr lang="es-ES" dirty="0">
                <a:solidFill>
                  <a:schemeClr val="accent6">
                    <a:lumMod val="75000"/>
                  </a:schemeClr>
                </a:solidFill>
              </a:rPr>
              <a:t> </a:t>
            </a:r>
          </a:p>
          <a:p>
            <a:pPr marL="0" indent="0">
              <a:buNone/>
            </a:pPr>
            <a:r>
              <a:rPr lang="es-ES" dirty="0">
                <a:solidFill>
                  <a:schemeClr val="accent6">
                    <a:lumMod val="75000"/>
                  </a:schemeClr>
                </a:solidFill>
              </a:rPr>
              <a:t>			WHERE </a:t>
            </a:r>
            <a:r>
              <a:rPr lang="es-ES" dirty="0" err="1">
                <a:solidFill>
                  <a:schemeClr val="accent6">
                    <a:lumMod val="75000"/>
                  </a:schemeClr>
                </a:solidFill>
              </a:rPr>
              <a:t>numcontrato</a:t>
            </a:r>
            <a:r>
              <a:rPr lang="es-ES" dirty="0">
                <a:solidFill>
                  <a:schemeClr val="accent6">
                    <a:lumMod val="75000"/>
                  </a:schemeClr>
                </a:solidFill>
              </a:rPr>
              <a:t>=4</a:t>
            </a:r>
            <a:r>
              <a:rPr lang="es-ES" dirty="0"/>
              <a:t>)</a:t>
            </a:r>
          </a:p>
          <a:p>
            <a:pPr marL="0" indent="0">
              <a:buNone/>
            </a:pPr>
            <a:r>
              <a:rPr lang="es-ES" dirty="0"/>
              <a:t>WHERE </a:t>
            </a:r>
            <a:r>
              <a:rPr lang="es-ES" dirty="0" err="1"/>
              <a:t>numcontrato</a:t>
            </a:r>
            <a:r>
              <a:rPr lang="es-ES" dirty="0"/>
              <a:t>=26;</a:t>
            </a:r>
          </a:p>
          <a:p>
            <a:r>
              <a:rPr lang="es-ES" dirty="0"/>
              <a:t>Para solucionarlo hay que usar un renombrado de subconsulta a tabla</a:t>
            </a:r>
          </a:p>
          <a:p>
            <a:endParaRPr lang="es-ES" dirty="0"/>
          </a:p>
        </p:txBody>
      </p:sp>
      <p:sp>
        <p:nvSpPr>
          <p:cNvPr id="4" name="CuadroTexto 3">
            <a:extLst>
              <a:ext uri="{FF2B5EF4-FFF2-40B4-BE49-F238E27FC236}">
                <a16:creationId xmlns:a16="http://schemas.microsoft.com/office/drawing/2014/main" id="{B0CD1F94-E506-BC35-CC4C-2841E5254BDF}"/>
              </a:ext>
            </a:extLst>
          </p:cNvPr>
          <p:cNvSpPr txBox="1"/>
          <p:nvPr/>
        </p:nvSpPr>
        <p:spPr>
          <a:xfrm>
            <a:off x="7915275" y="3114675"/>
            <a:ext cx="3171825" cy="923330"/>
          </a:xfrm>
          <a:prstGeom prst="rect">
            <a:avLst/>
          </a:prstGeom>
          <a:noFill/>
        </p:spPr>
        <p:txBody>
          <a:bodyPr wrap="square" rtlCol="0">
            <a:spAutoFit/>
          </a:bodyPr>
          <a:lstStyle/>
          <a:p>
            <a:r>
              <a:rPr lang="es-ES" dirty="0"/>
              <a:t>Da error, por utilizar en la subconsulta la misma tabla que quieres modificar.</a:t>
            </a:r>
          </a:p>
        </p:txBody>
      </p:sp>
    </p:spTree>
    <p:extLst>
      <p:ext uri="{BB962C8B-B14F-4D97-AF65-F5344CB8AC3E}">
        <p14:creationId xmlns:p14="http://schemas.microsoft.com/office/powerpoint/2010/main" val="3195028052"/>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D91F7334-B93E-DCF8-4670-6D16A3DCBB24}"/>
              </a:ext>
            </a:extLst>
          </p:cNvPr>
          <p:cNvSpPr>
            <a:spLocks noGrp="1"/>
          </p:cNvSpPr>
          <p:nvPr>
            <p:ph type="title"/>
          </p:nvPr>
        </p:nvSpPr>
        <p:spPr/>
        <p:txBody>
          <a:bodyPr/>
          <a:lstStyle/>
          <a:p>
            <a:r>
              <a:rPr lang="es-ES" dirty="0"/>
              <a:t>EJEMPLO 8</a:t>
            </a:r>
          </a:p>
        </p:txBody>
      </p:sp>
      <p:sp>
        <p:nvSpPr>
          <p:cNvPr id="3" name="Marcador de contenido 2">
            <a:extLst>
              <a:ext uri="{FF2B5EF4-FFF2-40B4-BE49-F238E27FC236}">
                <a16:creationId xmlns:a16="http://schemas.microsoft.com/office/drawing/2014/main" id="{18DDD98E-44BE-28FE-8CA3-57F732C11457}"/>
              </a:ext>
            </a:extLst>
          </p:cNvPr>
          <p:cNvSpPr>
            <a:spLocks noGrp="1"/>
          </p:cNvSpPr>
          <p:nvPr>
            <p:ph idx="1"/>
          </p:nvPr>
        </p:nvSpPr>
        <p:spPr/>
        <p:txBody>
          <a:bodyPr>
            <a:normAutofit/>
          </a:bodyPr>
          <a:lstStyle/>
          <a:p>
            <a:r>
              <a:rPr lang="es-ES" dirty="0"/>
              <a:t>Para solucionarlo hay que usar un renombrado de subconsulta a tabla:</a:t>
            </a:r>
          </a:p>
          <a:p>
            <a:pPr marL="0" indent="0">
              <a:lnSpc>
                <a:spcPct val="100000"/>
              </a:lnSpc>
              <a:spcBef>
                <a:spcPts val="0"/>
              </a:spcBef>
              <a:buNone/>
            </a:pPr>
            <a:r>
              <a:rPr lang="es-ES" dirty="0"/>
              <a:t>UPDATE contratos  </a:t>
            </a:r>
          </a:p>
          <a:p>
            <a:pPr marL="0" indent="0">
              <a:lnSpc>
                <a:spcPct val="100000"/>
              </a:lnSpc>
              <a:spcBef>
                <a:spcPts val="0"/>
              </a:spcBef>
              <a:buNone/>
            </a:pPr>
            <a:r>
              <a:rPr lang="es-ES" dirty="0"/>
              <a:t>SET </a:t>
            </a:r>
            <a:r>
              <a:rPr lang="es-ES" dirty="0" err="1"/>
              <a:t>dnicliente</a:t>
            </a:r>
            <a:r>
              <a:rPr lang="es-ES" dirty="0"/>
              <a:t>=(</a:t>
            </a:r>
            <a:r>
              <a:rPr lang="es-ES">
                <a:solidFill>
                  <a:schemeClr val="accent1">
                    <a:lumMod val="75000"/>
                  </a:schemeClr>
                </a:solidFill>
              </a:rPr>
              <a:t>SELECT *</a:t>
            </a:r>
            <a:endParaRPr lang="es-ES" dirty="0">
              <a:solidFill>
                <a:schemeClr val="accent1">
                  <a:lumMod val="75000"/>
                </a:schemeClr>
              </a:solidFill>
            </a:endParaRPr>
          </a:p>
          <a:p>
            <a:pPr marL="0" indent="0">
              <a:lnSpc>
                <a:spcPct val="100000"/>
              </a:lnSpc>
              <a:spcBef>
                <a:spcPts val="0"/>
              </a:spcBef>
              <a:buNone/>
            </a:pPr>
            <a:r>
              <a:rPr lang="es-ES" dirty="0">
                <a:solidFill>
                  <a:schemeClr val="accent1">
                    <a:lumMod val="75000"/>
                  </a:schemeClr>
                </a:solidFill>
              </a:rPr>
              <a:t>			FROM </a:t>
            </a:r>
            <a:r>
              <a:rPr lang="es-ES" dirty="0">
                <a:solidFill>
                  <a:srgbClr val="FF0000"/>
                </a:solidFill>
              </a:rPr>
              <a:t>(SELECT * </a:t>
            </a:r>
          </a:p>
          <a:p>
            <a:pPr marL="0" indent="0">
              <a:lnSpc>
                <a:spcPct val="100000"/>
              </a:lnSpc>
              <a:spcBef>
                <a:spcPts val="0"/>
              </a:spcBef>
              <a:buNone/>
            </a:pPr>
            <a:r>
              <a:rPr lang="es-ES" dirty="0">
                <a:solidFill>
                  <a:srgbClr val="FF0000"/>
                </a:solidFill>
              </a:rPr>
              <a:t>				  FROM contratos </a:t>
            </a:r>
          </a:p>
          <a:p>
            <a:pPr marL="0" indent="0">
              <a:lnSpc>
                <a:spcPct val="100000"/>
              </a:lnSpc>
              <a:spcBef>
                <a:spcPts val="0"/>
              </a:spcBef>
              <a:buNone/>
            </a:pPr>
            <a:r>
              <a:rPr lang="es-ES" dirty="0">
                <a:solidFill>
                  <a:srgbClr val="FF0000"/>
                </a:solidFill>
              </a:rPr>
              <a:t>				  WHERE </a:t>
            </a:r>
            <a:r>
              <a:rPr lang="es-ES" dirty="0" err="1">
                <a:solidFill>
                  <a:srgbClr val="FF0000"/>
                </a:solidFill>
              </a:rPr>
              <a:t>numcontrato</a:t>
            </a:r>
            <a:r>
              <a:rPr lang="es-ES" dirty="0">
                <a:solidFill>
                  <a:srgbClr val="FF0000"/>
                </a:solidFill>
              </a:rPr>
              <a:t>=4) </a:t>
            </a:r>
            <a:r>
              <a:rPr lang="es-ES" dirty="0">
                <a:solidFill>
                  <a:schemeClr val="accent1">
                    <a:lumMod val="75000"/>
                  </a:schemeClr>
                </a:solidFill>
              </a:rPr>
              <a:t>AS a</a:t>
            </a:r>
            <a:r>
              <a:rPr lang="es-ES" dirty="0"/>
              <a:t>)</a:t>
            </a:r>
          </a:p>
          <a:p>
            <a:pPr marL="0" indent="0">
              <a:lnSpc>
                <a:spcPct val="100000"/>
              </a:lnSpc>
              <a:spcBef>
                <a:spcPts val="0"/>
              </a:spcBef>
              <a:buNone/>
            </a:pPr>
            <a:r>
              <a:rPr lang="es-ES" dirty="0"/>
              <a:t>WHERE </a:t>
            </a:r>
            <a:r>
              <a:rPr lang="es-ES" dirty="0" err="1"/>
              <a:t>numcontrato</a:t>
            </a:r>
            <a:r>
              <a:rPr lang="es-ES" dirty="0"/>
              <a:t>=26;</a:t>
            </a:r>
          </a:p>
          <a:p>
            <a:endParaRPr lang="es-ES" dirty="0"/>
          </a:p>
        </p:txBody>
      </p:sp>
      <p:sp>
        <p:nvSpPr>
          <p:cNvPr id="6" name="CuadroTexto 5">
            <a:extLst>
              <a:ext uri="{FF2B5EF4-FFF2-40B4-BE49-F238E27FC236}">
                <a16:creationId xmlns:a16="http://schemas.microsoft.com/office/drawing/2014/main" id="{FBCBEDAE-CF68-33A2-F8D3-479B2DF7C347}"/>
              </a:ext>
            </a:extLst>
          </p:cNvPr>
          <p:cNvSpPr txBox="1"/>
          <p:nvPr/>
        </p:nvSpPr>
        <p:spPr>
          <a:xfrm>
            <a:off x="8582025" y="2733675"/>
            <a:ext cx="2771775" cy="923330"/>
          </a:xfrm>
          <a:prstGeom prst="rect">
            <a:avLst/>
          </a:prstGeom>
          <a:noFill/>
        </p:spPr>
        <p:txBody>
          <a:bodyPr wrap="square" rtlCol="0">
            <a:spAutoFit/>
          </a:bodyPr>
          <a:lstStyle/>
          <a:p>
            <a:r>
              <a:rPr lang="es-ES" dirty="0"/>
              <a:t>Envolvemos la subconsulta haciendo un renombrado. Ahora ya no da error.</a:t>
            </a:r>
          </a:p>
        </p:txBody>
      </p:sp>
    </p:spTree>
    <p:extLst>
      <p:ext uri="{BB962C8B-B14F-4D97-AF65-F5344CB8AC3E}">
        <p14:creationId xmlns:p14="http://schemas.microsoft.com/office/powerpoint/2010/main" val="1029362205"/>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7F4A40D-8186-A035-7E84-2D83E8667011}"/>
            </a:ext>
          </a:extLst>
        </p:cNvPr>
        <p:cNvGrpSpPr/>
        <p:nvPr/>
      </p:nvGrpSpPr>
      <p:grpSpPr>
        <a:xfrm>
          <a:off x="0" y="0"/>
          <a:ext cx="0" cy="0"/>
          <a:chOff x="0" y="0"/>
          <a:chExt cx="0" cy="0"/>
        </a:xfrm>
      </p:grpSpPr>
      <p:sp>
        <p:nvSpPr>
          <p:cNvPr id="2" name="Título 1">
            <a:extLst>
              <a:ext uri="{FF2B5EF4-FFF2-40B4-BE49-F238E27FC236}">
                <a16:creationId xmlns:a16="http://schemas.microsoft.com/office/drawing/2014/main" id="{DDD13BC3-4844-C989-A6CF-3B8A0DAEDAA7}"/>
              </a:ext>
            </a:extLst>
          </p:cNvPr>
          <p:cNvSpPr>
            <a:spLocks noGrp="1"/>
          </p:cNvSpPr>
          <p:nvPr>
            <p:ph type="title"/>
          </p:nvPr>
        </p:nvSpPr>
        <p:spPr/>
        <p:txBody>
          <a:bodyPr/>
          <a:lstStyle/>
          <a:p>
            <a:r>
              <a:rPr lang="es-ES" dirty="0"/>
              <a:t>EJEMPLO 10. Consulta correlacionada</a:t>
            </a:r>
          </a:p>
        </p:txBody>
      </p:sp>
      <p:sp>
        <p:nvSpPr>
          <p:cNvPr id="3" name="Marcador de contenido 2">
            <a:extLst>
              <a:ext uri="{FF2B5EF4-FFF2-40B4-BE49-F238E27FC236}">
                <a16:creationId xmlns:a16="http://schemas.microsoft.com/office/drawing/2014/main" id="{517A9C62-690D-76A6-F3DF-92244DD2532F}"/>
              </a:ext>
            </a:extLst>
          </p:cNvPr>
          <p:cNvSpPr>
            <a:spLocks noGrp="1"/>
          </p:cNvSpPr>
          <p:nvPr>
            <p:ph idx="1"/>
          </p:nvPr>
        </p:nvSpPr>
        <p:spPr/>
        <p:txBody>
          <a:bodyPr>
            <a:normAutofit/>
          </a:bodyPr>
          <a:lstStyle/>
          <a:p>
            <a:r>
              <a:rPr lang="es-ES" sz="2400" b="1" dirty="0"/>
              <a:t>Ejemplo 10:</a:t>
            </a:r>
            <a:r>
              <a:rPr lang="es-ES" sz="2400" dirty="0"/>
              <a:t> Suponiendo que en la tabla clientes hay una columna NUMCONTRATOS para contener cuantos contratos ha realizado </a:t>
            </a:r>
            <a:r>
              <a:rPr lang="es-ES" sz="2400" dirty="0">
                <a:highlight>
                  <a:srgbClr val="00FFFF"/>
                </a:highlight>
              </a:rPr>
              <a:t>cada</a:t>
            </a:r>
            <a:r>
              <a:rPr lang="es-ES" sz="2400" dirty="0"/>
              <a:t> cliente. </a:t>
            </a:r>
          </a:p>
          <a:p>
            <a:endParaRPr lang="es-ES" sz="2400" dirty="0"/>
          </a:p>
          <a:p>
            <a:pPr marL="0" indent="0">
              <a:buNone/>
            </a:pPr>
            <a:r>
              <a:rPr lang="es-ES" altLang="es-ES" sz="2400" dirty="0">
                <a:solidFill>
                  <a:schemeClr val="accent1">
                    <a:lumMod val="75000"/>
                  </a:schemeClr>
                </a:solidFill>
              </a:rPr>
              <a:t>UPDATE </a:t>
            </a:r>
            <a:r>
              <a:rPr lang="es-ES" altLang="es-ES" sz="2400" dirty="0">
                <a:solidFill>
                  <a:schemeClr val="accent1">
                    <a:lumMod val="75000"/>
                  </a:schemeClr>
                </a:solidFill>
                <a:highlight>
                  <a:srgbClr val="FFFF00"/>
                </a:highlight>
              </a:rPr>
              <a:t>clientes</a:t>
            </a:r>
            <a:r>
              <a:rPr lang="es-ES" altLang="es-ES" sz="2400" dirty="0">
                <a:solidFill>
                  <a:schemeClr val="accent1">
                    <a:lumMod val="75000"/>
                  </a:schemeClr>
                </a:solidFill>
              </a:rPr>
              <a:t> </a:t>
            </a:r>
          </a:p>
          <a:p>
            <a:pPr marL="0" indent="0">
              <a:buNone/>
            </a:pPr>
            <a:r>
              <a:rPr lang="es-ES" altLang="es-ES" sz="2400" dirty="0">
                <a:solidFill>
                  <a:schemeClr val="accent1">
                    <a:lumMod val="75000"/>
                  </a:schemeClr>
                </a:solidFill>
              </a:rPr>
              <a:t>SET </a:t>
            </a:r>
            <a:r>
              <a:rPr lang="es-ES" altLang="es-ES" sz="2400" dirty="0" err="1">
                <a:solidFill>
                  <a:schemeClr val="accent1">
                    <a:lumMod val="75000"/>
                  </a:schemeClr>
                </a:solidFill>
              </a:rPr>
              <a:t>numcontratos</a:t>
            </a:r>
            <a:r>
              <a:rPr lang="es-ES" altLang="es-ES" sz="2400" dirty="0">
                <a:solidFill>
                  <a:schemeClr val="accent1">
                    <a:lumMod val="75000"/>
                  </a:schemeClr>
                </a:solidFill>
              </a:rPr>
              <a:t>= (SELECT </a:t>
            </a:r>
            <a:r>
              <a:rPr lang="es-ES" altLang="es-ES" sz="2400" dirty="0" err="1">
                <a:solidFill>
                  <a:schemeClr val="accent1">
                    <a:lumMod val="75000"/>
                  </a:schemeClr>
                </a:solidFill>
              </a:rPr>
              <a:t>count</a:t>
            </a:r>
            <a:r>
              <a:rPr lang="es-ES" altLang="es-ES" sz="2400" dirty="0">
                <a:solidFill>
                  <a:schemeClr val="accent1">
                    <a:lumMod val="75000"/>
                  </a:schemeClr>
                </a:solidFill>
              </a:rPr>
              <a:t>(*) FROM </a:t>
            </a:r>
            <a:r>
              <a:rPr lang="es-ES" altLang="es-ES" sz="2400" dirty="0">
                <a:solidFill>
                  <a:schemeClr val="accent1">
                    <a:lumMod val="75000"/>
                  </a:schemeClr>
                </a:solidFill>
                <a:highlight>
                  <a:srgbClr val="00FF00"/>
                </a:highlight>
              </a:rPr>
              <a:t>contratos</a:t>
            </a:r>
            <a:r>
              <a:rPr lang="es-ES" altLang="es-ES" sz="2400" dirty="0">
                <a:solidFill>
                  <a:schemeClr val="accent1">
                    <a:lumMod val="75000"/>
                  </a:schemeClr>
                </a:solidFill>
              </a:rPr>
              <a:t> WHERE </a:t>
            </a:r>
            <a:r>
              <a:rPr lang="es-ES" altLang="es-ES" sz="2400" dirty="0" err="1">
                <a:solidFill>
                  <a:schemeClr val="accent1">
                    <a:lumMod val="75000"/>
                  </a:schemeClr>
                </a:solidFill>
                <a:highlight>
                  <a:srgbClr val="FFFF00"/>
                </a:highlight>
              </a:rPr>
              <a:t>dni</a:t>
            </a:r>
            <a:r>
              <a:rPr lang="es-ES" altLang="es-ES" sz="2400" dirty="0">
                <a:solidFill>
                  <a:schemeClr val="accent1">
                    <a:lumMod val="75000"/>
                  </a:schemeClr>
                </a:solidFill>
              </a:rPr>
              <a:t>=</a:t>
            </a:r>
            <a:r>
              <a:rPr lang="es-ES" altLang="es-ES" sz="2400" dirty="0" err="1">
                <a:solidFill>
                  <a:schemeClr val="accent1">
                    <a:lumMod val="75000"/>
                  </a:schemeClr>
                </a:solidFill>
                <a:highlight>
                  <a:srgbClr val="00FF00"/>
                </a:highlight>
              </a:rPr>
              <a:t>dnicliente</a:t>
            </a:r>
            <a:r>
              <a:rPr lang="es-ES" altLang="es-ES" sz="2400" dirty="0">
                <a:solidFill>
                  <a:schemeClr val="accent1">
                    <a:lumMod val="75000"/>
                  </a:schemeClr>
                </a:solidFill>
              </a:rPr>
              <a:t>);</a:t>
            </a:r>
          </a:p>
          <a:p>
            <a:pPr marL="0" indent="0">
              <a:buNone/>
            </a:pPr>
            <a:endParaRPr lang="es-ES" altLang="es-ES" sz="2400" dirty="0">
              <a:solidFill>
                <a:schemeClr val="accent1">
                  <a:lumMod val="75000"/>
                </a:schemeClr>
              </a:solidFill>
            </a:endParaRPr>
          </a:p>
          <a:p>
            <a:r>
              <a:rPr lang="es-ES" sz="2400" dirty="0"/>
              <a:t>En este caso, se evalúa cada cliente, y se calcula cuantos contratos tiene.</a:t>
            </a:r>
          </a:p>
          <a:p>
            <a:endParaRPr lang="es-ES" dirty="0"/>
          </a:p>
        </p:txBody>
      </p:sp>
    </p:spTree>
    <p:extLst>
      <p:ext uri="{BB962C8B-B14F-4D97-AF65-F5344CB8AC3E}">
        <p14:creationId xmlns:p14="http://schemas.microsoft.com/office/powerpoint/2010/main" val="3206933114"/>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6FA6D70-E4BA-E006-9C71-10DE3833E85C}"/>
            </a:ext>
          </a:extLst>
        </p:cNvPr>
        <p:cNvGrpSpPr/>
        <p:nvPr/>
      </p:nvGrpSpPr>
      <p:grpSpPr>
        <a:xfrm>
          <a:off x="0" y="0"/>
          <a:ext cx="0" cy="0"/>
          <a:chOff x="0" y="0"/>
          <a:chExt cx="0" cy="0"/>
        </a:xfrm>
      </p:grpSpPr>
      <p:sp>
        <p:nvSpPr>
          <p:cNvPr id="2" name="Título 1">
            <a:extLst>
              <a:ext uri="{FF2B5EF4-FFF2-40B4-BE49-F238E27FC236}">
                <a16:creationId xmlns:a16="http://schemas.microsoft.com/office/drawing/2014/main" id="{6ADC0F2E-FC32-7405-2CC6-F66EB44C2B84}"/>
              </a:ext>
            </a:extLst>
          </p:cNvPr>
          <p:cNvSpPr>
            <a:spLocks noGrp="1"/>
          </p:cNvSpPr>
          <p:nvPr>
            <p:ph type="title"/>
          </p:nvPr>
        </p:nvSpPr>
        <p:spPr/>
        <p:txBody>
          <a:bodyPr/>
          <a:lstStyle/>
          <a:p>
            <a:r>
              <a:rPr lang="es-ES" dirty="0"/>
              <a:t>EJEMPLO 9. Consulta correlacionada</a:t>
            </a:r>
          </a:p>
        </p:txBody>
      </p:sp>
      <p:sp>
        <p:nvSpPr>
          <p:cNvPr id="3" name="Marcador de contenido 2">
            <a:extLst>
              <a:ext uri="{FF2B5EF4-FFF2-40B4-BE49-F238E27FC236}">
                <a16:creationId xmlns:a16="http://schemas.microsoft.com/office/drawing/2014/main" id="{03184BD0-8B61-202C-AA5F-CF039090D20F}"/>
              </a:ext>
            </a:extLst>
          </p:cNvPr>
          <p:cNvSpPr>
            <a:spLocks noGrp="1"/>
          </p:cNvSpPr>
          <p:nvPr>
            <p:ph idx="1"/>
          </p:nvPr>
        </p:nvSpPr>
        <p:spPr/>
        <p:txBody>
          <a:bodyPr>
            <a:normAutofit/>
          </a:bodyPr>
          <a:lstStyle/>
          <a:p>
            <a:r>
              <a:rPr lang="es-ES" sz="2400" b="1" dirty="0"/>
              <a:t>Ejemplo 9:</a:t>
            </a:r>
            <a:r>
              <a:rPr lang="es-ES" sz="2400" dirty="0"/>
              <a:t> Suponiendo que en la tabla clientes hay una columna NUMCONTRATOS para contener cuantos contratos ha realizado </a:t>
            </a:r>
            <a:r>
              <a:rPr lang="es-ES" sz="2400" dirty="0">
                <a:highlight>
                  <a:srgbClr val="00FFFF"/>
                </a:highlight>
              </a:rPr>
              <a:t>cada</a:t>
            </a:r>
            <a:r>
              <a:rPr lang="es-ES" sz="2400" dirty="0"/>
              <a:t> cliente, establecer en la columna NUMCONTRATOS el número de contratos realizados por Mariano Dorado. (Igual que la 10, pero especificando el nombre del cliente).</a:t>
            </a:r>
          </a:p>
          <a:p>
            <a:pPr marL="0" indent="0">
              <a:buNone/>
            </a:pPr>
            <a:r>
              <a:rPr lang="es-ES" altLang="es-ES" sz="2400" dirty="0">
                <a:solidFill>
                  <a:schemeClr val="accent1">
                    <a:lumMod val="75000"/>
                  </a:schemeClr>
                </a:solidFill>
              </a:rPr>
              <a:t>UPDATE </a:t>
            </a:r>
            <a:r>
              <a:rPr lang="es-ES" altLang="es-ES" sz="2400" dirty="0">
                <a:solidFill>
                  <a:schemeClr val="accent1">
                    <a:lumMod val="75000"/>
                  </a:schemeClr>
                </a:solidFill>
                <a:highlight>
                  <a:srgbClr val="FFFF00"/>
                </a:highlight>
              </a:rPr>
              <a:t>clientes</a:t>
            </a:r>
            <a:r>
              <a:rPr lang="es-ES" altLang="es-ES" sz="2400" dirty="0">
                <a:solidFill>
                  <a:schemeClr val="accent1">
                    <a:lumMod val="75000"/>
                  </a:schemeClr>
                </a:solidFill>
              </a:rPr>
              <a:t> </a:t>
            </a:r>
          </a:p>
          <a:p>
            <a:pPr marL="0" indent="0">
              <a:buNone/>
            </a:pPr>
            <a:r>
              <a:rPr lang="es-ES" altLang="es-ES" sz="2400" dirty="0">
                <a:solidFill>
                  <a:schemeClr val="accent1">
                    <a:lumMod val="75000"/>
                  </a:schemeClr>
                </a:solidFill>
              </a:rPr>
              <a:t>SET </a:t>
            </a:r>
            <a:r>
              <a:rPr lang="es-ES" altLang="es-ES" sz="2400" dirty="0" err="1">
                <a:solidFill>
                  <a:schemeClr val="accent1">
                    <a:lumMod val="75000"/>
                  </a:schemeClr>
                </a:solidFill>
              </a:rPr>
              <a:t>numcontratos</a:t>
            </a:r>
            <a:r>
              <a:rPr lang="es-ES" altLang="es-ES" sz="2400" dirty="0">
                <a:solidFill>
                  <a:schemeClr val="accent1">
                    <a:lumMod val="75000"/>
                  </a:schemeClr>
                </a:solidFill>
              </a:rPr>
              <a:t>= (SELECT </a:t>
            </a:r>
            <a:r>
              <a:rPr lang="es-ES" altLang="es-ES" sz="2400" dirty="0" err="1">
                <a:solidFill>
                  <a:schemeClr val="accent1">
                    <a:lumMod val="75000"/>
                  </a:schemeClr>
                </a:solidFill>
              </a:rPr>
              <a:t>count</a:t>
            </a:r>
            <a:r>
              <a:rPr lang="es-ES" altLang="es-ES" sz="2400" dirty="0">
                <a:solidFill>
                  <a:schemeClr val="accent1">
                    <a:lumMod val="75000"/>
                  </a:schemeClr>
                </a:solidFill>
              </a:rPr>
              <a:t>(*) FROM </a:t>
            </a:r>
            <a:r>
              <a:rPr lang="es-ES" altLang="es-ES" sz="2400" dirty="0">
                <a:solidFill>
                  <a:schemeClr val="accent1">
                    <a:lumMod val="75000"/>
                  </a:schemeClr>
                </a:solidFill>
                <a:highlight>
                  <a:srgbClr val="00FF00"/>
                </a:highlight>
              </a:rPr>
              <a:t>contratos</a:t>
            </a:r>
            <a:r>
              <a:rPr lang="es-ES" altLang="es-ES" sz="2400" dirty="0">
                <a:solidFill>
                  <a:schemeClr val="accent1">
                    <a:lumMod val="75000"/>
                  </a:schemeClr>
                </a:solidFill>
              </a:rPr>
              <a:t> WHERE </a:t>
            </a:r>
            <a:r>
              <a:rPr lang="es-ES" altLang="es-ES" sz="2400" dirty="0" err="1">
                <a:solidFill>
                  <a:schemeClr val="accent1">
                    <a:lumMod val="75000"/>
                  </a:schemeClr>
                </a:solidFill>
                <a:highlight>
                  <a:srgbClr val="FFFF00"/>
                </a:highlight>
              </a:rPr>
              <a:t>dni</a:t>
            </a:r>
            <a:r>
              <a:rPr lang="es-ES" altLang="es-ES" sz="2400" dirty="0">
                <a:solidFill>
                  <a:schemeClr val="accent1">
                    <a:lumMod val="75000"/>
                  </a:schemeClr>
                </a:solidFill>
              </a:rPr>
              <a:t>=</a:t>
            </a:r>
            <a:r>
              <a:rPr lang="es-ES" altLang="es-ES" sz="2400" dirty="0" err="1">
                <a:solidFill>
                  <a:schemeClr val="accent1">
                    <a:lumMod val="75000"/>
                  </a:schemeClr>
                </a:solidFill>
                <a:highlight>
                  <a:srgbClr val="00FF00"/>
                </a:highlight>
              </a:rPr>
              <a:t>dnicliente</a:t>
            </a:r>
            <a:r>
              <a:rPr lang="es-ES" altLang="es-ES" sz="2400" dirty="0">
                <a:solidFill>
                  <a:schemeClr val="accent1">
                    <a:lumMod val="75000"/>
                  </a:schemeClr>
                </a:solidFill>
              </a:rPr>
              <a:t>)</a:t>
            </a:r>
          </a:p>
          <a:p>
            <a:pPr marL="0" indent="0">
              <a:buNone/>
            </a:pPr>
            <a:r>
              <a:rPr lang="es-ES" altLang="es-ES" sz="2400" dirty="0">
                <a:solidFill>
                  <a:schemeClr val="accent1">
                    <a:lumMod val="75000"/>
                  </a:schemeClr>
                </a:solidFill>
              </a:rPr>
              <a:t>WHERE nombre='Mariano' AND apellidos='Dorado’; </a:t>
            </a:r>
          </a:p>
          <a:p>
            <a:r>
              <a:rPr lang="es-ES" sz="2400" dirty="0"/>
              <a:t>En este caso, se evalúa cada cliente, y se calcula cuantos contratos tiene.</a:t>
            </a:r>
          </a:p>
          <a:p>
            <a:endParaRPr lang="es-ES" dirty="0"/>
          </a:p>
        </p:txBody>
      </p:sp>
    </p:spTree>
    <p:extLst>
      <p:ext uri="{BB962C8B-B14F-4D97-AF65-F5344CB8AC3E}">
        <p14:creationId xmlns:p14="http://schemas.microsoft.com/office/powerpoint/2010/main" val="93680163"/>
      </p:ext>
    </p:extLst>
  </p:cSld>
  <p:clrMapOvr>
    <a:masterClrMapping/>
  </p:clrMapOvr>
</p:sld>
</file>

<file path=ppt/theme/theme1.xml><?xml version="1.0" encoding="utf-8"?>
<a:theme xmlns:a="http://schemas.openxmlformats.org/drawingml/2006/main" name="Tema de Offic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Tema de Offic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106</TotalTime>
  <Words>1749</Words>
  <Application>Microsoft Office PowerPoint</Application>
  <PresentationFormat>Panorámica</PresentationFormat>
  <Paragraphs>159</Paragraphs>
  <Slides>20</Slides>
  <Notes>1</Notes>
  <HiddenSlides>0</HiddenSlides>
  <MMClips>1</MMClips>
  <ScaleCrop>false</ScaleCrop>
  <HeadingPairs>
    <vt:vector size="6" baseType="variant">
      <vt:variant>
        <vt:lpstr>Fuentes usadas</vt:lpstr>
      </vt:variant>
      <vt:variant>
        <vt:i4>3</vt:i4>
      </vt:variant>
      <vt:variant>
        <vt:lpstr>Tema</vt:lpstr>
      </vt:variant>
      <vt:variant>
        <vt:i4>1</vt:i4>
      </vt:variant>
      <vt:variant>
        <vt:lpstr>Títulos de diapositiva</vt:lpstr>
      </vt:variant>
      <vt:variant>
        <vt:i4>20</vt:i4>
      </vt:variant>
    </vt:vector>
  </HeadingPairs>
  <TitlesOfParts>
    <vt:vector size="24" baseType="lpstr">
      <vt:lpstr>Aptos</vt:lpstr>
      <vt:lpstr>Aptos Display</vt:lpstr>
      <vt:lpstr>Arial</vt:lpstr>
      <vt:lpstr>Tema de Office</vt:lpstr>
      <vt:lpstr>ACTUALIZACIONES AVANZADAS</vt:lpstr>
      <vt:lpstr>Indice de ejemplos</vt:lpstr>
      <vt:lpstr>EJEMPLO 1</vt:lpstr>
      <vt:lpstr>EJEMPLO 1</vt:lpstr>
      <vt:lpstr>EJEMPLO 2</vt:lpstr>
      <vt:lpstr>EJEMPLO 3</vt:lpstr>
      <vt:lpstr>EJEMPLO 4</vt:lpstr>
      <vt:lpstr>EJEMPLO 4</vt:lpstr>
      <vt:lpstr>EJEMPLO 4</vt:lpstr>
      <vt:lpstr>EJEMPLO 5</vt:lpstr>
      <vt:lpstr>EJEMPLO 5</vt:lpstr>
      <vt:lpstr>EJEMPLO 6. Consulta correlacionada</vt:lpstr>
      <vt:lpstr>EJEMPLO 6 . Consulta correlacionada</vt:lpstr>
      <vt:lpstr>EJEMPLO 6 . Consulta correlacionada</vt:lpstr>
      <vt:lpstr>EJEMPLO 7. Consulta correlacionada</vt:lpstr>
      <vt:lpstr>EJEMPLO 7. Consulta correlacionada</vt:lpstr>
      <vt:lpstr>EJEMPLO 8</vt:lpstr>
      <vt:lpstr>EJEMPLO 8</vt:lpstr>
      <vt:lpstr>EJEMPLO 10. Consulta correlacionada</vt:lpstr>
      <vt:lpstr>EJEMPLO 9. Consulta correlacionada</vt:lpstr>
    </vt:vector>
  </TitlesOfParts>
  <Company>HP</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Nuria Celis Nieto</dc:creator>
  <cp:lastModifiedBy>Nuria Celis Nieto</cp:lastModifiedBy>
  <cp:revision>5</cp:revision>
  <dcterms:created xsi:type="dcterms:W3CDTF">2026-04-01T14:47:08Z</dcterms:created>
  <dcterms:modified xsi:type="dcterms:W3CDTF">2026-04-07T16:38:52Z</dcterms:modified>
</cp:coreProperties>
</file>