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300" r:id="rId3"/>
    <p:sldId id="288" r:id="rId4"/>
    <p:sldId id="301" r:id="rId5"/>
    <p:sldId id="308" r:id="rId6"/>
    <p:sldId id="309" r:id="rId7"/>
    <p:sldId id="289" r:id="rId8"/>
    <p:sldId id="290" r:id="rId9"/>
    <p:sldId id="291" r:id="rId10"/>
    <p:sldId id="302" r:id="rId11"/>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E86C53-7760-44D1-8DDF-EE9F931C7372}" type="datetimeFigureOut">
              <a:rPr lang="es-ES" smtClean="0"/>
              <a:t>10/04/2026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84ED90-76A4-42DC-8842-F1D9D40CBAE5}" type="slidenum">
              <a:rPr lang="es-ES" smtClean="0"/>
              <a:t>‹Nº›</a:t>
            </a:fld>
            <a:endParaRPr lang="es-ES"/>
          </a:p>
        </p:txBody>
      </p:sp>
    </p:spTree>
    <p:extLst>
      <p:ext uri="{BB962C8B-B14F-4D97-AF65-F5344CB8AC3E}">
        <p14:creationId xmlns:p14="http://schemas.microsoft.com/office/powerpoint/2010/main" val="35660794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897ED2-D145-015D-4515-CA42165723DB}"/>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A8147A5C-48C5-29DF-F36F-8852917D7C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31F27523-5284-AC22-829D-C098CE6CB06A}"/>
              </a:ext>
            </a:extLst>
          </p:cNvPr>
          <p:cNvSpPr>
            <a:spLocks noGrp="1"/>
          </p:cNvSpPr>
          <p:nvPr>
            <p:ph type="dt" sz="half" idx="10"/>
          </p:nvPr>
        </p:nvSpPr>
        <p:spPr/>
        <p:txBody>
          <a:bodyPr/>
          <a:lstStyle/>
          <a:p>
            <a:fld id="{39DC9414-7FF3-4F08-94BE-4349B872A7C2}" type="datetimeFigureOut">
              <a:rPr lang="es-ES" smtClean="0"/>
              <a:t>10/04/2026</a:t>
            </a:fld>
            <a:endParaRPr lang="es-ES"/>
          </a:p>
        </p:txBody>
      </p:sp>
      <p:sp>
        <p:nvSpPr>
          <p:cNvPr id="5" name="Marcador de pie de página 4">
            <a:extLst>
              <a:ext uri="{FF2B5EF4-FFF2-40B4-BE49-F238E27FC236}">
                <a16:creationId xmlns:a16="http://schemas.microsoft.com/office/drawing/2014/main" id="{92A31471-2F0D-10EC-584B-D766C9365E3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E50FBAB-7F67-A296-5C11-CBC458CADCF6}"/>
              </a:ext>
            </a:extLst>
          </p:cNvPr>
          <p:cNvSpPr>
            <a:spLocks noGrp="1"/>
          </p:cNvSpPr>
          <p:nvPr>
            <p:ph type="sldNum" sz="quarter" idx="12"/>
          </p:nvPr>
        </p:nvSpPr>
        <p:spPr/>
        <p:txBody>
          <a:bodyPr/>
          <a:lstStyle/>
          <a:p>
            <a:fld id="{0D13620A-5829-4273-A5A6-3A7D6044478A}" type="slidenum">
              <a:rPr lang="es-ES" smtClean="0"/>
              <a:t>‹Nº›</a:t>
            </a:fld>
            <a:endParaRPr lang="es-ES"/>
          </a:p>
        </p:txBody>
      </p:sp>
    </p:spTree>
    <p:extLst>
      <p:ext uri="{BB962C8B-B14F-4D97-AF65-F5344CB8AC3E}">
        <p14:creationId xmlns:p14="http://schemas.microsoft.com/office/powerpoint/2010/main" val="917237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D30D42-8B03-CEA5-8C57-E6B8BF64BD90}"/>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276B1511-A80E-23C6-E9D0-93BA66DAB992}"/>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22A091B8-87EC-C43F-42CE-F24868105001}"/>
              </a:ext>
            </a:extLst>
          </p:cNvPr>
          <p:cNvSpPr>
            <a:spLocks noGrp="1"/>
          </p:cNvSpPr>
          <p:nvPr>
            <p:ph type="dt" sz="half" idx="10"/>
          </p:nvPr>
        </p:nvSpPr>
        <p:spPr/>
        <p:txBody>
          <a:bodyPr/>
          <a:lstStyle/>
          <a:p>
            <a:fld id="{39DC9414-7FF3-4F08-94BE-4349B872A7C2}" type="datetimeFigureOut">
              <a:rPr lang="es-ES" smtClean="0"/>
              <a:t>10/04/2026</a:t>
            </a:fld>
            <a:endParaRPr lang="es-ES"/>
          </a:p>
        </p:txBody>
      </p:sp>
      <p:sp>
        <p:nvSpPr>
          <p:cNvPr id="5" name="Marcador de pie de página 4">
            <a:extLst>
              <a:ext uri="{FF2B5EF4-FFF2-40B4-BE49-F238E27FC236}">
                <a16:creationId xmlns:a16="http://schemas.microsoft.com/office/drawing/2014/main" id="{C10E8E5B-4117-8D96-7CF9-972459F8738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A6A57D51-EB6C-3FAE-C726-72ACA410C65F}"/>
              </a:ext>
            </a:extLst>
          </p:cNvPr>
          <p:cNvSpPr>
            <a:spLocks noGrp="1"/>
          </p:cNvSpPr>
          <p:nvPr>
            <p:ph type="sldNum" sz="quarter" idx="12"/>
          </p:nvPr>
        </p:nvSpPr>
        <p:spPr/>
        <p:txBody>
          <a:bodyPr/>
          <a:lstStyle/>
          <a:p>
            <a:fld id="{0D13620A-5829-4273-A5A6-3A7D6044478A}" type="slidenum">
              <a:rPr lang="es-ES" smtClean="0"/>
              <a:t>‹Nº›</a:t>
            </a:fld>
            <a:endParaRPr lang="es-ES"/>
          </a:p>
        </p:txBody>
      </p:sp>
    </p:spTree>
    <p:extLst>
      <p:ext uri="{BB962C8B-B14F-4D97-AF65-F5344CB8AC3E}">
        <p14:creationId xmlns:p14="http://schemas.microsoft.com/office/powerpoint/2010/main" val="3337006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C4FF5F-B080-0F33-11CC-5D69C399FE1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840098A1-C9FB-1B4A-997F-1AB3B0577EA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A3C72F6-9CA9-398F-7009-655FC7244A19}"/>
              </a:ext>
            </a:extLst>
          </p:cNvPr>
          <p:cNvSpPr>
            <a:spLocks noGrp="1"/>
          </p:cNvSpPr>
          <p:nvPr>
            <p:ph type="dt" sz="half" idx="10"/>
          </p:nvPr>
        </p:nvSpPr>
        <p:spPr/>
        <p:txBody>
          <a:bodyPr/>
          <a:lstStyle/>
          <a:p>
            <a:fld id="{39DC9414-7FF3-4F08-94BE-4349B872A7C2}" type="datetimeFigureOut">
              <a:rPr lang="es-ES" smtClean="0"/>
              <a:t>10/04/2026</a:t>
            </a:fld>
            <a:endParaRPr lang="es-ES"/>
          </a:p>
        </p:txBody>
      </p:sp>
      <p:sp>
        <p:nvSpPr>
          <p:cNvPr id="5" name="Marcador de pie de página 4">
            <a:extLst>
              <a:ext uri="{FF2B5EF4-FFF2-40B4-BE49-F238E27FC236}">
                <a16:creationId xmlns:a16="http://schemas.microsoft.com/office/drawing/2014/main" id="{22642E1D-91E6-5A4C-CFD7-BE63F35E822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BE368AA-BA1B-4479-398A-C9832A9678E8}"/>
              </a:ext>
            </a:extLst>
          </p:cNvPr>
          <p:cNvSpPr>
            <a:spLocks noGrp="1"/>
          </p:cNvSpPr>
          <p:nvPr>
            <p:ph type="sldNum" sz="quarter" idx="12"/>
          </p:nvPr>
        </p:nvSpPr>
        <p:spPr/>
        <p:txBody>
          <a:bodyPr/>
          <a:lstStyle/>
          <a:p>
            <a:fld id="{0D13620A-5829-4273-A5A6-3A7D6044478A}" type="slidenum">
              <a:rPr lang="es-ES" smtClean="0"/>
              <a:t>‹Nº›</a:t>
            </a:fld>
            <a:endParaRPr lang="es-ES"/>
          </a:p>
        </p:txBody>
      </p:sp>
    </p:spTree>
    <p:extLst>
      <p:ext uri="{BB962C8B-B14F-4D97-AF65-F5344CB8AC3E}">
        <p14:creationId xmlns:p14="http://schemas.microsoft.com/office/powerpoint/2010/main" val="1534154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A8A224-C330-1490-C808-77463486E846}"/>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717EB913-52F5-D192-9714-131AF2536CB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D2141D9F-749E-0700-14E6-A537765F6B74}"/>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C4BE7491-96B4-ABA4-BEA7-6E54685B8757}"/>
              </a:ext>
            </a:extLst>
          </p:cNvPr>
          <p:cNvSpPr>
            <a:spLocks noGrp="1"/>
          </p:cNvSpPr>
          <p:nvPr>
            <p:ph type="dt" sz="half" idx="10"/>
          </p:nvPr>
        </p:nvSpPr>
        <p:spPr/>
        <p:txBody>
          <a:bodyPr/>
          <a:lstStyle/>
          <a:p>
            <a:fld id="{39DC9414-7FF3-4F08-94BE-4349B872A7C2}" type="datetimeFigureOut">
              <a:rPr lang="es-ES" smtClean="0"/>
              <a:t>10/04/2026</a:t>
            </a:fld>
            <a:endParaRPr lang="es-ES"/>
          </a:p>
        </p:txBody>
      </p:sp>
      <p:sp>
        <p:nvSpPr>
          <p:cNvPr id="6" name="Marcador de pie de página 5">
            <a:extLst>
              <a:ext uri="{FF2B5EF4-FFF2-40B4-BE49-F238E27FC236}">
                <a16:creationId xmlns:a16="http://schemas.microsoft.com/office/drawing/2014/main" id="{AEB654F7-36F9-C2DC-58AA-D03F21EDA9D4}"/>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63BD393-4168-BE43-C11C-5B68F8C54B6B}"/>
              </a:ext>
            </a:extLst>
          </p:cNvPr>
          <p:cNvSpPr>
            <a:spLocks noGrp="1"/>
          </p:cNvSpPr>
          <p:nvPr>
            <p:ph type="sldNum" sz="quarter" idx="12"/>
          </p:nvPr>
        </p:nvSpPr>
        <p:spPr/>
        <p:txBody>
          <a:bodyPr/>
          <a:lstStyle/>
          <a:p>
            <a:fld id="{0D13620A-5829-4273-A5A6-3A7D6044478A}" type="slidenum">
              <a:rPr lang="es-ES" smtClean="0"/>
              <a:t>‹Nº›</a:t>
            </a:fld>
            <a:endParaRPr lang="es-ES"/>
          </a:p>
        </p:txBody>
      </p:sp>
    </p:spTree>
    <p:extLst>
      <p:ext uri="{BB962C8B-B14F-4D97-AF65-F5344CB8AC3E}">
        <p14:creationId xmlns:p14="http://schemas.microsoft.com/office/powerpoint/2010/main" val="21491466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B5F678-F342-22A9-ED53-60C604A5F5C8}"/>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4A888E82-C40B-2BED-48E7-BB98768198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76285B1-D24D-AFB7-C366-0109A52D17EC}"/>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07461665-FD28-B7C6-1722-91E15EE078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50C9C6B-F4E5-A20D-393E-9714E4776370}"/>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A2EAFCF8-396D-FBC9-269C-A41891FDE0D8}"/>
              </a:ext>
            </a:extLst>
          </p:cNvPr>
          <p:cNvSpPr>
            <a:spLocks noGrp="1"/>
          </p:cNvSpPr>
          <p:nvPr>
            <p:ph type="dt" sz="half" idx="10"/>
          </p:nvPr>
        </p:nvSpPr>
        <p:spPr/>
        <p:txBody>
          <a:bodyPr/>
          <a:lstStyle/>
          <a:p>
            <a:fld id="{39DC9414-7FF3-4F08-94BE-4349B872A7C2}" type="datetimeFigureOut">
              <a:rPr lang="es-ES" smtClean="0"/>
              <a:t>10/04/2026</a:t>
            </a:fld>
            <a:endParaRPr lang="es-ES"/>
          </a:p>
        </p:txBody>
      </p:sp>
      <p:sp>
        <p:nvSpPr>
          <p:cNvPr id="8" name="Marcador de pie de página 7">
            <a:extLst>
              <a:ext uri="{FF2B5EF4-FFF2-40B4-BE49-F238E27FC236}">
                <a16:creationId xmlns:a16="http://schemas.microsoft.com/office/drawing/2014/main" id="{E3833B71-2B86-BEF3-BD78-1BC851AAFAF9}"/>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02E13842-3755-F3ED-59F7-13C3A4077420}"/>
              </a:ext>
            </a:extLst>
          </p:cNvPr>
          <p:cNvSpPr>
            <a:spLocks noGrp="1"/>
          </p:cNvSpPr>
          <p:nvPr>
            <p:ph type="sldNum" sz="quarter" idx="12"/>
          </p:nvPr>
        </p:nvSpPr>
        <p:spPr/>
        <p:txBody>
          <a:bodyPr/>
          <a:lstStyle/>
          <a:p>
            <a:fld id="{0D13620A-5829-4273-A5A6-3A7D6044478A}" type="slidenum">
              <a:rPr lang="es-ES" smtClean="0"/>
              <a:t>‹Nº›</a:t>
            </a:fld>
            <a:endParaRPr lang="es-ES"/>
          </a:p>
        </p:txBody>
      </p:sp>
    </p:spTree>
    <p:extLst>
      <p:ext uri="{BB962C8B-B14F-4D97-AF65-F5344CB8AC3E}">
        <p14:creationId xmlns:p14="http://schemas.microsoft.com/office/powerpoint/2010/main" val="1094575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F165AB-3BF7-5B43-D362-F70118078FA6}"/>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BD153B19-D299-293E-D1F9-37FA425BF84C}"/>
              </a:ext>
            </a:extLst>
          </p:cNvPr>
          <p:cNvSpPr>
            <a:spLocks noGrp="1"/>
          </p:cNvSpPr>
          <p:nvPr>
            <p:ph type="dt" sz="half" idx="10"/>
          </p:nvPr>
        </p:nvSpPr>
        <p:spPr/>
        <p:txBody>
          <a:bodyPr/>
          <a:lstStyle/>
          <a:p>
            <a:fld id="{39DC9414-7FF3-4F08-94BE-4349B872A7C2}" type="datetimeFigureOut">
              <a:rPr lang="es-ES" smtClean="0"/>
              <a:t>10/04/2026</a:t>
            </a:fld>
            <a:endParaRPr lang="es-ES"/>
          </a:p>
        </p:txBody>
      </p:sp>
      <p:sp>
        <p:nvSpPr>
          <p:cNvPr id="4" name="Marcador de pie de página 3">
            <a:extLst>
              <a:ext uri="{FF2B5EF4-FFF2-40B4-BE49-F238E27FC236}">
                <a16:creationId xmlns:a16="http://schemas.microsoft.com/office/drawing/2014/main" id="{87EA5ACD-E509-7385-75E8-5E3141F4019D}"/>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ADB34EFE-0363-BB8C-7592-B4A599A9E4D2}"/>
              </a:ext>
            </a:extLst>
          </p:cNvPr>
          <p:cNvSpPr>
            <a:spLocks noGrp="1"/>
          </p:cNvSpPr>
          <p:nvPr>
            <p:ph type="sldNum" sz="quarter" idx="12"/>
          </p:nvPr>
        </p:nvSpPr>
        <p:spPr/>
        <p:txBody>
          <a:bodyPr/>
          <a:lstStyle/>
          <a:p>
            <a:fld id="{0D13620A-5829-4273-A5A6-3A7D6044478A}" type="slidenum">
              <a:rPr lang="es-ES" smtClean="0"/>
              <a:t>‹Nº›</a:t>
            </a:fld>
            <a:endParaRPr lang="es-ES"/>
          </a:p>
        </p:txBody>
      </p:sp>
    </p:spTree>
    <p:extLst>
      <p:ext uri="{BB962C8B-B14F-4D97-AF65-F5344CB8AC3E}">
        <p14:creationId xmlns:p14="http://schemas.microsoft.com/office/powerpoint/2010/main" val="2643881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9748C13-F4C5-B7D5-9799-6ECF809351A7}"/>
              </a:ext>
            </a:extLst>
          </p:cNvPr>
          <p:cNvSpPr>
            <a:spLocks noGrp="1"/>
          </p:cNvSpPr>
          <p:nvPr>
            <p:ph type="dt" sz="half" idx="10"/>
          </p:nvPr>
        </p:nvSpPr>
        <p:spPr/>
        <p:txBody>
          <a:bodyPr/>
          <a:lstStyle/>
          <a:p>
            <a:fld id="{39DC9414-7FF3-4F08-94BE-4349B872A7C2}" type="datetimeFigureOut">
              <a:rPr lang="es-ES" smtClean="0"/>
              <a:t>10/04/2026</a:t>
            </a:fld>
            <a:endParaRPr lang="es-ES"/>
          </a:p>
        </p:txBody>
      </p:sp>
      <p:sp>
        <p:nvSpPr>
          <p:cNvPr id="3" name="Marcador de pie de página 2">
            <a:extLst>
              <a:ext uri="{FF2B5EF4-FFF2-40B4-BE49-F238E27FC236}">
                <a16:creationId xmlns:a16="http://schemas.microsoft.com/office/drawing/2014/main" id="{3363D828-5CF9-B8CB-95A8-3C09F1C16FCF}"/>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89417E26-8C07-BF4C-3650-85BF9C225108}"/>
              </a:ext>
            </a:extLst>
          </p:cNvPr>
          <p:cNvSpPr>
            <a:spLocks noGrp="1"/>
          </p:cNvSpPr>
          <p:nvPr>
            <p:ph type="sldNum" sz="quarter" idx="12"/>
          </p:nvPr>
        </p:nvSpPr>
        <p:spPr/>
        <p:txBody>
          <a:bodyPr/>
          <a:lstStyle/>
          <a:p>
            <a:fld id="{0D13620A-5829-4273-A5A6-3A7D6044478A}" type="slidenum">
              <a:rPr lang="es-ES" smtClean="0"/>
              <a:t>‹Nº›</a:t>
            </a:fld>
            <a:endParaRPr lang="es-ES"/>
          </a:p>
        </p:txBody>
      </p:sp>
    </p:spTree>
    <p:extLst>
      <p:ext uri="{BB962C8B-B14F-4D97-AF65-F5344CB8AC3E}">
        <p14:creationId xmlns:p14="http://schemas.microsoft.com/office/powerpoint/2010/main" val="535853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F56F2D-D579-31E3-FBFC-75C9E81456C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96BF88F6-7786-C10B-6FC4-B913E8FF73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CA1A6971-2F12-F136-8E7B-C758ACAA38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22F9AB8-96A1-5BCA-15A6-86B2009CF921}"/>
              </a:ext>
            </a:extLst>
          </p:cNvPr>
          <p:cNvSpPr>
            <a:spLocks noGrp="1"/>
          </p:cNvSpPr>
          <p:nvPr>
            <p:ph type="dt" sz="half" idx="10"/>
          </p:nvPr>
        </p:nvSpPr>
        <p:spPr/>
        <p:txBody>
          <a:bodyPr/>
          <a:lstStyle/>
          <a:p>
            <a:fld id="{39DC9414-7FF3-4F08-94BE-4349B872A7C2}" type="datetimeFigureOut">
              <a:rPr lang="es-ES" smtClean="0"/>
              <a:t>10/04/2026</a:t>
            </a:fld>
            <a:endParaRPr lang="es-ES"/>
          </a:p>
        </p:txBody>
      </p:sp>
      <p:sp>
        <p:nvSpPr>
          <p:cNvPr id="6" name="Marcador de pie de página 5">
            <a:extLst>
              <a:ext uri="{FF2B5EF4-FFF2-40B4-BE49-F238E27FC236}">
                <a16:creationId xmlns:a16="http://schemas.microsoft.com/office/drawing/2014/main" id="{63515E12-0741-B469-E37E-F18BB9F3FFAC}"/>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DF57D0E8-44D9-FB3A-5B60-3863383FE648}"/>
              </a:ext>
            </a:extLst>
          </p:cNvPr>
          <p:cNvSpPr>
            <a:spLocks noGrp="1"/>
          </p:cNvSpPr>
          <p:nvPr>
            <p:ph type="sldNum" sz="quarter" idx="12"/>
          </p:nvPr>
        </p:nvSpPr>
        <p:spPr/>
        <p:txBody>
          <a:bodyPr/>
          <a:lstStyle/>
          <a:p>
            <a:fld id="{0D13620A-5829-4273-A5A6-3A7D6044478A}" type="slidenum">
              <a:rPr lang="es-ES" smtClean="0"/>
              <a:t>‹Nº›</a:t>
            </a:fld>
            <a:endParaRPr lang="es-ES"/>
          </a:p>
        </p:txBody>
      </p:sp>
    </p:spTree>
    <p:extLst>
      <p:ext uri="{BB962C8B-B14F-4D97-AF65-F5344CB8AC3E}">
        <p14:creationId xmlns:p14="http://schemas.microsoft.com/office/powerpoint/2010/main" val="3890545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CFE1F9-F97D-4656-4529-03EE98AC70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F669A44D-C94F-FD7F-9909-F68201AD8B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DC01BE0E-3977-5D52-4E50-B958AA7A68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6278DD8-B388-FDED-EC57-4967BD8D1BF1}"/>
              </a:ext>
            </a:extLst>
          </p:cNvPr>
          <p:cNvSpPr>
            <a:spLocks noGrp="1"/>
          </p:cNvSpPr>
          <p:nvPr>
            <p:ph type="dt" sz="half" idx="10"/>
          </p:nvPr>
        </p:nvSpPr>
        <p:spPr/>
        <p:txBody>
          <a:bodyPr/>
          <a:lstStyle/>
          <a:p>
            <a:fld id="{39DC9414-7FF3-4F08-94BE-4349B872A7C2}" type="datetimeFigureOut">
              <a:rPr lang="es-ES" smtClean="0"/>
              <a:t>10/04/2026</a:t>
            </a:fld>
            <a:endParaRPr lang="es-ES"/>
          </a:p>
        </p:txBody>
      </p:sp>
      <p:sp>
        <p:nvSpPr>
          <p:cNvPr id="6" name="Marcador de pie de página 5">
            <a:extLst>
              <a:ext uri="{FF2B5EF4-FFF2-40B4-BE49-F238E27FC236}">
                <a16:creationId xmlns:a16="http://schemas.microsoft.com/office/drawing/2014/main" id="{B1C2E97F-91D2-08C0-ADEE-660F2331C55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3F64EFB8-ADF5-566B-071A-B4AB7965979B}"/>
              </a:ext>
            </a:extLst>
          </p:cNvPr>
          <p:cNvSpPr>
            <a:spLocks noGrp="1"/>
          </p:cNvSpPr>
          <p:nvPr>
            <p:ph type="sldNum" sz="quarter" idx="12"/>
          </p:nvPr>
        </p:nvSpPr>
        <p:spPr/>
        <p:txBody>
          <a:bodyPr/>
          <a:lstStyle/>
          <a:p>
            <a:fld id="{0D13620A-5829-4273-A5A6-3A7D6044478A}" type="slidenum">
              <a:rPr lang="es-ES" smtClean="0"/>
              <a:t>‹Nº›</a:t>
            </a:fld>
            <a:endParaRPr lang="es-ES"/>
          </a:p>
        </p:txBody>
      </p:sp>
    </p:spTree>
    <p:extLst>
      <p:ext uri="{BB962C8B-B14F-4D97-AF65-F5344CB8AC3E}">
        <p14:creationId xmlns:p14="http://schemas.microsoft.com/office/powerpoint/2010/main" val="3971422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7E760C-AEA2-C06E-DF7C-CCD9BAA90B5B}"/>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5FDB2566-EA34-8419-7EAF-88789EFFBAF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3A49239D-A801-E0B6-42E8-E7131A1F5E80}"/>
              </a:ext>
            </a:extLst>
          </p:cNvPr>
          <p:cNvSpPr>
            <a:spLocks noGrp="1"/>
          </p:cNvSpPr>
          <p:nvPr>
            <p:ph type="dt" sz="half" idx="10"/>
          </p:nvPr>
        </p:nvSpPr>
        <p:spPr/>
        <p:txBody>
          <a:bodyPr/>
          <a:lstStyle/>
          <a:p>
            <a:fld id="{39DC9414-7FF3-4F08-94BE-4349B872A7C2}" type="datetimeFigureOut">
              <a:rPr lang="es-ES" smtClean="0"/>
              <a:t>10/04/2026</a:t>
            </a:fld>
            <a:endParaRPr lang="es-ES"/>
          </a:p>
        </p:txBody>
      </p:sp>
      <p:sp>
        <p:nvSpPr>
          <p:cNvPr id="5" name="Marcador de pie de página 4">
            <a:extLst>
              <a:ext uri="{FF2B5EF4-FFF2-40B4-BE49-F238E27FC236}">
                <a16:creationId xmlns:a16="http://schemas.microsoft.com/office/drawing/2014/main" id="{7316BA45-C109-59A7-471B-2C05AFA3DA50}"/>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E99CF7D-6ACD-132D-9305-1E08241E76C3}"/>
              </a:ext>
            </a:extLst>
          </p:cNvPr>
          <p:cNvSpPr>
            <a:spLocks noGrp="1"/>
          </p:cNvSpPr>
          <p:nvPr>
            <p:ph type="sldNum" sz="quarter" idx="12"/>
          </p:nvPr>
        </p:nvSpPr>
        <p:spPr/>
        <p:txBody>
          <a:bodyPr/>
          <a:lstStyle/>
          <a:p>
            <a:fld id="{0D13620A-5829-4273-A5A6-3A7D6044478A}" type="slidenum">
              <a:rPr lang="es-ES" smtClean="0"/>
              <a:t>‹Nº›</a:t>
            </a:fld>
            <a:endParaRPr lang="es-ES"/>
          </a:p>
        </p:txBody>
      </p:sp>
    </p:spTree>
    <p:extLst>
      <p:ext uri="{BB962C8B-B14F-4D97-AF65-F5344CB8AC3E}">
        <p14:creationId xmlns:p14="http://schemas.microsoft.com/office/powerpoint/2010/main" val="1331153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FFF97AD-ABE4-E868-BE9B-FD05E650135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51061B05-953C-D42D-9E6F-E7DB20B6BAE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F9ECD14B-D3C2-9218-AA4A-1BE4D9BB9997}"/>
              </a:ext>
            </a:extLst>
          </p:cNvPr>
          <p:cNvSpPr>
            <a:spLocks noGrp="1"/>
          </p:cNvSpPr>
          <p:nvPr>
            <p:ph type="dt" sz="half" idx="10"/>
          </p:nvPr>
        </p:nvSpPr>
        <p:spPr/>
        <p:txBody>
          <a:bodyPr/>
          <a:lstStyle/>
          <a:p>
            <a:fld id="{39DC9414-7FF3-4F08-94BE-4349B872A7C2}" type="datetimeFigureOut">
              <a:rPr lang="es-ES" smtClean="0"/>
              <a:t>10/04/2026</a:t>
            </a:fld>
            <a:endParaRPr lang="es-ES"/>
          </a:p>
        </p:txBody>
      </p:sp>
      <p:sp>
        <p:nvSpPr>
          <p:cNvPr id="5" name="Marcador de pie de página 4">
            <a:extLst>
              <a:ext uri="{FF2B5EF4-FFF2-40B4-BE49-F238E27FC236}">
                <a16:creationId xmlns:a16="http://schemas.microsoft.com/office/drawing/2014/main" id="{037CE4E0-EC40-436F-6C32-5EC689AF33E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2BFC49F-8BC6-1EC0-8976-733094928477}"/>
              </a:ext>
            </a:extLst>
          </p:cNvPr>
          <p:cNvSpPr>
            <a:spLocks noGrp="1"/>
          </p:cNvSpPr>
          <p:nvPr>
            <p:ph type="sldNum" sz="quarter" idx="12"/>
          </p:nvPr>
        </p:nvSpPr>
        <p:spPr/>
        <p:txBody>
          <a:bodyPr/>
          <a:lstStyle/>
          <a:p>
            <a:fld id="{0D13620A-5829-4273-A5A6-3A7D6044478A}" type="slidenum">
              <a:rPr lang="es-ES" smtClean="0"/>
              <a:t>‹Nº›</a:t>
            </a:fld>
            <a:endParaRPr lang="es-ES"/>
          </a:p>
        </p:txBody>
      </p:sp>
    </p:spTree>
    <p:extLst>
      <p:ext uri="{BB962C8B-B14F-4D97-AF65-F5344CB8AC3E}">
        <p14:creationId xmlns:p14="http://schemas.microsoft.com/office/powerpoint/2010/main" val="3253039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40000"/>
                <a:lumOff val="60000"/>
              </a:schemeClr>
            </a:gs>
            <a:gs pos="19000">
              <a:schemeClr val="bg1"/>
            </a:gs>
            <a:gs pos="85000">
              <a:schemeClr val="bg1"/>
            </a:gs>
            <a:gs pos="100000">
              <a:schemeClr val="accent5">
                <a:lumMod val="40000"/>
                <a:lumOff val="60000"/>
              </a:schemeClr>
            </a:gs>
          </a:gsLst>
          <a:lin ang="5400000" scaled="1"/>
          <a:tileRect/>
        </a:gra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234979D-0CE3-FFD3-77DC-CD4AF7FD5C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D7B68521-70D2-6DC9-A071-F4AFC51B05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AB98118-E0AA-96B4-9B71-2E8A701F7E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9DC9414-7FF3-4F08-94BE-4349B872A7C2}" type="datetimeFigureOut">
              <a:rPr lang="es-ES" smtClean="0"/>
              <a:t>10/04/2026</a:t>
            </a:fld>
            <a:endParaRPr lang="es-ES"/>
          </a:p>
        </p:txBody>
      </p:sp>
      <p:sp>
        <p:nvSpPr>
          <p:cNvPr id="5" name="Marcador de pie de página 4">
            <a:extLst>
              <a:ext uri="{FF2B5EF4-FFF2-40B4-BE49-F238E27FC236}">
                <a16:creationId xmlns:a16="http://schemas.microsoft.com/office/drawing/2014/main" id="{2EF65B35-E258-62FA-C6DE-B67D0236BE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6459E4E2-7237-413E-95CA-2AA0405EAA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13620A-5829-4273-A5A6-3A7D6044478A}" type="slidenum">
              <a:rPr lang="es-ES" smtClean="0"/>
              <a:t>‹Nº›</a:t>
            </a:fld>
            <a:endParaRPr lang="es-ES"/>
          </a:p>
        </p:txBody>
      </p:sp>
    </p:spTree>
    <p:extLst>
      <p:ext uri="{BB962C8B-B14F-4D97-AF65-F5344CB8AC3E}">
        <p14:creationId xmlns:p14="http://schemas.microsoft.com/office/powerpoint/2010/main" val="10037470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F828D28-8E09-41CC-8229-3070B5467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Vídeo 4" descr="Sistema electrónico">
            <a:extLst>
              <a:ext uri="{FF2B5EF4-FFF2-40B4-BE49-F238E27FC236}">
                <a16:creationId xmlns:a16="http://schemas.microsoft.com/office/drawing/2014/main" id="{91C2A19A-1F5A-58E6-25A4-59157D81E5B9}"/>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t="284" r="-1" b="-1"/>
          <a:stretch>
            <a:fillRect/>
          </a:stretch>
        </p:blipFill>
        <p:spPr>
          <a:xfrm>
            <a:off x="20" y="-22"/>
            <a:ext cx="12191977" cy="6858022"/>
          </a:xfrm>
          <a:prstGeom prst="rect">
            <a:avLst/>
          </a:prstGeom>
        </p:spPr>
      </p:pic>
      <p:sp>
        <p:nvSpPr>
          <p:cNvPr id="11" name="Rectangle 10">
            <a:extLst>
              <a:ext uri="{FF2B5EF4-FFF2-40B4-BE49-F238E27FC236}">
                <a16:creationId xmlns:a16="http://schemas.microsoft.com/office/drawing/2014/main" id="{D5B012D8-7F27-4758-9AC6-C889B154B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103377" y="1100316"/>
            <a:ext cx="6858003" cy="4657347"/>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63010BC-2E0A-20C1-F83A-072C1687486A}"/>
              </a:ext>
            </a:extLst>
          </p:cNvPr>
          <p:cNvSpPr>
            <a:spLocks noGrp="1"/>
          </p:cNvSpPr>
          <p:nvPr>
            <p:ph type="ctrTitle"/>
          </p:nvPr>
        </p:nvSpPr>
        <p:spPr>
          <a:xfrm>
            <a:off x="643466" y="643467"/>
            <a:ext cx="5452529" cy="3569242"/>
          </a:xfrm>
        </p:spPr>
        <p:txBody>
          <a:bodyPr anchor="t">
            <a:normAutofit/>
          </a:bodyPr>
          <a:lstStyle/>
          <a:p>
            <a:pPr algn="l"/>
            <a:r>
              <a:rPr lang="es-ES" sz="4800" dirty="0">
                <a:solidFill>
                  <a:srgbClr val="FFFFFF"/>
                </a:solidFill>
              </a:rPr>
              <a:t>BORRADO AVANZADO</a:t>
            </a:r>
          </a:p>
        </p:txBody>
      </p:sp>
      <p:sp>
        <p:nvSpPr>
          <p:cNvPr id="3" name="Subtítulo 2">
            <a:extLst>
              <a:ext uri="{FF2B5EF4-FFF2-40B4-BE49-F238E27FC236}">
                <a16:creationId xmlns:a16="http://schemas.microsoft.com/office/drawing/2014/main" id="{E91DF9B8-1909-A5B1-2005-FD9CD5103A23}"/>
              </a:ext>
            </a:extLst>
          </p:cNvPr>
          <p:cNvSpPr>
            <a:spLocks noGrp="1"/>
          </p:cNvSpPr>
          <p:nvPr>
            <p:ph type="subTitle" idx="1"/>
          </p:nvPr>
        </p:nvSpPr>
        <p:spPr>
          <a:xfrm>
            <a:off x="643466" y="4551037"/>
            <a:ext cx="5449479" cy="1578054"/>
          </a:xfrm>
        </p:spPr>
        <p:txBody>
          <a:bodyPr anchor="b">
            <a:normAutofit/>
          </a:bodyPr>
          <a:lstStyle/>
          <a:p>
            <a:pPr algn="l"/>
            <a:endParaRPr lang="es-ES">
              <a:solidFill>
                <a:srgbClr val="FFFFFF"/>
              </a:solidFill>
            </a:endParaRPr>
          </a:p>
        </p:txBody>
      </p:sp>
      <p:sp>
        <p:nvSpPr>
          <p:cNvPr id="13" name="Rectangle 12">
            <a:extLst>
              <a:ext uri="{FF2B5EF4-FFF2-40B4-BE49-F238E27FC236}">
                <a16:creationId xmlns:a16="http://schemas.microsoft.com/office/drawing/2014/main" id="{4063B759-00FC-46D1-9898-8E8625268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40187" y="2206184"/>
            <a:ext cx="6858003" cy="2445624"/>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5128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05"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mute="1">
                <p:cTn id="12" repeatCount="indefinite" fill="hold" display="0">
                  <p:stCondLst>
                    <p:cond delay="indefinite"/>
                  </p:stCondLst>
                </p:cTn>
                <p:tgtEl>
                  <p:spTgt spid="5"/>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DDB26F-6782-B2A3-7F1C-5972039E0869}"/>
              </a:ext>
            </a:extLst>
          </p:cNvPr>
          <p:cNvSpPr>
            <a:spLocks noGrp="1"/>
          </p:cNvSpPr>
          <p:nvPr>
            <p:ph type="title"/>
          </p:nvPr>
        </p:nvSpPr>
        <p:spPr/>
        <p:txBody>
          <a:bodyPr/>
          <a:lstStyle/>
          <a:p>
            <a:r>
              <a:rPr lang="es-ES" dirty="0"/>
              <a:t>REPASO DE DELETE</a:t>
            </a:r>
          </a:p>
        </p:txBody>
      </p:sp>
      <p:sp>
        <p:nvSpPr>
          <p:cNvPr id="3" name="Marcador de contenido 2">
            <a:extLst>
              <a:ext uri="{FF2B5EF4-FFF2-40B4-BE49-F238E27FC236}">
                <a16:creationId xmlns:a16="http://schemas.microsoft.com/office/drawing/2014/main" id="{113B4F83-5A9D-3182-F594-EA59A8949406}"/>
              </a:ext>
            </a:extLst>
          </p:cNvPr>
          <p:cNvSpPr>
            <a:spLocks noGrp="1"/>
          </p:cNvSpPr>
          <p:nvPr>
            <p:ph idx="1"/>
          </p:nvPr>
        </p:nvSpPr>
        <p:spPr/>
        <p:txBody>
          <a:bodyPr/>
          <a:lstStyle/>
          <a:p>
            <a:r>
              <a:rPr lang="es-ES" b="1" dirty="0"/>
              <a:t>Ejemplo 1</a:t>
            </a:r>
            <a:r>
              <a:rPr lang="es-ES" dirty="0"/>
              <a:t>: Eliminar todos los clientes que no hayan realizado contratos.</a:t>
            </a:r>
          </a:p>
          <a:p>
            <a:r>
              <a:rPr lang="es-ES" dirty="0"/>
              <a:t>Esto está hecho con la versión de </a:t>
            </a:r>
            <a:r>
              <a:rPr lang="es-ES" dirty="0" err="1"/>
              <a:t>left</a:t>
            </a:r>
            <a:r>
              <a:rPr lang="es-ES" dirty="0"/>
              <a:t> </a:t>
            </a:r>
            <a:r>
              <a:rPr lang="es-ES" dirty="0" err="1"/>
              <a:t>join</a:t>
            </a:r>
            <a:endParaRPr lang="es-ES" dirty="0"/>
          </a:p>
          <a:p>
            <a:endParaRPr lang="es-ES" dirty="0"/>
          </a:p>
          <a:p>
            <a:pPr marL="0" indent="0">
              <a:lnSpc>
                <a:spcPct val="100000"/>
              </a:lnSpc>
              <a:spcBef>
                <a:spcPts val="0"/>
              </a:spcBef>
              <a:buNone/>
            </a:pPr>
            <a:r>
              <a:rPr lang="es-ES" dirty="0">
                <a:solidFill>
                  <a:schemeClr val="tx2">
                    <a:lumMod val="50000"/>
                    <a:lumOff val="50000"/>
                  </a:schemeClr>
                </a:solidFill>
              </a:rPr>
              <a:t>DELETE clientes </a:t>
            </a:r>
          </a:p>
          <a:p>
            <a:pPr marL="0" indent="0">
              <a:lnSpc>
                <a:spcPct val="100000"/>
              </a:lnSpc>
              <a:spcBef>
                <a:spcPts val="0"/>
              </a:spcBef>
              <a:buNone/>
            </a:pPr>
            <a:r>
              <a:rPr lang="es-ES" dirty="0">
                <a:solidFill>
                  <a:schemeClr val="tx2">
                    <a:lumMod val="50000"/>
                    <a:lumOff val="50000"/>
                  </a:schemeClr>
                </a:solidFill>
              </a:rPr>
              <a:t>FROM clientes LEFT JOIN contratos ON </a:t>
            </a:r>
            <a:r>
              <a:rPr lang="es-ES" dirty="0" err="1">
                <a:solidFill>
                  <a:schemeClr val="tx2">
                    <a:lumMod val="50000"/>
                    <a:lumOff val="50000"/>
                  </a:schemeClr>
                </a:solidFill>
              </a:rPr>
              <a:t>dni</a:t>
            </a:r>
            <a:r>
              <a:rPr lang="es-ES" dirty="0">
                <a:solidFill>
                  <a:schemeClr val="tx2">
                    <a:lumMod val="50000"/>
                    <a:lumOff val="50000"/>
                  </a:schemeClr>
                </a:solidFill>
              </a:rPr>
              <a:t>=</a:t>
            </a:r>
            <a:r>
              <a:rPr lang="es-ES" dirty="0" err="1">
                <a:solidFill>
                  <a:schemeClr val="tx2">
                    <a:lumMod val="50000"/>
                    <a:lumOff val="50000"/>
                  </a:schemeClr>
                </a:solidFill>
              </a:rPr>
              <a:t>dnicliente</a:t>
            </a:r>
            <a:r>
              <a:rPr lang="es-ES" dirty="0">
                <a:solidFill>
                  <a:schemeClr val="tx2">
                    <a:lumMod val="50000"/>
                    <a:lumOff val="50000"/>
                  </a:schemeClr>
                </a:solidFill>
              </a:rPr>
              <a:t> </a:t>
            </a:r>
          </a:p>
          <a:p>
            <a:pPr marL="0" indent="0">
              <a:lnSpc>
                <a:spcPct val="100000"/>
              </a:lnSpc>
              <a:spcBef>
                <a:spcPts val="0"/>
              </a:spcBef>
              <a:buNone/>
            </a:pPr>
            <a:r>
              <a:rPr lang="es-ES" dirty="0">
                <a:solidFill>
                  <a:schemeClr val="tx2">
                    <a:lumMod val="50000"/>
                    <a:lumOff val="50000"/>
                  </a:schemeClr>
                </a:solidFill>
              </a:rPr>
              <a:t>WHERE </a:t>
            </a:r>
            <a:r>
              <a:rPr lang="es-ES" dirty="0" err="1">
                <a:solidFill>
                  <a:schemeClr val="tx2">
                    <a:lumMod val="50000"/>
                    <a:lumOff val="50000"/>
                  </a:schemeClr>
                </a:solidFill>
              </a:rPr>
              <a:t>numcontrato</a:t>
            </a:r>
            <a:r>
              <a:rPr lang="es-ES" dirty="0">
                <a:solidFill>
                  <a:schemeClr val="tx2">
                    <a:lumMod val="50000"/>
                    <a:lumOff val="50000"/>
                  </a:schemeClr>
                </a:solidFill>
              </a:rPr>
              <a:t> IS NULL;</a:t>
            </a:r>
          </a:p>
          <a:p>
            <a:pPr marL="0" indent="0">
              <a:lnSpc>
                <a:spcPct val="100000"/>
              </a:lnSpc>
              <a:spcBef>
                <a:spcPts val="0"/>
              </a:spcBef>
              <a:buNone/>
            </a:pPr>
            <a:endParaRPr lang="es-ES" dirty="0">
              <a:solidFill>
                <a:schemeClr val="accent1">
                  <a:lumMod val="75000"/>
                </a:schemeClr>
              </a:solidFill>
            </a:endParaRPr>
          </a:p>
          <a:p>
            <a:pPr>
              <a:lnSpc>
                <a:spcPct val="100000"/>
              </a:lnSpc>
              <a:spcBef>
                <a:spcPts val="0"/>
              </a:spcBef>
            </a:pPr>
            <a:r>
              <a:rPr lang="es-ES" dirty="0"/>
              <a:t>Se puede hacer con subconsultas</a:t>
            </a:r>
          </a:p>
          <a:p>
            <a:pPr marL="0" indent="0">
              <a:lnSpc>
                <a:spcPct val="100000"/>
              </a:lnSpc>
              <a:spcBef>
                <a:spcPts val="0"/>
              </a:spcBef>
              <a:buNone/>
            </a:pPr>
            <a:endParaRPr lang="es-ES" dirty="0">
              <a:solidFill>
                <a:schemeClr val="accent1">
                  <a:lumMod val="75000"/>
                </a:schemeClr>
              </a:solidFill>
            </a:endParaRPr>
          </a:p>
          <a:p>
            <a:endParaRPr lang="es-ES" dirty="0"/>
          </a:p>
        </p:txBody>
      </p:sp>
    </p:spTree>
    <p:extLst>
      <p:ext uri="{BB962C8B-B14F-4D97-AF65-F5344CB8AC3E}">
        <p14:creationId xmlns:p14="http://schemas.microsoft.com/office/powerpoint/2010/main" val="3621468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DDB26F-6782-B2A3-7F1C-5972039E0869}"/>
              </a:ext>
            </a:extLst>
          </p:cNvPr>
          <p:cNvSpPr>
            <a:spLocks noGrp="1"/>
          </p:cNvSpPr>
          <p:nvPr>
            <p:ph type="title"/>
          </p:nvPr>
        </p:nvSpPr>
        <p:spPr/>
        <p:txBody>
          <a:bodyPr/>
          <a:lstStyle/>
          <a:p>
            <a:r>
              <a:rPr lang="es-ES" dirty="0"/>
              <a:t>REPASO DE DELETE</a:t>
            </a:r>
          </a:p>
        </p:txBody>
      </p:sp>
      <p:sp>
        <p:nvSpPr>
          <p:cNvPr id="3" name="Marcador de contenido 2">
            <a:extLst>
              <a:ext uri="{FF2B5EF4-FFF2-40B4-BE49-F238E27FC236}">
                <a16:creationId xmlns:a16="http://schemas.microsoft.com/office/drawing/2014/main" id="{113B4F83-5A9D-3182-F594-EA59A8949406}"/>
              </a:ext>
            </a:extLst>
          </p:cNvPr>
          <p:cNvSpPr>
            <a:spLocks noGrp="1"/>
          </p:cNvSpPr>
          <p:nvPr>
            <p:ph idx="1"/>
          </p:nvPr>
        </p:nvSpPr>
        <p:spPr/>
        <p:txBody>
          <a:bodyPr/>
          <a:lstStyle/>
          <a:p>
            <a:r>
              <a:rPr lang="es-ES" b="1" dirty="0"/>
              <a:t>Ejemplo 1</a:t>
            </a:r>
            <a:r>
              <a:rPr lang="es-ES" dirty="0"/>
              <a:t>: Eliminar todos los clientes que no hayan realizado contratos.</a:t>
            </a:r>
          </a:p>
          <a:p>
            <a:r>
              <a:rPr lang="es-ES" dirty="0"/>
              <a:t>Con subconsultas</a:t>
            </a:r>
          </a:p>
          <a:p>
            <a:endParaRPr lang="es-ES" dirty="0"/>
          </a:p>
          <a:p>
            <a:pPr marL="0" indent="0">
              <a:lnSpc>
                <a:spcPct val="100000"/>
              </a:lnSpc>
              <a:spcBef>
                <a:spcPts val="0"/>
              </a:spcBef>
              <a:buNone/>
            </a:pPr>
            <a:r>
              <a:rPr lang="en-US" dirty="0">
                <a:solidFill>
                  <a:schemeClr val="tx2">
                    <a:lumMod val="50000"/>
                    <a:lumOff val="50000"/>
                  </a:schemeClr>
                </a:solidFill>
              </a:rPr>
              <a:t>DELETE FROM </a:t>
            </a:r>
            <a:r>
              <a:rPr lang="en-US" dirty="0" err="1">
                <a:solidFill>
                  <a:schemeClr val="tx2">
                    <a:lumMod val="50000"/>
                    <a:lumOff val="50000"/>
                  </a:schemeClr>
                </a:solidFill>
              </a:rPr>
              <a:t>clientes</a:t>
            </a:r>
            <a:r>
              <a:rPr lang="en-US" dirty="0">
                <a:solidFill>
                  <a:schemeClr val="tx2">
                    <a:lumMod val="50000"/>
                    <a:lumOff val="50000"/>
                  </a:schemeClr>
                </a:solidFill>
              </a:rPr>
              <a:t> </a:t>
            </a:r>
          </a:p>
          <a:p>
            <a:pPr marL="0" indent="0">
              <a:lnSpc>
                <a:spcPct val="100000"/>
              </a:lnSpc>
              <a:spcBef>
                <a:spcPts val="0"/>
              </a:spcBef>
              <a:buNone/>
            </a:pPr>
            <a:r>
              <a:rPr lang="en-US" dirty="0">
                <a:solidFill>
                  <a:schemeClr val="tx2">
                    <a:lumMod val="50000"/>
                    <a:lumOff val="50000"/>
                  </a:schemeClr>
                </a:solidFill>
              </a:rPr>
              <a:t>WHERE </a:t>
            </a:r>
            <a:r>
              <a:rPr lang="en-US" dirty="0" err="1">
                <a:solidFill>
                  <a:schemeClr val="tx2">
                    <a:lumMod val="50000"/>
                    <a:lumOff val="50000"/>
                  </a:schemeClr>
                </a:solidFill>
              </a:rPr>
              <a:t>dni</a:t>
            </a:r>
            <a:r>
              <a:rPr lang="en-US" dirty="0">
                <a:solidFill>
                  <a:schemeClr val="tx2">
                    <a:lumMod val="50000"/>
                    <a:lumOff val="50000"/>
                  </a:schemeClr>
                </a:solidFill>
              </a:rPr>
              <a:t> NOT IN (</a:t>
            </a:r>
            <a:r>
              <a:rPr lang="en-US" dirty="0">
                <a:solidFill>
                  <a:srgbClr val="FF0000"/>
                </a:solidFill>
              </a:rPr>
              <a:t>SELECT DISTINCT </a:t>
            </a:r>
            <a:r>
              <a:rPr lang="en-US" dirty="0" err="1">
                <a:solidFill>
                  <a:srgbClr val="FF0000"/>
                </a:solidFill>
              </a:rPr>
              <a:t>dnicliente</a:t>
            </a:r>
            <a:r>
              <a:rPr lang="en-US" dirty="0">
                <a:solidFill>
                  <a:srgbClr val="FF0000"/>
                </a:solidFill>
              </a:rPr>
              <a:t> FROM </a:t>
            </a:r>
            <a:r>
              <a:rPr lang="en-US" dirty="0" err="1">
                <a:solidFill>
                  <a:srgbClr val="FF0000"/>
                </a:solidFill>
              </a:rPr>
              <a:t>contratos</a:t>
            </a:r>
            <a:r>
              <a:rPr lang="en-US" dirty="0">
                <a:solidFill>
                  <a:schemeClr val="tx2">
                    <a:lumMod val="50000"/>
                    <a:lumOff val="50000"/>
                  </a:schemeClr>
                </a:solidFill>
              </a:rPr>
              <a:t>);</a:t>
            </a:r>
          </a:p>
          <a:p>
            <a:endParaRPr lang="es-ES" dirty="0"/>
          </a:p>
        </p:txBody>
      </p:sp>
    </p:spTree>
    <p:extLst>
      <p:ext uri="{BB962C8B-B14F-4D97-AF65-F5344CB8AC3E}">
        <p14:creationId xmlns:p14="http://schemas.microsoft.com/office/powerpoint/2010/main" val="2381065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232FF-8903-1E1A-9922-6B0E38B73D21}"/>
              </a:ext>
            </a:extLst>
          </p:cNvPr>
          <p:cNvSpPr>
            <a:spLocks noGrp="1"/>
          </p:cNvSpPr>
          <p:nvPr>
            <p:ph type="title"/>
          </p:nvPr>
        </p:nvSpPr>
        <p:spPr/>
        <p:txBody>
          <a:bodyPr/>
          <a:lstStyle/>
          <a:p>
            <a:r>
              <a:rPr lang="es-ES" dirty="0"/>
              <a:t>REPASO DE DELETE</a:t>
            </a:r>
          </a:p>
        </p:txBody>
      </p:sp>
      <p:sp>
        <p:nvSpPr>
          <p:cNvPr id="3" name="Marcador de contenido 2">
            <a:extLst>
              <a:ext uri="{FF2B5EF4-FFF2-40B4-BE49-F238E27FC236}">
                <a16:creationId xmlns:a16="http://schemas.microsoft.com/office/drawing/2014/main" id="{AD054609-08CE-5995-3F0F-45E55E73370D}"/>
              </a:ext>
            </a:extLst>
          </p:cNvPr>
          <p:cNvSpPr>
            <a:spLocks noGrp="1"/>
          </p:cNvSpPr>
          <p:nvPr>
            <p:ph idx="1"/>
          </p:nvPr>
        </p:nvSpPr>
        <p:spPr/>
        <p:txBody>
          <a:bodyPr/>
          <a:lstStyle/>
          <a:p>
            <a:r>
              <a:rPr lang="es-ES" b="1" dirty="0"/>
              <a:t>Ejemplo 2</a:t>
            </a:r>
            <a:r>
              <a:rPr lang="es-ES" dirty="0"/>
              <a:t>: Eliminar los contratos realizados por Mariano Dorado.</a:t>
            </a:r>
          </a:p>
          <a:p>
            <a:endParaRPr lang="es-ES" dirty="0"/>
          </a:p>
          <a:p>
            <a:pPr marL="0" indent="0">
              <a:lnSpc>
                <a:spcPct val="100000"/>
              </a:lnSpc>
              <a:spcBef>
                <a:spcPts val="0"/>
              </a:spcBef>
              <a:buNone/>
            </a:pPr>
            <a:r>
              <a:rPr lang="es-ES" dirty="0">
                <a:solidFill>
                  <a:schemeClr val="accent1">
                    <a:lumMod val="75000"/>
                  </a:schemeClr>
                </a:solidFill>
              </a:rPr>
              <a:t>DELETE </a:t>
            </a:r>
            <a:r>
              <a:rPr lang="es-ES" dirty="0">
                <a:solidFill>
                  <a:schemeClr val="accent1">
                    <a:lumMod val="75000"/>
                  </a:schemeClr>
                </a:solidFill>
                <a:highlight>
                  <a:srgbClr val="FFFF00"/>
                </a:highlight>
              </a:rPr>
              <a:t>contratos</a:t>
            </a:r>
            <a:r>
              <a:rPr lang="es-ES" dirty="0">
                <a:solidFill>
                  <a:schemeClr val="accent1">
                    <a:lumMod val="75000"/>
                  </a:schemeClr>
                </a:solidFill>
              </a:rPr>
              <a:t> </a:t>
            </a:r>
          </a:p>
          <a:p>
            <a:pPr marL="0" indent="0">
              <a:lnSpc>
                <a:spcPct val="100000"/>
              </a:lnSpc>
              <a:spcBef>
                <a:spcPts val="0"/>
              </a:spcBef>
              <a:buNone/>
            </a:pPr>
            <a:r>
              <a:rPr lang="es-ES" dirty="0">
                <a:solidFill>
                  <a:schemeClr val="accent1">
                    <a:lumMod val="75000"/>
                  </a:schemeClr>
                </a:solidFill>
              </a:rPr>
              <a:t>FROM </a:t>
            </a:r>
            <a:r>
              <a:rPr lang="es-ES" dirty="0">
                <a:solidFill>
                  <a:srgbClr val="FF0000"/>
                </a:solidFill>
              </a:rPr>
              <a:t>clientes</a:t>
            </a:r>
            <a:r>
              <a:rPr lang="es-ES" dirty="0">
                <a:solidFill>
                  <a:schemeClr val="accent1">
                    <a:lumMod val="75000"/>
                  </a:schemeClr>
                </a:solidFill>
              </a:rPr>
              <a:t> INNER JOIN </a:t>
            </a:r>
            <a:r>
              <a:rPr lang="es-ES" dirty="0">
                <a:solidFill>
                  <a:schemeClr val="accent1">
                    <a:lumMod val="75000"/>
                  </a:schemeClr>
                </a:solidFill>
                <a:highlight>
                  <a:srgbClr val="FFFF00"/>
                </a:highlight>
              </a:rPr>
              <a:t>contratos</a:t>
            </a:r>
            <a:r>
              <a:rPr lang="es-ES" dirty="0">
                <a:solidFill>
                  <a:schemeClr val="accent1">
                    <a:lumMod val="75000"/>
                  </a:schemeClr>
                </a:solidFill>
              </a:rPr>
              <a:t> ON </a:t>
            </a:r>
            <a:r>
              <a:rPr lang="es-ES" dirty="0" err="1">
                <a:solidFill>
                  <a:schemeClr val="accent1">
                    <a:lumMod val="75000"/>
                  </a:schemeClr>
                </a:solidFill>
              </a:rPr>
              <a:t>dni</a:t>
            </a:r>
            <a:r>
              <a:rPr lang="es-ES" dirty="0">
                <a:solidFill>
                  <a:schemeClr val="accent1">
                    <a:lumMod val="75000"/>
                  </a:schemeClr>
                </a:solidFill>
              </a:rPr>
              <a:t>=</a:t>
            </a:r>
            <a:r>
              <a:rPr lang="es-ES" dirty="0" err="1">
                <a:solidFill>
                  <a:schemeClr val="accent1">
                    <a:lumMod val="75000"/>
                  </a:schemeClr>
                </a:solidFill>
              </a:rPr>
              <a:t>dnicliente</a:t>
            </a:r>
            <a:r>
              <a:rPr lang="es-ES" dirty="0">
                <a:solidFill>
                  <a:schemeClr val="accent1">
                    <a:lumMod val="75000"/>
                  </a:schemeClr>
                </a:solidFill>
              </a:rPr>
              <a:t> </a:t>
            </a:r>
          </a:p>
          <a:p>
            <a:pPr marL="0" indent="0">
              <a:lnSpc>
                <a:spcPct val="100000"/>
              </a:lnSpc>
              <a:spcBef>
                <a:spcPts val="0"/>
              </a:spcBef>
              <a:buNone/>
            </a:pPr>
            <a:r>
              <a:rPr lang="es-ES" dirty="0">
                <a:solidFill>
                  <a:schemeClr val="accent1">
                    <a:lumMod val="75000"/>
                  </a:schemeClr>
                </a:solidFill>
              </a:rPr>
              <a:t>WHERE </a:t>
            </a:r>
            <a:r>
              <a:rPr lang="es-ES" dirty="0">
                <a:solidFill>
                  <a:srgbClr val="FF0000"/>
                </a:solidFill>
              </a:rPr>
              <a:t>nombre</a:t>
            </a:r>
            <a:r>
              <a:rPr lang="es-ES" dirty="0">
                <a:solidFill>
                  <a:schemeClr val="accent1">
                    <a:lumMod val="75000"/>
                  </a:schemeClr>
                </a:solidFill>
              </a:rPr>
              <a:t>='Mariano' AND </a:t>
            </a:r>
            <a:r>
              <a:rPr lang="es-ES" dirty="0">
                <a:solidFill>
                  <a:srgbClr val="FF0000"/>
                </a:solidFill>
              </a:rPr>
              <a:t>apellidos</a:t>
            </a:r>
            <a:r>
              <a:rPr lang="es-ES" dirty="0">
                <a:solidFill>
                  <a:schemeClr val="accent1">
                    <a:lumMod val="75000"/>
                  </a:schemeClr>
                </a:solidFill>
              </a:rPr>
              <a:t>='Dorado';</a:t>
            </a:r>
          </a:p>
          <a:p>
            <a:endParaRPr lang="es-ES" dirty="0"/>
          </a:p>
        </p:txBody>
      </p:sp>
      <p:sp>
        <p:nvSpPr>
          <p:cNvPr id="5" name="CuadroTexto 4">
            <a:extLst>
              <a:ext uri="{FF2B5EF4-FFF2-40B4-BE49-F238E27FC236}">
                <a16:creationId xmlns:a16="http://schemas.microsoft.com/office/drawing/2014/main" id="{77FF5608-3BA4-8934-5619-343687C5EE01}"/>
              </a:ext>
            </a:extLst>
          </p:cNvPr>
          <p:cNvSpPr txBox="1"/>
          <p:nvPr/>
        </p:nvSpPr>
        <p:spPr>
          <a:xfrm>
            <a:off x="5648325" y="4533900"/>
            <a:ext cx="4095750" cy="923330"/>
          </a:xfrm>
          <a:prstGeom prst="rect">
            <a:avLst/>
          </a:prstGeom>
          <a:noFill/>
        </p:spPr>
        <p:txBody>
          <a:bodyPr wrap="square" rtlCol="0">
            <a:spAutoFit/>
          </a:bodyPr>
          <a:lstStyle/>
          <a:p>
            <a:r>
              <a:rPr lang="es-ES" dirty="0"/>
              <a:t>Queremos borrar de una tabla, pero las condiciones para borrar están en otra tabla, se hace con </a:t>
            </a:r>
            <a:r>
              <a:rPr lang="es-ES" dirty="0" err="1"/>
              <a:t>inner</a:t>
            </a:r>
            <a:r>
              <a:rPr lang="es-ES" dirty="0"/>
              <a:t> </a:t>
            </a:r>
            <a:r>
              <a:rPr lang="es-ES" dirty="0" err="1"/>
              <a:t>join</a:t>
            </a:r>
            <a:r>
              <a:rPr lang="es-ES" dirty="0"/>
              <a:t>.</a:t>
            </a:r>
          </a:p>
        </p:txBody>
      </p:sp>
    </p:spTree>
    <p:extLst>
      <p:ext uri="{BB962C8B-B14F-4D97-AF65-F5344CB8AC3E}">
        <p14:creationId xmlns:p14="http://schemas.microsoft.com/office/powerpoint/2010/main" val="484308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B54EB0-CB88-D0B0-FE2B-D1CA33D2CB81}"/>
              </a:ext>
            </a:extLst>
          </p:cNvPr>
          <p:cNvSpPr>
            <a:spLocks noGrp="1"/>
          </p:cNvSpPr>
          <p:nvPr>
            <p:ph type="title"/>
          </p:nvPr>
        </p:nvSpPr>
        <p:spPr/>
        <p:txBody>
          <a:bodyPr/>
          <a:lstStyle/>
          <a:p>
            <a:r>
              <a:rPr lang="es-ES" dirty="0"/>
              <a:t>REPASO DE DELETE</a:t>
            </a:r>
          </a:p>
        </p:txBody>
      </p:sp>
      <p:sp>
        <p:nvSpPr>
          <p:cNvPr id="3" name="Marcador de contenido 2">
            <a:extLst>
              <a:ext uri="{FF2B5EF4-FFF2-40B4-BE49-F238E27FC236}">
                <a16:creationId xmlns:a16="http://schemas.microsoft.com/office/drawing/2014/main" id="{942AEBBB-E1AA-49D6-0634-E0AD4B4CAE16}"/>
              </a:ext>
            </a:extLst>
          </p:cNvPr>
          <p:cNvSpPr>
            <a:spLocks noGrp="1"/>
          </p:cNvSpPr>
          <p:nvPr>
            <p:ph idx="1"/>
          </p:nvPr>
        </p:nvSpPr>
        <p:spPr>
          <a:xfrm>
            <a:off x="838200" y="1825625"/>
            <a:ext cx="11272736" cy="4351338"/>
          </a:xfrm>
        </p:spPr>
        <p:txBody>
          <a:bodyPr/>
          <a:lstStyle/>
          <a:p>
            <a:r>
              <a:rPr lang="es-ES" b="1" dirty="0"/>
              <a:t>Ejemplo 4:</a:t>
            </a:r>
            <a:r>
              <a:rPr lang="es-ES" dirty="0"/>
              <a:t> Eliminar todos los automóviles para los que no se haya iniciado contratos en los dos últimos meses excepto los que tengan contratos más antiguos no finalizados.</a:t>
            </a:r>
          </a:p>
          <a:p>
            <a:pPr marL="0" indent="0" fontAlgn="base">
              <a:lnSpc>
                <a:spcPct val="100000"/>
              </a:lnSpc>
              <a:spcBef>
                <a:spcPts val="0"/>
              </a:spcBef>
              <a:spcAft>
                <a:spcPct val="0"/>
              </a:spcAft>
              <a:buNone/>
            </a:pPr>
            <a:r>
              <a:rPr lang="es-ES" altLang="es-ES" sz="2400" dirty="0">
                <a:solidFill>
                  <a:schemeClr val="tx2">
                    <a:lumMod val="50000"/>
                    <a:lumOff val="50000"/>
                  </a:schemeClr>
                </a:solidFill>
              </a:rPr>
              <a:t>DELETE FROM </a:t>
            </a:r>
            <a:r>
              <a:rPr lang="es-ES" altLang="es-ES" sz="2400" dirty="0" err="1">
                <a:solidFill>
                  <a:schemeClr val="tx2">
                    <a:lumMod val="50000"/>
                    <a:lumOff val="50000"/>
                  </a:schemeClr>
                </a:solidFill>
              </a:rPr>
              <a:t>automoviles</a:t>
            </a:r>
            <a:r>
              <a:rPr lang="es-ES" altLang="es-ES" sz="2400" dirty="0">
                <a:solidFill>
                  <a:schemeClr val="tx2">
                    <a:lumMod val="50000"/>
                    <a:lumOff val="50000"/>
                  </a:schemeClr>
                </a:solidFill>
              </a:rPr>
              <a:t> </a:t>
            </a:r>
          </a:p>
          <a:p>
            <a:pPr marL="0" indent="0" fontAlgn="base">
              <a:lnSpc>
                <a:spcPct val="100000"/>
              </a:lnSpc>
              <a:spcBef>
                <a:spcPts val="0"/>
              </a:spcBef>
              <a:spcAft>
                <a:spcPct val="0"/>
              </a:spcAft>
              <a:buNone/>
            </a:pPr>
            <a:r>
              <a:rPr lang="es-ES" altLang="es-ES" sz="2400" dirty="0">
                <a:solidFill>
                  <a:schemeClr val="tx2">
                    <a:lumMod val="50000"/>
                    <a:lumOff val="50000"/>
                  </a:schemeClr>
                </a:solidFill>
              </a:rPr>
              <a:t>WHERE matricula NOT IN (SELECT DISTINCT matricula FROM contratos 						WHERE </a:t>
            </a:r>
            <a:r>
              <a:rPr lang="es-ES" altLang="es-ES" sz="2400" dirty="0" err="1">
                <a:solidFill>
                  <a:schemeClr val="tx2">
                    <a:lumMod val="50000"/>
                    <a:lumOff val="50000"/>
                  </a:schemeClr>
                </a:solidFill>
              </a:rPr>
              <a:t>ffin</a:t>
            </a:r>
            <a:r>
              <a:rPr lang="es-ES" altLang="es-ES" sz="2400" dirty="0">
                <a:solidFill>
                  <a:schemeClr val="tx2">
                    <a:lumMod val="50000"/>
                    <a:lumOff val="50000"/>
                  </a:schemeClr>
                </a:solidFill>
              </a:rPr>
              <a:t> IS NULL </a:t>
            </a:r>
          </a:p>
          <a:p>
            <a:pPr marL="0" indent="0" fontAlgn="base">
              <a:lnSpc>
                <a:spcPct val="100000"/>
              </a:lnSpc>
              <a:spcBef>
                <a:spcPts val="0"/>
              </a:spcBef>
              <a:spcAft>
                <a:spcPct val="0"/>
              </a:spcAft>
              <a:buNone/>
            </a:pPr>
            <a:r>
              <a:rPr lang="es-ES" altLang="es-ES" sz="2400" dirty="0">
                <a:solidFill>
                  <a:schemeClr val="tx2">
                    <a:lumMod val="50000"/>
                    <a:lumOff val="50000"/>
                  </a:schemeClr>
                </a:solidFill>
              </a:rPr>
              <a:t>				OR </a:t>
            </a:r>
            <a:r>
              <a:rPr lang="es-ES" altLang="es-ES" sz="2400" dirty="0" err="1">
                <a:solidFill>
                  <a:schemeClr val="tx2">
                    <a:lumMod val="50000"/>
                    <a:lumOff val="50000"/>
                  </a:schemeClr>
                </a:solidFill>
              </a:rPr>
              <a:t>fini</a:t>
            </a:r>
            <a:r>
              <a:rPr lang="es-ES" altLang="es-ES" sz="2400" dirty="0">
                <a:solidFill>
                  <a:schemeClr val="tx2">
                    <a:lumMod val="50000"/>
                    <a:lumOff val="50000"/>
                  </a:schemeClr>
                </a:solidFill>
              </a:rPr>
              <a:t>&gt;</a:t>
            </a:r>
            <a:r>
              <a:rPr lang="es-ES" altLang="es-ES" sz="2400" dirty="0" err="1">
                <a:solidFill>
                  <a:schemeClr val="tx2">
                    <a:lumMod val="50000"/>
                    <a:lumOff val="50000"/>
                  </a:schemeClr>
                </a:solidFill>
              </a:rPr>
              <a:t>subdate</a:t>
            </a:r>
            <a:r>
              <a:rPr lang="es-ES" altLang="es-ES" sz="2400" dirty="0">
                <a:solidFill>
                  <a:schemeClr val="tx2">
                    <a:lumMod val="50000"/>
                    <a:lumOff val="50000"/>
                  </a:schemeClr>
                </a:solidFill>
              </a:rPr>
              <a:t>(</a:t>
            </a:r>
            <a:r>
              <a:rPr lang="es-ES" altLang="es-ES" sz="2400" dirty="0" err="1">
                <a:solidFill>
                  <a:schemeClr val="tx2">
                    <a:lumMod val="50000"/>
                    <a:lumOff val="50000"/>
                  </a:schemeClr>
                </a:solidFill>
              </a:rPr>
              <a:t>curdate</a:t>
            </a:r>
            <a:r>
              <a:rPr lang="es-ES" altLang="es-ES" sz="2400" dirty="0">
                <a:solidFill>
                  <a:schemeClr val="tx2">
                    <a:lumMod val="50000"/>
                    <a:lumOff val="50000"/>
                  </a:schemeClr>
                </a:solidFill>
              </a:rPr>
              <a:t>(),INTERVAL 2 MONTH)) </a:t>
            </a:r>
          </a:p>
          <a:p>
            <a:r>
              <a:rPr lang="es-ES" dirty="0"/>
              <a:t>La subconsulta se hace desde otra tabla distinta, no hay que hacer nada</a:t>
            </a:r>
          </a:p>
        </p:txBody>
      </p:sp>
    </p:spTree>
    <p:extLst>
      <p:ext uri="{BB962C8B-B14F-4D97-AF65-F5344CB8AC3E}">
        <p14:creationId xmlns:p14="http://schemas.microsoft.com/office/powerpoint/2010/main" val="3882747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3E3A5-6573-E598-288F-F720D66BB5D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B383CD7-D35E-24A4-C30F-740D7C0F292A}"/>
              </a:ext>
            </a:extLst>
          </p:cNvPr>
          <p:cNvSpPr>
            <a:spLocks noGrp="1"/>
          </p:cNvSpPr>
          <p:nvPr>
            <p:ph type="title"/>
          </p:nvPr>
        </p:nvSpPr>
        <p:spPr/>
        <p:txBody>
          <a:bodyPr/>
          <a:lstStyle/>
          <a:p>
            <a:r>
              <a:rPr lang="es-ES" dirty="0"/>
              <a:t>REPASO DE DELETE</a:t>
            </a:r>
          </a:p>
        </p:txBody>
      </p:sp>
      <p:sp>
        <p:nvSpPr>
          <p:cNvPr id="3" name="Marcador de contenido 2">
            <a:extLst>
              <a:ext uri="{FF2B5EF4-FFF2-40B4-BE49-F238E27FC236}">
                <a16:creationId xmlns:a16="http://schemas.microsoft.com/office/drawing/2014/main" id="{F806E34C-93B1-305F-E377-F2D5F2B66968}"/>
              </a:ext>
            </a:extLst>
          </p:cNvPr>
          <p:cNvSpPr>
            <a:spLocks noGrp="1"/>
          </p:cNvSpPr>
          <p:nvPr>
            <p:ph idx="1"/>
          </p:nvPr>
        </p:nvSpPr>
        <p:spPr>
          <a:xfrm>
            <a:off x="838200" y="1825625"/>
            <a:ext cx="11272736" cy="4351338"/>
          </a:xfrm>
        </p:spPr>
        <p:txBody>
          <a:bodyPr/>
          <a:lstStyle/>
          <a:p>
            <a:r>
              <a:rPr lang="es-ES" b="1" dirty="0"/>
              <a:t>Ejemplo 5:</a:t>
            </a:r>
            <a:r>
              <a:rPr lang="es-ES" dirty="0"/>
              <a:t> Eliminar de la tabla contratos todos los contratos realizados por Jorge Perez </a:t>
            </a:r>
            <a:r>
              <a:rPr lang="es-ES" dirty="0" err="1"/>
              <a:t>Perez</a:t>
            </a:r>
            <a:r>
              <a:rPr lang="es-ES" dirty="0"/>
              <a:t>.</a:t>
            </a:r>
          </a:p>
          <a:p>
            <a:pPr marL="0" indent="0" fontAlgn="base">
              <a:lnSpc>
                <a:spcPct val="100000"/>
              </a:lnSpc>
              <a:spcBef>
                <a:spcPts val="0"/>
              </a:spcBef>
              <a:spcAft>
                <a:spcPct val="0"/>
              </a:spcAft>
              <a:buNone/>
            </a:pPr>
            <a:r>
              <a:rPr lang="es-ES" altLang="es-ES" dirty="0">
                <a:solidFill>
                  <a:schemeClr val="tx2">
                    <a:lumMod val="50000"/>
                    <a:lumOff val="50000"/>
                  </a:schemeClr>
                </a:solidFill>
              </a:rPr>
              <a:t>DELETE FROM contratos </a:t>
            </a:r>
          </a:p>
          <a:p>
            <a:pPr marL="0" indent="0" fontAlgn="base">
              <a:lnSpc>
                <a:spcPct val="100000"/>
              </a:lnSpc>
              <a:spcBef>
                <a:spcPts val="0"/>
              </a:spcBef>
              <a:spcAft>
                <a:spcPct val="0"/>
              </a:spcAft>
              <a:buNone/>
            </a:pPr>
            <a:r>
              <a:rPr lang="es-ES" altLang="es-ES" dirty="0">
                <a:solidFill>
                  <a:schemeClr val="tx2">
                    <a:lumMod val="50000"/>
                    <a:lumOff val="50000"/>
                  </a:schemeClr>
                </a:solidFill>
              </a:rPr>
              <a:t>WHERE </a:t>
            </a:r>
            <a:r>
              <a:rPr lang="es-ES" altLang="es-ES" dirty="0" err="1">
                <a:solidFill>
                  <a:schemeClr val="tx2">
                    <a:lumMod val="50000"/>
                    <a:lumOff val="50000"/>
                  </a:schemeClr>
                </a:solidFill>
              </a:rPr>
              <a:t>dnicliente</a:t>
            </a:r>
            <a:r>
              <a:rPr lang="es-ES" altLang="es-ES" dirty="0">
                <a:solidFill>
                  <a:schemeClr val="tx2">
                    <a:lumMod val="50000"/>
                    <a:lumOff val="50000"/>
                  </a:schemeClr>
                </a:solidFill>
              </a:rPr>
              <a:t>= (SELECT </a:t>
            </a:r>
            <a:r>
              <a:rPr lang="es-ES" altLang="es-ES" dirty="0" err="1">
                <a:solidFill>
                  <a:schemeClr val="tx2">
                    <a:lumMod val="50000"/>
                    <a:lumOff val="50000"/>
                  </a:schemeClr>
                </a:solidFill>
              </a:rPr>
              <a:t>dni</a:t>
            </a:r>
            <a:r>
              <a:rPr lang="es-ES" altLang="es-ES" dirty="0">
                <a:solidFill>
                  <a:schemeClr val="tx2">
                    <a:lumMod val="50000"/>
                    <a:lumOff val="50000"/>
                  </a:schemeClr>
                </a:solidFill>
              </a:rPr>
              <a:t> FROM clientes </a:t>
            </a:r>
          </a:p>
          <a:p>
            <a:pPr marL="0" indent="0" fontAlgn="base">
              <a:lnSpc>
                <a:spcPct val="100000"/>
              </a:lnSpc>
              <a:spcBef>
                <a:spcPts val="0"/>
              </a:spcBef>
              <a:spcAft>
                <a:spcPct val="0"/>
              </a:spcAft>
              <a:buNone/>
            </a:pPr>
            <a:r>
              <a:rPr lang="es-ES" altLang="es-ES" dirty="0">
                <a:solidFill>
                  <a:schemeClr val="tx2">
                    <a:lumMod val="50000"/>
                    <a:lumOff val="50000"/>
                  </a:schemeClr>
                </a:solidFill>
              </a:rPr>
              <a:t>			  WHERE nombre='Jorge’ </a:t>
            </a:r>
          </a:p>
          <a:p>
            <a:pPr marL="0" indent="0" fontAlgn="base">
              <a:lnSpc>
                <a:spcPct val="100000"/>
              </a:lnSpc>
              <a:spcBef>
                <a:spcPts val="0"/>
              </a:spcBef>
              <a:spcAft>
                <a:spcPct val="0"/>
              </a:spcAft>
              <a:buNone/>
            </a:pPr>
            <a:r>
              <a:rPr lang="es-ES" altLang="es-ES" dirty="0">
                <a:solidFill>
                  <a:schemeClr val="tx2">
                    <a:lumMod val="50000"/>
                    <a:lumOff val="50000"/>
                  </a:schemeClr>
                </a:solidFill>
              </a:rPr>
              <a:t>			  AND apellidos='Perez Perez'); </a:t>
            </a:r>
          </a:p>
          <a:p>
            <a:r>
              <a:rPr lang="es-ES" dirty="0"/>
              <a:t>La subconsulta se hace desde otra tabla distinta, no hay que hacer nada</a:t>
            </a:r>
          </a:p>
        </p:txBody>
      </p:sp>
    </p:spTree>
    <p:extLst>
      <p:ext uri="{BB962C8B-B14F-4D97-AF65-F5344CB8AC3E}">
        <p14:creationId xmlns:p14="http://schemas.microsoft.com/office/powerpoint/2010/main" val="2879704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232FF-8903-1E1A-9922-6B0E38B73D21}"/>
              </a:ext>
            </a:extLst>
          </p:cNvPr>
          <p:cNvSpPr>
            <a:spLocks noGrp="1"/>
          </p:cNvSpPr>
          <p:nvPr>
            <p:ph type="title"/>
          </p:nvPr>
        </p:nvSpPr>
        <p:spPr/>
        <p:txBody>
          <a:bodyPr/>
          <a:lstStyle/>
          <a:p>
            <a:r>
              <a:rPr lang="es-ES" dirty="0"/>
              <a:t>REPASO DE DELETE</a:t>
            </a:r>
          </a:p>
        </p:txBody>
      </p:sp>
      <p:sp>
        <p:nvSpPr>
          <p:cNvPr id="3" name="Marcador de contenido 2">
            <a:extLst>
              <a:ext uri="{FF2B5EF4-FFF2-40B4-BE49-F238E27FC236}">
                <a16:creationId xmlns:a16="http://schemas.microsoft.com/office/drawing/2014/main" id="{AD054609-08CE-5995-3F0F-45E55E73370D}"/>
              </a:ext>
            </a:extLst>
          </p:cNvPr>
          <p:cNvSpPr>
            <a:spLocks noGrp="1"/>
          </p:cNvSpPr>
          <p:nvPr>
            <p:ph idx="1"/>
          </p:nvPr>
        </p:nvSpPr>
        <p:spPr/>
        <p:txBody>
          <a:bodyPr/>
          <a:lstStyle/>
          <a:p>
            <a:r>
              <a:rPr lang="es-ES" b="1" dirty="0"/>
              <a:t>Ejemplo 6</a:t>
            </a:r>
            <a:r>
              <a:rPr lang="es-ES" dirty="0"/>
              <a:t>: Eliminar todos los contratos realizados el mismo día que el día de inicio del último contrato del cliente con </a:t>
            </a:r>
            <a:r>
              <a:rPr lang="es-ES" dirty="0" err="1"/>
              <a:t>dni</a:t>
            </a:r>
            <a:r>
              <a:rPr lang="es-ES" dirty="0"/>
              <a:t> 03549358G.</a:t>
            </a:r>
          </a:p>
          <a:p>
            <a:pPr marL="0" indent="0">
              <a:buNone/>
            </a:pPr>
            <a:r>
              <a:rPr lang="es-ES" dirty="0">
                <a:solidFill>
                  <a:schemeClr val="tx2">
                    <a:lumMod val="50000"/>
                    <a:lumOff val="50000"/>
                  </a:schemeClr>
                </a:solidFill>
              </a:rPr>
              <a:t>DELETE FROM </a:t>
            </a:r>
            <a:r>
              <a:rPr lang="es-ES" dirty="0">
                <a:solidFill>
                  <a:schemeClr val="tx2">
                    <a:lumMod val="50000"/>
                    <a:lumOff val="50000"/>
                  </a:schemeClr>
                </a:solidFill>
                <a:highlight>
                  <a:srgbClr val="FFFF00"/>
                </a:highlight>
              </a:rPr>
              <a:t>contratos</a:t>
            </a:r>
            <a:r>
              <a:rPr lang="es-ES" dirty="0">
                <a:solidFill>
                  <a:schemeClr val="tx2">
                    <a:lumMod val="50000"/>
                    <a:lumOff val="50000"/>
                  </a:schemeClr>
                </a:solidFill>
              </a:rPr>
              <a:t> </a:t>
            </a:r>
          </a:p>
          <a:p>
            <a:pPr marL="0" indent="0">
              <a:buNone/>
            </a:pPr>
            <a:r>
              <a:rPr lang="es-ES" dirty="0">
                <a:solidFill>
                  <a:schemeClr val="tx2">
                    <a:lumMod val="50000"/>
                    <a:lumOff val="50000"/>
                  </a:schemeClr>
                </a:solidFill>
              </a:rPr>
              <a:t>WHERE </a:t>
            </a:r>
            <a:r>
              <a:rPr lang="es-ES" dirty="0" err="1">
                <a:solidFill>
                  <a:schemeClr val="tx2">
                    <a:lumMod val="50000"/>
                    <a:lumOff val="50000"/>
                  </a:schemeClr>
                </a:solidFill>
              </a:rPr>
              <a:t>fini</a:t>
            </a:r>
            <a:r>
              <a:rPr lang="es-ES" dirty="0">
                <a:solidFill>
                  <a:schemeClr val="tx2">
                    <a:lumMod val="50000"/>
                    <a:lumOff val="50000"/>
                  </a:schemeClr>
                </a:solidFill>
              </a:rPr>
              <a:t>=(SELECT </a:t>
            </a:r>
            <a:r>
              <a:rPr lang="es-ES" dirty="0" err="1">
                <a:solidFill>
                  <a:schemeClr val="tx2">
                    <a:lumMod val="50000"/>
                    <a:lumOff val="50000"/>
                  </a:schemeClr>
                </a:solidFill>
              </a:rPr>
              <a:t>fini</a:t>
            </a:r>
            <a:r>
              <a:rPr lang="es-ES" dirty="0">
                <a:solidFill>
                  <a:schemeClr val="tx2">
                    <a:lumMod val="50000"/>
                    <a:lumOff val="50000"/>
                  </a:schemeClr>
                </a:solidFill>
              </a:rPr>
              <a:t> </a:t>
            </a:r>
          </a:p>
          <a:p>
            <a:pPr marL="0" indent="0">
              <a:buNone/>
            </a:pPr>
            <a:r>
              <a:rPr lang="es-ES" dirty="0">
                <a:solidFill>
                  <a:schemeClr val="tx2">
                    <a:lumMod val="50000"/>
                    <a:lumOff val="50000"/>
                  </a:schemeClr>
                </a:solidFill>
              </a:rPr>
              <a:t>		FROM </a:t>
            </a:r>
            <a:r>
              <a:rPr lang="es-ES" dirty="0">
                <a:solidFill>
                  <a:schemeClr val="tx2">
                    <a:lumMod val="50000"/>
                    <a:lumOff val="50000"/>
                  </a:schemeClr>
                </a:solidFill>
                <a:highlight>
                  <a:srgbClr val="FFFF00"/>
                </a:highlight>
              </a:rPr>
              <a:t>contratos</a:t>
            </a:r>
            <a:r>
              <a:rPr lang="es-ES" dirty="0">
                <a:solidFill>
                  <a:schemeClr val="tx2">
                    <a:lumMod val="50000"/>
                    <a:lumOff val="50000"/>
                  </a:schemeClr>
                </a:solidFill>
              </a:rPr>
              <a:t> </a:t>
            </a:r>
          </a:p>
          <a:p>
            <a:pPr marL="0" indent="0">
              <a:buNone/>
            </a:pPr>
            <a:r>
              <a:rPr lang="es-ES" dirty="0">
                <a:solidFill>
                  <a:schemeClr val="tx2">
                    <a:lumMod val="50000"/>
                    <a:lumOff val="50000"/>
                  </a:schemeClr>
                </a:solidFill>
              </a:rPr>
              <a:t>		WHERE </a:t>
            </a:r>
            <a:r>
              <a:rPr lang="es-ES" dirty="0" err="1">
                <a:solidFill>
                  <a:schemeClr val="tx2">
                    <a:lumMod val="50000"/>
                    <a:lumOff val="50000"/>
                  </a:schemeClr>
                </a:solidFill>
              </a:rPr>
              <a:t>dnicliente</a:t>
            </a:r>
            <a:r>
              <a:rPr lang="es-ES" dirty="0">
                <a:solidFill>
                  <a:schemeClr val="tx2">
                    <a:lumMod val="50000"/>
                    <a:lumOff val="50000"/>
                  </a:schemeClr>
                </a:solidFill>
              </a:rPr>
              <a:t>= '03549358G’ </a:t>
            </a:r>
          </a:p>
          <a:p>
            <a:pPr marL="0" indent="0">
              <a:buNone/>
            </a:pPr>
            <a:r>
              <a:rPr lang="es-ES" dirty="0">
                <a:solidFill>
                  <a:schemeClr val="tx2">
                    <a:lumMod val="50000"/>
                    <a:lumOff val="50000"/>
                  </a:schemeClr>
                </a:solidFill>
              </a:rPr>
              <a:t>		ORDER BY </a:t>
            </a:r>
            <a:r>
              <a:rPr lang="es-ES" dirty="0" err="1">
                <a:solidFill>
                  <a:schemeClr val="tx2">
                    <a:lumMod val="50000"/>
                    <a:lumOff val="50000"/>
                  </a:schemeClr>
                </a:solidFill>
              </a:rPr>
              <a:t>numcontrato</a:t>
            </a:r>
            <a:r>
              <a:rPr lang="es-ES" dirty="0">
                <a:solidFill>
                  <a:schemeClr val="tx2">
                    <a:lumMod val="50000"/>
                    <a:lumOff val="50000"/>
                  </a:schemeClr>
                </a:solidFill>
              </a:rPr>
              <a:t> DESC LIMIT 1);</a:t>
            </a:r>
          </a:p>
          <a:p>
            <a:r>
              <a:rPr lang="es-ES" dirty="0"/>
              <a:t>Corrige el error.</a:t>
            </a:r>
          </a:p>
          <a:p>
            <a:endParaRPr lang="es-ES" dirty="0"/>
          </a:p>
        </p:txBody>
      </p:sp>
      <p:sp>
        <p:nvSpPr>
          <p:cNvPr id="6" name="CuadroTexto 5">
            <a:extLst>
              <a:ext uri="{FF2B5EF4-FFF2-40B4-BE49-F238E27FC236}">
                <a16:creationId xmlns:a16="http://schemas.microsoft.com/office/drawing/2014/main" id="{6309A1F3-37EE-BC02-08D8-89F83B5C097A}"/>
              </a:ext>
            </a:extLst>
          </p:cNvPr>
          <p:cNvSpPr txBox="1"/>
          <p:nvPr/>
        </p:nvSpPr>
        <p:spPr>
          <a:xfrm>
            <a:off x="8162925" y="3057525"/>
            <a:ext cx="3190875" cy="1200329"/>
          </a:xfrm>
          <a:prstGeom prst="rect">
            <a:avLst/>
          </a:prstGeom>
          <a:noFill/>
        </p:spPr>
        <p:txBody>
          <a:bodyPr wrap="square" rtlCol="0">
            <a:spAutoFit/>
          </a:bodyPr>
          <a:lstStyle/>
          <a:p>
            <a:r>
              <a:rPr lang="es-ES" dirty="0">
                <a:solidFill>
                  <a:srgbClr val="C00000"/>
                </a:solidFill>
              </a:rPr>
              <a:t>Esto da error porque no se puede utilizar la tabla de la que quieres borrar en la subconsulta</a:t>
            </a:r>
          </a:p>
        </p:txBody>
      </p:sp>
    </p:spTree>
    <p:extLst>
      <p:ext uri="{BB962C8B-B14F-4D97-AF65-F5344CB8AC3E}">
        <p14:creationId xmlns:p14="http://schemas.microsoft.com/office/powerpoint/2010/main" val="548882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232FF-8903-1E1A-9922-6B0E38B73D21}"/>
              </a:ext>
            </a:extLst>
          </p:cNvPr>
          <p:cNvSpPr>
            <a:spLocks noGrp="1"/>
          </p:cNvSpPr>
          <p:nvPr>
            <p:ph type="title"/>
          </p:nvPr>
        </p:nvSpPr>
        <p:spPr/>
        <p:txBody>
          <a:bodyPr/>
          <a:lstStyle/>
          <a:p>
            <a:r>
              <a:rPr lang="es-ES" dirty="0"/>
              <a:t>REPASO DE DELETE</a:t>
            </a:r>
          </a:p>
        </p:txBody>
      </p:sp>
      <p:sp>
        <p:nvSpPr>
          <p:cNvPr id="3" name="Marcador de contenido 2">
            <a:extLst>
              <a:ext uri="{FF2B5EF4-FFF2-40B4-BE49-F238E27FC236}">
                <a16:creationId xmlns:a16="http://schemas.microsoft.com/office/drawing/2014/main" id="{AD054609-08CE-5995-3F0F-45E55E73370D}"/>
              </a:ext>
            </a:extLst>
          </p:cNvPr>
          <p:cNvSpPr>
            <a:spLocks noGrp="1"/>
          </p:cNvSpPr>
          <p:nvPr>
            <p:ph idx="1"/>
          </p:nvPr>
        </p:nvSpPr>
        <p:spPr/>
        <p:txBody>
          <a:bodyPr/>
          <a:lstStyle/>
          <a:p>
            <a:r>
              <a:rPr lang="es-ES" b="1" dirty="0"/>
              <a:t>Ejemplo 6</a:t>
            </a:r>
            <a:r>
              <a:rPr lang="es-ES" dirty="0"/>
              <a:t>: Solución.</a:t>
            </a:r>
          </a:p>
          <a:p>
            <a:pPr marL="0" indent="0">
              <a:buNone/>
            </a:pPr>
            <a:r>
              <a:rPr lang="es-ES" dirty="0"/>
              <a:t>Igual que en el ejemplo anterior.</a:t>
            </a:r>
          </a:p>
          <a:p>
            <a:pPr marL="0" indent="0">
              <a:buNone/>
            </a:pPr>
            <a:r>
              <a:rPr lang="es-ES" dirty="0">
                <a:solidFill>
                  <a:schemeClr val="tx2">
                    <a:lumMod val="50000"/>
                    <a:lumOff val="50000"/>
                  </a:schemeClr>
                </a:solidFill>
              </a:rPr>
              <a:t>DELETE FROM </a:t>
            </a:r>
            <a:r>
              <a:rPr lang="es-ES" dirty="0">
                <a:solidFill>
                  <a:schemeClr val="tx2">
                    <a:lumMod val="50000"/>
                    <a:lumOff val="50000"/>
                  </a:schemeClr>
                </a:solidFill>
                <a:highlight>
                  <a:srgbClr val="FFFF00"/>
                </a:highlight>
              </a:rPr>
              <a:t>contratos</a:t>
            </a:r>
            <a:r>
              <a:rPr lang="es-ES" dirty="0">
                <a:solidFill>
                  <a:schemeClr val="tx2">
                    <a:lumMod val="50000"/>
                    <a:lumOff val="50000"/>
                  </a:schemeClr>
                </a:solidFill>
              </a:rPr>
              <a:t> </a:t>
            </a:r>
          </a:p>
          <a:p>
            <a:pPr marL="0" indent="0">
              <a:buNone/>
            </a:pPr>
            <a:r>
              <a:rPr lang="es-ES" dirty="0">
                <a:solidFill>
                  <a:schemeClr val="tx2">
                    <a:lumMod val="50000"/>
                    <a:lumOff val="50000"/>
                  </a:schemeClr>
                </a:solidFill>
              </a:rPr>
              <a:t>WHERE </a:t>
            </a:r>
            <a:r>
              <a:rPr lang="es-ES" dirty="0" err="1">
                <a:solidFill>
                  <a:schemeClr val="tx2">
                    <a:lumMod val="50000"/>
                    <a:lumOff val="50000"/>
                  </a:schemeClr>
                </a:solidFill>
              </a:rPr>
              <a:t>fini</a:t>
            </a:r>
            <a:r>
              <a:rPr lang="es-ES" dirty="0">
                <a:solidFill>
                  <a:schemeClr val="tx2">
                    <a:lumMod val="50000"/>
                    <a:lumOff val="50000"/>
                  </a:schemeClr>
                </a:solidFill>
              </a:rPr>
              <a:t>=(</a:t>
            </a:r>
            <a:r>
              <a:rPr lang="es-ES" dirty="0">
                <a:solidFill>
                  <a:srgbClr val="FF0000"/>
                </a:solidFill>
              </a:rPr>
              <a:t>SELECT * FROM</a:t>
            </a:r>
          </a:p>
          <a:p>
            <a:pPr marL="0" indent="0">
              <a:buNone/>
            </a:pPr>
            <a:r>
              <a:rPr lang="es-ES" dirty="0">
                <a:solidFill>
                  <a:srgbClr val="FF0000"/>
                </a:solidFill>
              </a:rPr>
              <a:t>			</a:t>
            </a:r>
            <a:r>
              <a:rPr lang="es-ES" dirty="0">
                <a:solidFill>
                  <a:schemeClr val="tx2">
                    <a:lumMod val="50000"/>
                    <a:lumOff val="50000"/>
                  </a:schemeClr>
                </a:solidFill>
              </a:rPr>
              <a:t>(SELECT </a:t>
            </a:r>
            <a:r>
              <a:rPr lang="es-ES" dirty="0" err="1">
                <a:solidFill>
                  <a:schemeClr val="tx2">
                    <a:lumMod val="50000"/>
                    <a:lumOff val="50000"/>
                  </a:schemeClr>
                </a:solidFill>
              </a:rPr>
              <a:t>fini</a:t>
            </a:r>
            <a:r>
              <a:rPr lang="es-ES" dirty="0">
                <a:solidFill>
                  <a:schemeClr val="tx2">
                    <a:lumMod val="50000"/>
                    <a:lumOff val="50000"/>
                  </a:schemeClr>
                </a:solidFill>
              </a:rPr>
              <a:t> </a:t>
            </a:r>
          </a:p>
          <a:p>
            <a:pPr marL="0" indent="0">
              <a:buNone/>
            </a:pPr>
            <a:r>
              <a:rPr lang="es-ES" dirty="0">
                <a:solidFill>
                  <a:schemeClr val="tx2">
                    <a:lumMod val="50000"/>
                    <a:lumOff val="50000"/>
                  </a:schemeClr>
                </a:solidFill>
              </a:rPr>
              <a:t>			FROM </a:t>
            </a:r>
            <a:r>
              <a:rPr lang="es-ES" dirty="0">
                <a:solidFill>
                  <a:schemeClr val="tx2">
                    <a:lumMod val="50000"/>
                    <a:lumOff val="50000"/>
                  </a:schemeClr>
                </a:solidFill>
                <a:highlight>
                  <a:srgbClr val="FFFF00"/>
                </a:highlight>
              </a:rPr>
              <a:t>contratos</a:t>
            </a:r>
            <a:r>
              <a:rPr lang="es-ES" dirty="0">
                <a:solidFill>
                  <a:schemeClr val="tx2">
                    <a:lumMod val="50000"/>
                    <a:lumOff val="50000"/>
                  </a:schemeClr>
                </a:solidFill>
              </a:rPr>
              <a:t> </a:t>
            </a:r>
          </a:p>
          <a:p>
            <a:pPr marL="0" indent="0">
              <a:buNone/>
            </a:pPr>
            <a:r>
              <a:rPr lang="es-ES" dirty="0">
                <a:solidFill>
                  <a:schemeClr val="tx2">
                    <a:lumMod val="50000"/>
                    <a:lumOff val="50000"/>
                  </a:schemeClr>
                </a:solidFill>
              </a:rPr>
              <a:t>			WHERE </a:t>
            </a:r>
            <a:r>
              <a:rPr lang="es-ES" dirty="0" err="1">
                <a:solidFill>
                  <a:schemeClr val="tx2">
                    <a:lumMod val="50000"/>
                    <a:lumOff val="50000"/>
                  </a:schemeClr>
                </a:solidFill>
              </a:rPr>
              <a:t>dnicliente</a:t>
            </a:r>
            <a:r>
              <a:rPr lang="es-ES" dirty="0">
                <a:solidFill>
                  <a:schemeClr val="tx2">
                    <a:lumMod val="50000"/>
                    <a:lumOff val="50000"/>
                  </a:schemeClr>
                </a:solidFill>
              </a:rPr>
              <a:t>= '03549358G’ </a:t>
            </a:r>
          </a:p>
          <a:p>
            <a:pPr marL="0" indent="0">
              <a:buNone/>
            </a:pPr>
            <a:r>
              <a:rPr lang="es-ES" dirty="0">
                <a:solidFill>
                  <a:schemeClr val="tx2">
                    <a:lumMod val="50000"/>
                    <a:lumOff val="50000"/>
                  </a:schemeClr>
                </a:solidFill>
              </a:rPr>
              <a:t>			ORDER BY </a:t>
            </a:r>
            <a:r>
              <a:rPr lang="es-ES" dirty="0" err="1">
                <a:solidFill>
                  <a:schemeClr val="tx2">
                    <a:lumMod val="50000"/>
                    <a:lumOff val="50000"/>
                  </a:schemeClr>
                </a:solidFill>
              </a:rPr>
              <a:t>numcontrato</a:t>
            </a:r>
            <a:r>
              <a:rPr lang="es-ES" dirty="0">
                <a:solidFill>
                  <a:schemeClr val="tx2">
                    <a:lumMod val="50000"/>
                    <a:lumOff val="50000"/>
                  </a:schemeClr>
                </a:solidFill>
              </a:rPr>
              <a:t> DESC LIMIT 1)</a:t>
            </a:r>
            <a:r>
              <a:rPr lang="es-ES" dirty="0">
                <a:solidFill>
                  <a:srgbClr val="FF0000"/>
                </a:solidFill>
              </a:rPr>
              <a:t>AS A</a:t>
            </a:r>
            <a:r>
              <a:rPr lang="es-ES" dirty="0">
                <a:solidFill>
                  <a:schemeClr val="tx2">
                    <a:lumMod val="50000"/>
                    <a:lumOff val="50000"/>
                  </a:schemeClr>
                </a:solidFill>
              </a:rPr>
              <a:t>);</a:t>
            </a:r>
          </a:p>
        </p:txBody>
      </p:sp>
    </p:spTree>
    <p:extLst>
      <p:ext uri="{BB962C8B-B14F-4D97-AF65-F5344CB8AC3E}">
        <p14:creationId xmlns:p14="http://schemas.microsoft.com/office/powerpoint/2010/main" val="12300810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710627-F5CF-F68D-D77F-DE0F8BD8CF2D}"/>
              </a:ext>
            </a:extLst>
          </p:cNvPr>
          <p:cNvSpPr>
            <a:spLocks noGrp="1"/>
          </p:cNvSpPr>
          <p:nvPr>
            <p:ph type="title"/>
          </p:nvPr>
        </p:nvSpPr>
        <p:spPr/>
        <p:txBody>
          <a:bodyPr/>
          <a:lstStyle/>
          <a:p>
            <a:r>
              <a:rPr lang="es-ES" dirty="0"/>
              <a:t>REPASO DE DELETE</a:t>
            </a:r>
          </a:p>
        </p:txBody>
      </p:sp>
      <p:sp>
        <p:nvSpPr>
          <p:cNvPr id="3" name="Marcador de contenido 2">
            <a:extLst>
              <a:ext uri="{FF2B5EF4-FFF2-40B4-BE49-F238E27FC236}">
                <a16:creationId xmlns:a16="http://schemas.microsoft.com/office/drawing/2014/main" id="{BFCE339B-19C8-29DD-B5AA-5B6FAA06077E}"/>
              </a:ext>
            </a:extLst>
          </p:cNvPr>
          <p:cNvSpPr>
            <a:spLocks noGrp="1"/>
          </p:cNvSpPr>
          <p:nvPr>
            <p:ph idx="1"/>
          </p:nvPr>
        </p:nvSpPr>
        <p:spPr/>
        <p:txBody>
          <a:bodyPr>
            <a:normAutofit/>
          </a:bodyPr>
          <a:lstStyle/>
          <a:p>
            <a:r>
              <a:rPr lang="es-ES" b="1" dirty="0"/>
              <a:t>Ejemplo 7</a:t>
            </a:r>
            <a:r>
              <a:rPr lang="es-ES" dirty="0"/>
              <a:t>: Eliminar de la tabla contratos todos los contratos realizados en el año anterior al actual y anteriores al primer contrato realizado ese año por la clienta Reyes Sanz </a:t>
            </a:r>
            <a:r>
              <a:rPr lang="es-ES" dirty="0" err="1"/>
              <a:t>Lopez</a:t>
            </a:r>
            <a:r>
              <a:rPr lang="es-ES" dirty="0"/>
              <a:t>.</a:t>
            </a:r>
          </a:p>
          <a:p>
            <a:endParaRPr lang="es-ES" dirty="0"/>
          </a:p>
          <a:p>
            <a:endParaRPr lang="es-ES" dirty="0"/>
          </a:p>
        </p:txBody>
      </p:sp>
      <p:sp>
        <p:nvSpPr>
          <p:cNvPr id="4" name="CuadroTexto 3">
            <a:extLst>
              <a:ext uri="{FF2B5EF4-FFF2-40B4-BE49-F238E27FC236}">
                <a16:creationId xmlns:a16="http://schemas.microsoft.com/office/drawing/2014/main" id="{6E4F7156-1D0C-C13B-4756-E4C2303592FB}"/>
              </a:ext>
            </a:extLst>
          </p:cNvPr>
          <p:cNvSpPr txBox="1"/>
          <p:nvPr/>
        </p:nvSpPr>
        <p:spPr>
          <a:xfrm>
            <a:off x="1295400" y="3429000"/>
            <a:ext cx="9429750" cy="923330"/>
          </a:xfrm>
          <a:prstGeom prst="rect">
            <a:avLst/>
          </a:prstGeom>
          <a:noFill/>
        </p:spPr>
        <p:txBody>
          <a:bodyPr wrap="square" rtlCol="0">
            <a:spAutoFit/>
          </a:bodyPr>
          <a:lstStyle/>
          <a:p>
            <a:r>
              <a:rPr lang="es-ES" dirty="0"/>
              <a:t>El borrado tiene dos condiciones. El primero es que el año sea anterior al actual y, además, que sea anterior al contrato realizado por una cliente. Como la condición implica la misma tabla de la que quieres borrar, hay que hacer un renombrado para que funcione</a:t>
            </a:r>
          </a:p>
        </p:txBody>
      </p:sp>
    </p:spTree>
    <p:extLst>
      <p:ext uri="{BB962C8B-B14F-4D97-AF65-F5344CB8AC3E}">
        <p14:creationId xmlns:p14="http://schemas.microsoft.com/office/powerpoint/2010/main" val="3064387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710627-F5CF-F68D-D77F-DE0F8BD8CF2D}"/>
              </a:ext>
            </a:extLst>
          </p:cNvPr>
          <p:cNvSpPr>
            <a:spLocks noGrp="1"/>
          </p:cNvSpPr>
          <p:nvPr>
            <p:ph type="title"/>
          </p:nvPr>
        </p:nvSpPr>
        <p:spPr/>
        <p:txBody>
          <a:bodyPr/>
          <a:lstStyle/>
          <a:p>
            <a:r>
              <a:rPr lang="es-ES" dirty="0"/>
              <a:t>REPASO DE DELETE</a:t>
            </a:r>
          </a:p>
        </p:txBody>
      </p:sp>
      <p:sp>
        <p:nvSpPr>
          <p:cNvPr id="3" name="Marcador de contenido 2">
            <a:extLst>
              <a:ext uri="{FF2B5EF4-FFF2-40B4-BE49-F238E27FC236}">
                <a16:creationId xmlns:a16="http://schemas.microsoft.com/office/drawing/2014/main" id="{BFCE339B-19C8-29DD-B5AA-5B6FAA06077E}"/>
              </a:ext>
            </a:extLst>
          </p:cNvPr>
          <p:cNvSpPr>
            <a:spLocks noGrp="1"/>
          </p:cNvSpPr>
          <p:nvPr>
            <p:ph idx="1"/>
          </p:nvPr>
        </p:nvSpPr>
        <p:spPr/>
        <p:txBody>
          <a:bodyPr>
            <a:normAutofit fontScale="85000" lnSpcReduction="20000"/>
          </a:bodyPr>
          <a:lstStyle/>
          <a:p>
            <a:r>
              <a:rPr lang="es-ES" b="1" dirty="0"/>
              <a:t>Ejemplo 7</a:t>
            </a:r>
            <a:r>
              <a:rPr lang="es-ES" dirty="0"/>
              <a:t>: Eliminar de la tabla contratos todos los contratos realizados en el año anterior al actual y anteriores al primer contrato realizado ese año por la clienta Reyes Sanz </a:t>
            </a:r>
            <a:r>
              <a:rPr lang="es-ES" dirty="0" err="1"/>
              <a:t>Lopez</a:t>
            </a:r>
            <a:r>
              <a:rPr lang="es-ES" dirty="0"/>
              <a:t>.</a:t>
            </a:r>
          </a:p>
          <a:p>
            <a:endParaRPr lang="es-ES" dirty="0"/>
          </a:p>
          <a:p>
            <a:pPr marL="0" indent="0">
              <a:lnSpc>
                <a:spcPct val="120000"/>
              </a:lnSpc>
              <a:spcBef>
                <a:spcPts val="0"/>
              </a:spcBef>
              <a:buNone/>
            </a:pPr>
            <a:r>
              <a:rPr lang="es-ES" dirty="0"/>
              <a:t>DELETE  FROM </a:t>
            </a:r>
            <a:r>
              <a:rPr lang="es-ES" dirty="0">
                <a:highlight>
                  <a:srgbClr val="FFFF00"/>
                </a:highlight>
              </a:rPr>
              <a:t>contratos</a:t>
            </a:r>
            <a:r>
              <a:rPr lang="es-ES" dirty="0"/>
              <a:t> </a:t>
            </a:r>
          </a:p>
          <a:p>
            <a:pPr marL="0" indent="0">
              <a:lnSpc>
                <a:spcPct val="120000"/>
              </a:lnSpc>
              <a:spcBef>
                <a:spcPts val="0"/>
              </a:spcBef>
              <a:buNone/>
            </a:pPr>
            <a:r>
              <a:rPr lang="es-ES" dirty="0"/>
              <a:t>WHERE </a:t>
            </a:r>
            <a:r>
              <a:rPr lang="es-ES" dirty="0" err="1"/>
              <a:t>year</a:t>
            </a:r>
            <a:r>
              <a:rPr lang="es-ES" dirty="0"/>
              <a:t>(</a:t>
            </a:r>
            <a:r>
              <a:rPr lang="es-ES" dirty="0" err="1"/>
              <a:t>fini</a:t>
            </a:r>
            <a:r>
              <a:rPr lang="es-ES" dirty="0"/>
              <a:t>)=</a:t>
            </a:r>
            <a:r>
              <a:rPr lang="es-ES" dirty="0" err="1"/>
              <a:t>year</a:t>
            </a:r>
            <a:r>
              <a:rPr lang="es-ES" dirty="0"/>
              <a:t>(</a:t>
            </a:r>
            <a:r>
              <a:rPr lang="es-ES" dirty="0" err="1"/>
              <a:t>curdate</a:t>
            </a:r>
            <a:r>
              <a:rPr lang="es-ES" dirty="0"/>
              <a:t>())-1 </a:t>
            </a:r>
          </a:p>
          <a:p>
            <a:pPr marL="0" indent="0">
              <a:lnSpc>
                <a:spcPct val="120000"/>
              </a:lnSpc>
              <a:spcBef>
                <a:spcPts val="0"/>
              </a:spcBef>
              <a:buNone/>
            </a:pPr>
            <a:r>
              <a:rPr lang="es-ES" dirty="0"/>
              <a:t>AND </a:t>
            </a:r>
            <a:r>
              <a:rPr lang="es-ES" dirty="0" err="1"/>
              <a:t>fini</a:t>
            </a:r>
            <a:r>
              <a:rPr lang="es-ES" dirty="0"/>
              <a:t>&lt; (</a:t>
            </a:r>
            <a:r>
              <a:rPr lang="es-ES" dirty="0">
                <a:solidFill>
                  <a:srgbClr val="FF0000"/>
                </a:solidFill>
              </a:rPr>
              <a:t>SELECT * FROM</a:t>
            </a:r>
          </a:p>
          <a:p>
            <a:pPr marL="0" indent="0">
              <a:lnSpc>
                <a:spcPct val="120000"/>
              </a:lnSpc>
              <a:spcBef>
                <a:spcPts val="0"/>
              </a:spcBef>
              <a:buNone/>
            </a:pPr>
            <a:r>
              <a:rPr lang="es-ES" dirty="0">
                <a:solidFill>
                  <a:schemeClr val="tx2">
                    <a:lumMod val="50000"/>
                    <a:lumOff val="50000"/>
                  </a:schemeClr>
                </a:solidFill>
              </a:rPr>
              <a:t>	       (SELECT </a:t>
            </a:r>
            <a:r>
              <a:rPr lang="es-ES" dirty="0" err="1">
                <a:solidFill>
                  <a:schemeClr val="tx2">
                    <a:lumMod val="50000"/>
                    <a:lumOff val="50000"/>
                  </a:schemeClr>
                </a:solidFill>
              </a:rPr>
              <a:t>fini</a:t>
            </a:r>
            <a:r>
              <a:rPr lang="es-ES" dirty="0">
                <a:solidFill>
                  <a:schemeClr val="tx2">
                    <a:lumMod val="50000"/>
                    <a:lumOff val="50000"/>
                  </a:schemeClr>
                </a:solidFill>
              </a:rPr>
              <a:t> </a:t>
            </a:r>
          </a:p>
          <a:p>
            <a:pPr marL="0" indent="0">
              <a:lnSpc>
                <a:spcPct val="120000"/>
              </a:lnSpc>
              <a:spcBef>
                <a:spcPts val="0"/>
              </a:spcBef>
              <a:buNone/>
            </a:pPr>
            <a:r>
              <a:rPr lang="es-ES" dirty="0">
                <a:solidFill>
                  <a:schemeClr val="tx2">
                    <a:lumMod val="50000"/>
                    <a:lumOff val="50000"/>
                  </a:schemeClr>
                </a:solidFill>
              </a:rPr>
              <a:t>	       FROM </a:t>
            </a:r>
            <a:r>
              <a:rPr lang="es-ES" dirty="0">
                <a:solidFill>
                  <a:schemeClr val="tx2">
                    <a:lumMod val="50000"/>
                    <a:lumOff val="50000"/>
                  </a:schemeClr>
                </a:solidFill>
                <a:highlight>
                  <a:srgbClr val="FFFF00"/>
                </a:highlight>
              </a:rPr>
              <a:t>contratos</a:t>
            </a:r>
            <a:r>
              <a:rPr lang="es-ES" dirty="0">
                <a:solidFill>
                  <a:schemeClr val="tx2">
                    <a:lumMod val="50000"/>
                    <a:lumOff val="50000"/>
                  </a:schemeClr>
                </a:solidFill>
              </a:rPr>
              <a:t> </a:t>
            </a:r>
          </a:p>
          <a:p>
            <a:pPr marL="0" indent="0">
              <a:lnSpc>
                <a:spcPct val="120000"/>
              </a:lnSpc>
              <a:spcBef>
                <a:spcPts val="0"/>
              </a:spcBef>
              <a:buNone/>
            </a:pPr>
            <a:r>
              <a:rPr lang="es-ES" dirty="0">
                <a:solidFill>
                  <a:schemeClr val="tx2">
                    <a:lumMod val="50000"/>
                    <a:lumOff val="50000"/>
                  </a:schemeClr>
                </a:solidFill>
              </a:rPr>
              <a:t>	       INNER JOIN clientes ON </a:t>
            </a:r>
            <a:r>
              <a:rPr lang="es-ES" dirty="0" err="1">
                <a:solidFill>
                  <a:schemeClr val="tx2">
                    <a:lumMod val="50000"/>
                    <a:lumOff val="50000"/>
                  </a:schemeClr>
                </a:solidFill>
              </a:rPr>
              <a:t>dnicliente</a:t>
            </a:r>
            <a:r>
              <a:rPr lang="es-ES" dirty="0">
                <a:solidFill>
                  <a:schemeClr val="tx2">
                    <a:lumMod val="50000"/>
                    <a:lumOff val="50000"/>
                  </a:schemeClr>
                </a:solidFill>
              </a:rPr>
              <a:t>=</a:t>
            </a:r>
            <a:r>
              <a:rPr lang="es-ES" dirty="0" err="1">
                <a:solidFill>
                  <a:schemeClr val="tx2">
                    <a:lumMod val="50000"/>
                    <a:lumOff val="50000"/>
                  </a:schemeClr>
                </a:solidFill>
              </a:rPr>
              <a:t>dni</a:t>
            </a:r>
            <a:endParaRPr lang="es-ES" dirty="0">
              <a:solidFill>
                <a:schemeClr val="tx2">
                  <a:lumMod val="50000"/>
                  <a:lumOff val="50000"/>
                </a:schemeClr>
              </a:solidFill>
            </a:endParaRPr>
          </a:p>
          <a:p>
            <a:pPr marL="0" indent="0">
              <a:lnSpc>
                <a:spcPct val="120000"/>
              </a:lnSpc>
              <a:spcBef>
                <a:spcPts val="0"/>
              </a:spcBef>
              <a:buNone/>
            </a:pPr>
            <a:r>
              <a:rPr lang="es-ES" dirty="0">
                <a:solidFill>
                  <a:schemeClr val="tx2">
                    <a:lumMod val="50000"/>
                    <a:lumOff val="50000"/>
                  </a:schemeClr>
                </a:solidFill>
              </a:rPr>
              <a:t>	       WHERE </a:t>
            </a:r>
            <a:r>
              <a:rPr lang="es-ES" dirty="0" err="1">
                <a:solidFill>
                  <a:schemeClr val="tx2">
                    <a:lumMod val="50000"/>
                    <a:lumOff val="50000"/>
                  </a:schemeClr>
                </a:solidFill>
              </a:rPr>
              <a:t>a.nombre</a:t>
            </a:r>
            <a:r>
              <a:rPr lang="es-ES" dirty="0">
                <a:solidFill>
                  <a:schemeClr val="tx2">
                    <a:lumMod val="50000"/>
                    <a:lumOff val="50000"/>
                  </a:schemeClr>
                </a:solidFill>
              </a:rPr>
              <a:t>='Reyes' AND </a:t>
            </a:r>
            <a:r>
              <a:rPr lang="es-ES" dirty="0" err="1">
                <a:solidFill>
                  <a:schemeClr val="tx2">
                    <a:lumMod val="50000"/>
                    <a:lumOff val="50000"/>
                  </a:schemeClr>
                </a:solidFill>
              </a:rPr>
              <a:t>a.apellidos</a:t>
            </a:r>
            <a:r>
              <a:rPr lang="es-ES" dirty="0">
                <a:solidFill>
                  <a:schemeClr val="tx2">
                    <a:lumMod val="50000"/>
                    <a:lumOff val="50000"/>
                  </a:schemeClr>
                </a:solidFill>
              </a:rPr>
              <a:t>='Sanz </a:t>
            </a:r>
            <a:r>
              <a:rPr lang="es-ES" dirty="0" err="1">
                <a:solidFill>
                  <a:schemeClr val="tx2">
                    <a:lumMod val="50000"/>
                    <a:lumOff val="50000"/>
                  </a:schemeClr>
                </a:solidFill>
              </a:rPr>
              <a:t>Lopez</a:t>
            </a:r>
            <a:r>
              <a:rPr lang="es-ES" dirty="0">
                <a:solidFill>
                  <a:schemeClr val="tx2">
                    <a:lumMod val="50000"/>
                    <a:lumOff val="50000"/>
                  </a:schemeClr>
                </a:solidFill>
              </a:rPr>
              <a:t>’ </a:t>
            </a:r>
          </a:p>
          <a:p>
            <a:pPr marL="0" indent="0">
              <a:lnSpc>
                <a:spcPct val="120000"/>
              </a:lnSpc>
              <a:spcBef>
                <a:spcPts val="0"/>
              </a:spcBef>
              <a:buNone/>
            </a:pPr>
            <a:r>
              <a:rPr lang="es-ES" dirty="0">
                <a:solidFill>
                  <a:schemeClr val="tx2">
                    <a:lumMod val="50000"/>
                    <a:lumOff val="50000"/>
                  </a:schemeClr>
                </a:solidFill>
              </a:rPr>
              <a:t>	      ORDER BY </a:t>
            </a:r>
            <a:r>
              <a:rPr lang="es-ES" dirty="0" err="1">
                <a:solidFill>
                  <a:schemeClr val="tx2">
                    <a:lumMod val="50000"/>
                    <a:lumOff val="50000"/>
                  </a:schemeClr>
                </a:solidFill>
              </a:rPr>
              <a:t>numcontrato</a:t>
            </a:r>
            <a:r>
              <a:rPr lang="es-ES" dirty="0">
                <a:solidFill>
                  <a:schemeClr val="tx2">
                    <a:lumMod val="50000"/>
                    <a:lumOff val="50000"/>
                  </a:schemeClr>
                </a:solidFill>
              </a:rPr>
              <a:t> LIMIT 1)</a:t>
            </a:r>
            <a:r>
              <a:rPr lang="es-ES" dirty="0">
                <a:solidFill>
                  <a:srgbClr val="FF0000"/>
                </a:solidFill>
              </a:rPr>
              <a:t>AS a</a:t>
            </a:r>
            <a:r>
              <a:rPr lang="es-ES" dirty="0"/>
              <a:t>);</a:t>
            </a:r>
          </a:p>
          <a:p>
            <a:endParaRPr lang="es-ES" dirty="0"/>
          </a:p>
        </p:txBody>
      </p:sp>
      <p:sp>
        <p:nvSpPr>
          <p:cNvPr id="4" name="CuadroTexto 3">
            <a:extLst>
              <a:ext uri="{FF2B5EF4-FFF2-40B4-BE49-F238E27FC236}">
                <a16:creationId xmlns:a16="http://schemas.microsoft.com/office/drawing/2014/main" id="{6E4F7156-1D0C-C13B-4756-E4C2303592FB}"/>
              </a:ext>
            </a:extLst>
          </p:cNvPr>
          <p:cNvSpPr txBox="1"/>
          <p:nvPr/>
        </p:nvSpPr>
        <p:spPr>
          <a:xfrm>
            <a:off x="6096000" y="2533650"/>
            <a:ext cx="6048375" cy="1477328"/>
          </a:xfrm>
          <a:prstGeom prst="rect">
            <a:avLst/>
          </a:prstGeom>
          <a:noFill/>
        </p:spPr>
        <p:txBody>
          <a:bodyPr wrap="square" rtlCol="0">
            <a:spAutoFit/>
          </a:bodyPr>
          <a:lstStyle/>
          <a:p>
            <a:r>
              <a:rPr lang="es-ES" dirty="0"/>
              <a:t>El borrado tiene dos condiciones. El primero es que el año sea anterior al actual, y además, que sea anterior al contrato realizado por una cliente. Como la condición implica la misma tabla de la que quieres borrar, hay que hacer un renombrado para que funcione</a:t>
            </a:r>
          </a:p>
        </p:txBody>
      </p:sp>
    </p:spTree>
    <p:extLst>
      <p:ext uri="{BB962C8B-B14F-4D97-AF65-F5344CB8AC3E}">
        <p14:creationId xmlns:p14="http://schemas.microsoft.com/office/powerpoint/2010/main" val="140270447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114</TotalTime>
  <Words>660</Words>
  <Application>Microsoft Office PowerPoint</Application>
  <PresentationFormat>Panorámica</PresentationFormat>
  <Paragraphs>69</Paragraphs>
  <Slides>10</Slides>
  <Notes>0</Notes>
  <HiddenSlides>0</HiddenSlides>
  <MMClips>1</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Aptos</vt:lpstr>
      <vt:lpstr>Aptos Display</vt:lpstr>
      <vt:lpstr>Arial</vt:lpstr>
      <vt:lpstr>Tema de Office</vt:lpstr>
      <vt:lpstr>BORRADO AVANZADO</vt:lpstr>
      <vt:lpstr>REPASO DE DELETE</vt:lpstr>
      <vt:lpstr>REPASO DE DELETE</vt:lpstr>
      <vt:lpstr>REPASO DE DELETE</vt:lpstr>
      <vt:lpstr>REPASO DE DELETE</vt:lpstr>
      <vt:lpstr>REPASO DE DELETE</vt:lpstr>
      <vt:lpstr>REPASO DE DELETE</vt:lpstr>
      <vt:lpstr>REPASO DE DELETE</vt:lpstr>
      <vt:lpstr>REPASO DE DELETE</vt:lpstr>
      <vt:lpstr>REPASO DE DELETE</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Nuria Celis Nieto</dc:creator>
  <cp:lastModifiedBy>Nuria Celis Nieto</cp:lastModifiedBy>
  <cp:revision>6</cp:revision>
  <dcterms:created xsi:type="dcterms:W3CDTF">2026-04-01T14:47:08Z</dcterms:created>
  <dcterms:modified xsi:type="dcterms:W3CDTF">2026-04-10T06:20:07Z</dcterms:modified>
</cp:coreProperties>
</file>