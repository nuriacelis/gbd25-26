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2" r:id="rId7"/>
    <p:sldId id="273" r:id="rId8"/>
    <p:sldId id="261" r:id="rId9"/>
    <p:sldId id="274" r:id="rId10"/>
    <p:sldId id="275" r:id="rId11"/>
    <p:sldId id="280" r:id="rId12"/>
    <p:sldId id="281" r:id="rId13"/>
    <p:sldId id="277" r:id="rId14"/>
    <p:sldId id="264" r:id="rId15"/>
    <p:sldId id="278" r:id="rId16"/>
    <p:sldId id="279" r:id="rId17"/>
    <p:sldId id="267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A02CA7-4F2A-44B5-8B3C-92830CFBBC9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0C58EC3B-5AB7-4B0E-A172-A45CEC76A528}">
      <dgm:prSet phldrT="[Texto]" phldr="0"/>
      <dgm:spPr/>
      <dgm:t>
        <a:bodyPr/>
        <a:lstStyle/>
        <a:p>
          <a:r>
            <a:rPr lang="es-ES" dirty="0"/>
            <a:t>1FN</a:t>
          </a:r>
        </a:p>
      </dgm:t>
    </dgm:pt>
    <dgm:pt modelId="{858BBFE4-F93E-4E5A-8586-222AF94D1F06}" type="parTrans" cxnId="{E68B34EF-47AB-40A3-B697-E0F7F34E7F98}">
      <dgm:prSet/>
      <dgm:spPr/>
      <dgm:t>
        <a:bodyPr/>
        <a:lstStyle/>
        <a:p>
          <a:endParaRPr lang="es-ES"/>
        </a:p>
      </dgm:t>
    </dgm:pt>
    <dgm:pt modelId="{050A59A3-7FC6-4E97-8401-EC1CE5A6EC2A}" type="sibTrans" cxnId="{E68B34EF-47AB-40A3-B697-E0F7F34E7F98}">
      <dgm:prSet/>
      <dgm:spPr/>
      <dgm:t>
        <a:bodyPr/>
        <a:lstStyle/>
        <a:p>
          <a:endParaRPr lang="es-ES"/>
        </a:p>
      </dgm:t>
    </dgm:pt>
    <dgm:pt modelId="{2386EA7B-73A8-4B68-B194-96433E13A9E6}">
      <dgm:prSet phldrT="[Texto]" phldr="0"/>
      <dgm:spPr/>
      <dgm:t>
        <a:bodyPr/>
        <a:lstStyle/>
        <a:p>
          <a:r>
            <a:rPr lang="es-ES" dirty="0"/>
            <a:t>2FN</a:t>
          </a:r>
        </a:p>
      </dgm:t>
    </dgm:pt>
    <dgm:pt modelId="{CE35D256-2018-4841-8DB0-4FA2DD575921}" type="parTrans" cxnId="{68D63A56-0715-4985-A528-CC36E74F8F5A}">
      <dgm:prSet/>
      <dgm:spPr/>
      <dgm:t>
        <a:bodyPr/>
        <a:lstStyle/>
        <a:p>
          <a:endParaRPr lang="es-ES"/>
        </a:p>
      </dgm:t>
    </dgm:pt>
    <dgm:pt modelId="{ACC30FA6-6638-4FBA-9D5E-9EFE6DB26B90}" type="sibTrans" cxnId="{68D63A56-0715-4985-A528-CC36E74F8F5A}">
      <dgm:prSet/>
      <dgm:spPr/>
      <dgm:t>
        <a:bodyPr/>
        <a:lstStyle/>
        <a:p>
          <a:endParaRPr lang="es-ES"/>
        </a:p>
      </dgm:t>
    </dgm:pt>
    <dgm:pt modelId="{1AAE837C-C96A-4D3A-8280-B6D101B3F615}">
      <dgm:prSet phldrT="[Texto]" phldr="0"/>
      <dgm:spPr/>
      <dgm:t>
        <a:bodyPr/>
        <a:lstStyle/>
        <a:p>
          <a:r>
            <a:rPr lang="es-ES" dirty="0"/>
            <a:t>3FN</a:t>
          </a:r>
        </a:p>
      </dgm:t>
    </dgm:pt>
    <dgm:pt modelId="{47E5975F-5881-4D3B-BE45-ADE326CAD2C5}" type="parTrans" cxnId="{0247A26D-8DAA-4444-9965-AAF5AA934FE7}">
      <dgm:prSet/>
      <dgm:spPr/>
      <dgm:t>
        <a:bodyPr/>
        <a:lstStyle/>
        <a:p>
          <a:endParaRPr lang="es-ES"/>
        </a:p>
      </dgm:t>
    </dgm:pt>
    <dgm:pt modelId="{3CE2A516-F545-478F-AF2C-9677FD06697E}" type="sibTrans" cxnId="{0247A26D-8DAA-4444-9965-AAF5AA934FE7}">
      <dgm:prSet/>
      <dgm:spPr/>
      <dgm:t>
        <a:bodyPr/>
        <a:lstStyle/>
        <a:p>
          <a:endParaRPr lang="es-ES"/>
        </a:p>
      </dgm:t>
    </dgm:pt>
    <dgm:pt modelId="{12FE836A-173D-4B46-A5B1-3F0A822939AE}">
      <dgm:prSet phldrT="[Texto]" phldr="0"/>
      <dgm:spPr/>
      <dgm:t>
        <a:bodyPr/>
        <a:lstStyle/>
        <a:p>
          <a:r>
            <a:rPr lang="es-ES"/>
            <a:t>FNBC</a:t>
          </a:r>
          <a:endParaRPr lang="es-ES" dirty="0"/>
        </a:p>
      </dgm:t>
    </dgm:pt>
    <dgm:pt modelId="{9681E9DF-856F-46C4-9BB8-271AC7D0925A}" type="parTrans" cxnId="{0726CB8E-8595-4614-B5DB-8FB699ACE398}">
      <dgm:prSet/>
      <dgm:spPr/>
      <dgm:t>
        <a:bodyPr/>
        <a:lstStyle/>
        <a:p>
          <a:endParaRPr lang="es-ES"/>
        </a:p>
      </dgm:t>
    </dgm:pt>
    <dgm:pt modelId="{7588706C-008C-4425-B149-FC3FF5D3C684}" type="sibTrans" cxnId="{0726CB8E-8595-4614-B5DB-8FB699ACE398}">
      <dgm:prSet/>
      <dgm:spPr/>
      <dgm:t>
        <a:bodyPr/>
        <a:lstStyle/>
        <a:p>
          <a:endParaRPr lang="es-ES"/>
        </a:p>
      </dgm:t>
    </dgm:pt>
    <dgm:pt modelId="{E748CF3E-712A-4050-8F73-964AC0748534}">
      <dgm:prSet phldrT="[Texto]" phldr="0"/>
      <dgm:spPr/>
      <dgm:t>
        <a:bodyPr/>
        <a:lstStyle/>
        <a:p>
          <a:r>
            <a:rPr lang="es-ES"/>
            <a:t>4FN</a:t>
          </a:r>
          <a:endParaRPr lang="es-ES" dirty="0"/>
        </a:p>
      </dgm:t>
    </dgm:pt>
    <dgm:pt modelId="{16536ADE-F2BE-4844-8579-C38DEC96EEA6}" type="parTrans" cxnId="{9B1D6EE5-C01C-405F-8D44-55F8790665DD}">
      <dgm:prSet/>
      <dgm:spPr/>
      <dgm:t>
        <a:bodyPr/>
        <a:lstStyle/>
        <a:p>
          <a:endParaRPr lang="es-ES"/>
        </a:p>
      </dgm:t>
    </dgm:pt>
    <dgm:pt modelId="{DA614FE4-7C48-4C84-B1CD-F2F34B8F1B00}" type="sibTrans" cxnId="{9B1D6EE5-C01C-405F-8D44-55F8790665DD}">
      <dgm:prSet/>
      <dgm:spPr/>
      <dgm:t>
        <a:bodyPr/>
        <a:lstStyle/>
        <a:p>
          <a:endParaRPr lang="es-ES"/>
        </a:p>
      </dgm:t>
    </dgm:pt>
    <dgm:pt modelId="{A27AEE5A-4D36-4B5F-9445-B1952FEBD3FF}">
      <dgm:prSet phldrT="[Texto]" phldr="0"/>
      <dgm:spPr/>
      <dgm:t>
        <a:bodyPr/>
        <a:lstStyle/>
        <a:p>
          <a:r>
            <a:rPr lang="es-ES"/>
            <a:t>5FN</a:t>
          </a:r>
          <a:endParaRPr lang="es-ES" dirty="0"/>
        </a:p>
      </dgm:t>
    </dgm:pt>
    <dgm:pt modelId="{F75FB5C1-6550-40FD-90DF-1A4FE22FA501}" type="parTrans" cxnId="{E4C82276-6CC7-479F-830F-6B589707951B}">
      <dgm:prSet/>
      <dgm:spPr/>
      <dgm:t>
        <a:bodyPr/>
        <a:lstStyle/>
        <a:p>
          <a:endParaRPr lang="es-ES"/>
        </a:p>
      </dgm:t>
    </dgm:pt>
    <dgm:pt modelId="{8F9A390C-8602-4B73-BDDB-06E543CD1CC2}" type="sibTrans" cxnId="{E4C82276-6CC7-479F-830F-6B589707951B}">
      <dgm:prSet/>
      <dgm:spPr/>
      <dgm:t>
        <a:bodyPr/>
        <a:lstStyle/>
        <a:p>
          <a:endParaRPr lang="es-ES"/>
        </a:p>
      </dgm:t>
    </dgm:pt>
    <dgm:pt modelId="{2186751B-4B91-4CF4-BC98-D274B97C84F1}" type="pres">
      <dgm:prSet presAssocID="{A5A02CA7-4F2A-44B5-8B3C-92830CFBBC9E}" presName="CompostProcess" presStyleCnt="0">
        <dgm:presLayoutVars>
          <dgm:dir/>
          <dgm:resizeHandles val="exact"/>
        </dgm:presLayoutVars>
      </dgm:prSet>
      <dgm:spPr/>
    </dgm:pt>
    <dgm:pt modelId="{0A769400-0C29-4AC2-9EB6-BFA63CC0E5E2}" type="pres">
      <dgm:prSet presAssocID="{A5A02CA7-4F2A-44B5-8B3C-92830CFBBC9E}" presName="arrow" presStyleLbl="bgShp" presStyleIdx="0" presStyleCnt="1"/>
      <dgm:spPr/>
    </dgm:pt>
    <dgm:pt modelId="{827842CA-D805-466D-B0F1-20284C4DC622}" type="pres">
      <dgm:prSet presAssocID="{A5A02CA7-4F2A-44B5-8B3C-92830CFBBC9E}" presName="linearProcess" presStyleCnt="0"/>
      <dgm:spPr/>
    </dgm:pt>
    <dgm:pt modelId="{79C1B9B2-A8C4-45DE-868C-6505EFF9FB7B}" type="pres">
      <dgm:prSet presAssocID="{0C58EC3B-5AB7-4B0E-A172-A45CEC76A528}" presName="textNode" presStyleLbl="node1" presStyleIdx="0" presStyleCnt="6">
        <dgm:presLayoutVars>
          <dgm:bulletEnabled val="1"/>
        </dgm:presLayoutVars>
      </dgm:prSet>
      <dgm:spPr/>
    </dgm:pt>
    <dgm:pt modelId="{91A995C1-10EF-41E4-B3D0-9494309D6A02}" type="pres">
      <dgm:prSet presAssocID="{050A59A3-7FC6-4E97-8401-EC1CE5A6EC2A}" presName="sibTrans" presStyleCnt="0"/>
      <dgm:spPr/>
    </dgm:pt>
    <dgm:pt modelId="{40B3DE14-DDBB-4655-B9ED-091C84E2658A}" type="pres">
      <dgm:prSet presAssocID="{2386EA7B-73A8-4B68-B194-96433E13A9E6}" presName="textNode" presStyleLbl="node1" presStyleIdx="1" presStyleCnt="6">
        <dgm:presLayoutVars>
          <dgm:bulletEnabled val="1"/>
        </dgm:presLayoutVars>
      </dgm:prSet>
      <dgm:spPr/>
    </dgm:pt>
    <dgm:pt modelId="{E6FA9C21-37C8-4ED5-8A81-2B2C324ACB47}" type="pres">
      <dgm:prSet presAssocID="{ACC30FA6-6638-4FBA-9D5E-9EFE6DB26B90}" presName="sibTrans" presStyleCnt="0"/>
      <dgm:spPr/>
    </dgm:pt>
    <dgm:pt modelId="{227A352B-50F0-475E-883B-1B3AF036C927}" type="pres">
      <dgm:prSet presAssocID="{1AAE837C-C96A-4D3A-8280-B6D101B3F615}" presName="textNode" presStyleLbl="node1" presStyleIdx="2" presStyleCnt="6">
        <dgm:presLayoutVars>
          <dgm:bulletEnabled val="1"/>
        </dgm:presLayoutVars>
      </dgm:prSet>
      <dgm:spPr/>
    </dgm:pt>
    <dgm:pt modelId="{1755D183-66CC-4E8F-82A5-0E0826C2A6AB}" type="pres">
      <dgm:prSet presAssocID="{3CE2A516-F545-478F-AF2C-9677FD06697E}" presName="sibTrans" presStyleCnt="0"/>
      <dgm:spPr/>
    </dgm:pt>
    <dgm:pt modelId="{BFFFADDF-3415-4443-A008-2D8C3E060AB1}" type="pres">
      <dgm:prSet presAssocID="{12FE836A-173D-4B46-A5B1-3F0A822939AE}" presName="textNode" presStyleLbl="node1" presStyleIdx="3" presStyleCnt="6">
        <dgm:presLayoutVars>
          <dgm:bulletEnabled val="1"/>
        </dgm:presLayoutVars>
      </dgm:prSet>
      <dgm:spPr/>
    </dgm:pt>
    <dgm:pt modelId="{2B36BA06-7316-48CC-9644-65E1BE0860BF}" type="pres">
      <dgm:prSet presAssocID="{7588706C-008C-4425-B149-FC3FF5D3C684}" presName="sibTrans" presStyleCnt="0"/>
      <dgm:spPr/>
    </dgm:pt>
    <dgm:pt modelId="{2362ACFD-66D4-4C1C-85AB-F69DC4C243F9}" type="pres">
      <dgm:prSet presAssocID="{E748CF3E-712A-4050-8F73-964AC0748534}" presName="textNode" presStyleLbl="node1" presStyleIdx="4" presStyleCnt="6">
        <dgm:presLayoutVars>
          <dgm:bulletEnabled val="1"/>
        </dgm:presLayoutVars>
      </dgm:prSet>
      <dgm:spPr/>
    </dgm:pt>
    <dgm:pt modelId="{F0D7E0B7-D560-4F0D-8376-7617616127A6}" type="pres">
      <dgm:prSet presAssocID="{DA614FE4-7C48-4C84-B1CD-F2F34B8F1B00}" presName="sibTrans" presStyleCnt="0"/>
      <dgm:spPr/>
    </dgm:pt>
    <dgm:pt modelId="{E6F794E3-BB9D-4BA6-8209-21683C105759}" type="pres">
      <dgm:prSet presAssocID="{A27AEE5A-4D36-4B5F-9445-B1952FEBD3FF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AC370C0A-8EC0-410E-9DDA-04FD6F2C702C}" type="presOf" srcId="{A27AEE5A-4D36-4B5F-9445-B1952FEBD3FF}" destId="{E6F794E3-BB9D-4BA6-8209-21683C105759}" srcOrd="0" destOrd="0" presId="urn:microsoft.com/office/officeart/2005/8/layout/hProcess9"/>
    <dgm:cxn modelId="{F064F225-A32F-4828-8CEF-714534AF2068}" type="presOf" srcId="{12FE836A-173D-4B46-A5B1-3F0A822939AE}" destId="{BFFFADDF-3415-4443-A008-2D8C3E060AB1}" srcOrd="0" destOrd="0" presId="urn:microsoft.com/office/officeart/2005/8/layout/hProcess9"/>
    <dgm:cxn modelId="{DD01782B-98C5-4A03-8C94-49945853CC89}" type="presOf" srcId="{E748CF3E-712A-4050-8F73-964AC0748534}" destId="{2362ACFD-66D4-4C1C-85AB-F69DC4C243F9}" srcOrd="0" destOrd="0" presId="urn:microsoft.com/office/officeart/2005/8/layout/hProcess9"/>
    <dgm:cxn modelId="{7A42F239-E01A-4937-BCDA-E05728845932}" type="presOf" srcId="{A5A02CA7-4F2A-44B5-8B3C-92830CFBBC9E}" destId="{2186751B-4B91-4CF4-BC98-D274B97C84F1}" srcOrd="0" destOrd="0" presId="urn:microsoft.com/office/officeart/2005/8/layout/hProcess9"/>
    <dgm:cxn modelId="{0247A26D-8DAA-4444-9965-AAF5AA934FE7}" srcId="{A5A02CA7-4F2A-44B5-8B3C-92830CFBBC9E}" destId="{1AAE837C-C96A-4D3A-8280-B6D101B3F615}" srcOrd="2" destOrd="0" parTransId="{47E5975F-5881-4D3B-BE45-ADE326CAD2C5}" sibTransId="{3CE2A516-F545-478F-AF2C-9677FD06697E}"/>
    <dgm:cxn modelId="{94476172-B7E1-4498-9981-7190968F95A6}" type="presOf" srcId="{2386EA7B-73A8-4B68-B194-96433E13A9E6}" destId="{40B3DE14-DDBB-4655-B9ED-091C84E2658A}" srcOrd="0" destOrd="0" presId="urn:microsoft.com/office/officeart/2005/8/layout/hProcess9"/>
    <dgm:cxn modelId="{E4C82276-6CC7-479F-830F-6B589707951B}" srcId="{A5A02CA7-4F2A-44B5-8B3C-92830CFBBC9E}" destId="{A27AEE5A-4D36-4B5F-9445-B1952FEBD3FF}" srcOrd="5" destOrd="0" parTransId="{F75FB5C1-6550-40FD-90DF-1A4FE22FA501}" sibTransId="{8F9A390C-8602-4B73-BDDB-06E543CD1CC2}"/>
    <dgm:cxn modelId="{68D63A56-0715-4985-A528-CC36E74F8F5A}" srcId="{A5A02CA7-4F2A-44B5-8B3C-92830CFBBC9E}" destId="{2386EA7B-73A8-4B68-B194-96433E13A9E6}" srcOrd="1" destOrd="0" parTransId="{CE35D256-2018-4841-8DB0-4FA2DD575921}" sibTransId="{ACC30FA6-6638-4FBA-9D5E-9EFE6DB26B90}"/>
    <dgm:cxn modelId="{0726CB8E-8595-4614-B5DB-8FB699ACE398}" srcId="{A5A02CA7-4F2A-44B5-8B3C-92830CFBBC9E}" destId="{12FE836A-173D-4B46-A5B1-3F0A822939AE}" srcOrd="3" destOrd="0" parTransId="{9681E9DF-856F-46C4-9BB8-271AC7D0925A}" sibTransId="{7588706C-008C-4425-B149-FC3FF5D3C684}"/>
    <dgm:cxn modelId="{667A1F91-3580-4D12-96DB-F2ECE5133DC7}" type="presOf" srcId="{1AAE837C-C96A-4D3A-8280-B6D101B3F615}" destId="{227A352B-50F0-475E-883B-1B3AF036C927}" srcOrd="0" destOrd="0" presId="urn:microsoft.com/office/officeart/2005/8/layout/hProcess9"/>
    <dgm:cxn modelId="{0A90F699-675B-4131-AB83-932E6745EB9E}" type="presOf" srcId="{0C58EC3B-5AB7-4B0E-A172-A45CEC76A528}" destId="{79C1B9B2-A8C4-45DE-868C-6505EFF9FB7B}" srcOrd="0" destOrd="0" presId="urn:microsoft.com/office/officeart/2005/8/layout/hProcess9"/>
    <dgm:cxn modelId="{9B1D6EE5-C01C-405F-8D44-55F8790665DD}" srcId="{A5A02CA7-4F2A-44B5-8B3C-92830CFBBC9E}" destId="{E748CF3E-712A-4050-8F73-964AC0748534}" srcOrd="4" destOrd="0" parTransId="{16536ADE-F2BE-4844-8579-C38DEC96EEA6}" sibTransId="{DA614FE4-7C48-4C84-B1CD-F2F34B8F1B00}"/>
    <dgm:cxn modelId="{E68B34EF-47AB-40A3-B697-E0F7F34E7F98}" srcId="{A5A02CA7-4F2A-44B5-8B3C-92830CFBBC9E}" destId="{0C58EC3B-5AB7-4B0E-A172-A45CEC76A528}" srcOrd="0" destOrd="0" parTransId="{858BBFE4-F93E-4E5A-8586-222AF94D1F06}" sibTransId="{050A59A3-7FC6-4E97-8401-EC1CE5A6EC2A}"/>
    <dgm:cxn modelId="{04338BA1-CF81-4348-A6A1-8DDD96F1967A}" type="presParOf" srcId="{2186751B-4B91-4CF4-BC98-D274B97C84F1}" destId="{0A769400-0C29-4AC2-9EB6-BFA63CC0E5E2}" srcOrd="0" destOrd="0" presId="urn:microsoft.com/office/officeart/2005/8/layout/hProcess9"/>
    <dgm:cxn modelId="{F040A47D-BE70-4D87-9709-A594E36D2592}" type="presParOf" srcId="{2186751B-4B91-4CF4-BC98-D274B97C84F1}" destId="{827842CA-D805-466D-B0F1-20284C4DC622}" srcOrd="1" destOrd="0" presId="urn:microsoft.com/office/officeart/2005/8/layout/hProcess9"/>
    <dgm:cxn modelId="{CCC4FAB4-692B-43B5-AC15-A217352204A9}" type="presParOf" srcId="{827842CA-D805-466D-B0F1-20284C4DC622}" destId="{79C1B9B2-A8C4-45DE-868C-6505EFF9FB7B}" srcOrd="0" destOrd="0" presId="urn:microsoft.com/office/officeart/2005/8/layout/hProcess9"/>
    <dgm:cxn modelId="{5A216A59-50BE-4246-9B30-62A569B30D07}" type="presParOf" srcId="{827842CA-D805-466D-B0F1-20284C4DC622}" destId="{91A995C1-10EF-41E4-B3D0-9494309D6A02}" srcOrd="1" destOrd="0" presId="urn:microsoft.com/office/officeart/2005/8/layout/hProcess9"/>
    <dgm:cxn modelId="{85342D68-99CA-4D79-AE0F-E7F1555E239C}" type="presParOf" srcId="{827842CA-D805-466D-B0F1-20284C4DC622}" destId="{40B3DE14-DDBB-4655-B9ED-091C84E2658A}" srcOrd="2" destOrd="0" presId="urn:microsoft.com/office/officeart/2005/8/layout/hProcess9"/>
    <dgm:cxn modelId="{D6BD3622-4393-43F9-B8BC-D86A83C94E36}" type="presParOf" srcId="{827842CA-D805-466D-B0F1-20284C4DC622}" destId="{E6FA9C21-37C8-4ED5-8A81-2B2C324ACB47}" srcOrd="3" destOrd="0" presId="urn:microsoft.com/office/officeart/2005/8/layout/hProcess9"/>
    <dgm:cxn modelId="{16175C3C-3DC9-4395-8C8A-ED08F36BE4EA}" type="presParOf" srcId="{827842CA-D805-466D-B0F1-20284C4DC622}" destId="{227A352B-50F0-475E-883B-1B3AF036C927}" srcOrd="4" destOrd="0" presId="urn:microsoft.com/office/officeart/2005/8/layout/hProcess9"/>
    <dgm:cxn modelId="{3D67792D-6F63-4D61-ABE7-F3609468AF99}" type="presParOf" srcId="{827842CA-D805-466D-B0F1-20284C4DC622}" destId="{1755D183-66CC-4E8F-82A5-0E0826C2A6AB}" srcOrd="5" destOrd="0" presId="urn:microsoft.com/office/officeart/2005/8/layout/hProcess9"/>
    <dgm:cxn modelId="{C16129E7-CA6A-47FE-B25F-11922B8E2B88}" type="presParOf" srcId="{827842CA-D805-466D-B0F1-20284C4DC622}" destId="{BFFFADDF-3415-4443-A008-2D8C3E060AB1}" srcOrd="6" destOrd="0" presId="urn:microsoft.com/office/officeart/2005/8/layout/hProcess9"/>
    <dgm:cxn modelId="{CA689B0E-A0EA-48B3-9B18-4EA32CB1020A}" type="presParOf" srcId="{827842CA-D805-466D-B0F1-20284C4DC622}" destId="{2B36BA06-7316-48CC-9644-65E1BE0860BF}" srcOrd="7" destOrd="0" presId="urn:microsoft.com/office/officeart/2005/8/layout/hProcess9"/>
    <dgm:cxn modelId="{0A4A2663-0D5E-4267-9CF0-EBE554D6A3EC}" type="presParOf" srcId="{827842CA-D805-466D-B0F1-20284C4DC622}" destId="{2362ACFD-66D4-4C1C-85AB-F69DC4C243F9}" srcOrd="8" destOrd="0" presId="urn:microsoft.com/office/officeart/2005/8/layout/hProcess9"/>
    <dgm:cxn modelId="{899B1DF2-7FE4-4A1C-AF10-A0083F01AAC0}" type="presParOf" srcId="{827842CA-D805-466D-B0F1-20284C4DC622}" destId="{F0D7E0B7-D560-4F0D-8376-7617616127A6}" srcOrd="9" destOrd="0" presId="urn:microsoft.com/office/officeart/2005/8/layout/hProcess9"/>
    <dgm:cxn modelId="{5205CE53-6D69-4505-B9DF-AC8B75D34BF9}" type="presParOf" srcId="{827842CA-D805-466D-B0F1-20284C4DC622}" destId="{E6F794E3-BB9D-4BA6-8209-21683C105759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769400-0C29-4AC2-9EB6-BFA63CC0E5E2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1B9B2-A8C4-45DE-868C-6505EFF9FB7B}">
      <dsp:nvSpPr>
        <dsp:cNvPr id="0" name=""/>
        <dsp:cNvSpPr/>
      </dsp:nvSpPr>
      <dsp:spPr>
        <a:xfrm>
          <a:off x="128" y="1305401"/>
          <a:ext cx="153883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 dirty="0"/>
            <a:t>1FN</a:t>
          </a:r>
        </a:p>
      </dsp:txBody>
      <dsp:txXfrm>
        <a:off x="75247" y="1380520"/>
        <a:ext cx="1388592" cy="1590297"/>
      </dsp:txXfrm>
    </dsp:sp>
    <dsp:sp modelId="{40B3DE14-DDBB-4655-B9ED-091C84E2658A}">
      <dsp:nvSpPr>
        <dsp:cNvPr id="0" name=""/>
        <dsp:cNvSpPr/>
      </dsp:nvSpPr>
      <dsp:spPr>
        <a:xfrm>
          <a:off x="1795430" y="1305401"/>
          <a:ext cx="153883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 dirty="0"/>
            <a:t>2FN</a:t>
          </a:r>
        </a:p>
      </dsp:txBody>
      <dsp:txXfrm>
        <a:off x="1870549" y="1380520"/>
        <a:ext cx="1388592" cy="1590297"/>
      </dsp:txXfrm>
    </dsp:sp>
    <dsp:sp modelId="{227A352B-50F0-475E-883B-1B3AF036C927}">
      <dsp:nvSpPr>
        <dsp:cNvPr id="0" name=""/>
        <dsp:cNvSpPr/>
      </dsp:nvSpPr>
      <dsp:spPr>
        <a:xfrm>
          <a:off x="3590733" y="1305401"/>
          <a:ext cx="153883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 dirty="0"/>
            <a:t>3FN</a:t>
          </a:r>
        </a:p>
      </dsp:txBody>
      <dsp:txXfrm>
        <a:off x="3665852" y="1380520"/>
        <a:ext cx="1388592" cy="1590297"/>
      </dsp:txXfrm>
    </dsp:sp>
    <dsp:sp modelId="{BFFFADDF-3415-4443-A008-2D8C3E060AB1}">
      <dsp:nvSpPr>
        <dsp:cNvPr id="0" name=""/>
        <dsp:cNvSpPr/>
      </dsp:nvSpPr>
      <dsp:spPr>
        <a:xfrm>
          <a:off x="5386035" y="1305401"/>
          <a:ext cx="153883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FNBC</a:t>
          </a:r>
          <a:endParaRPr lang="es-ES" sz="3400" kern="1200" dirty="0"/>
        </a:p>
      </dsp:txBody>
      <dsp:txXfrm>
        <a:off x="5461154" y="1380520"/>
        <a:ext cx="1388592" cy="1590297"/>
      </dsp:txXfrm>
    </dsp:sp>
    <dsp:sp modelId="{2362ACFD-66D4-4C1C-85AB-F69DC4C243F9}">
      <dsp:nvSpPr>
        <dsp:cNvPr id="0" name=""/>
        <dsp:cNvSpPr/>
      </dsp:nvSpPr>
      <dsp:spPr>
        <a:xfrm>
          <a:off x="7181338" y="1305401"/>
          <a:ext cx="153883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4FN</a:t>
          </a:r>
          <a:endParaRPr lang="es-ES" sz="3400" kern="1200" dirty="0"/>
        </a:p>
      </dsp:txBody>
      <dsp:txXfrm>
        <a:off x="7256457" y="1380520"/>
        <a:ext cx="1388592" cy="1590297"/>
      </dsp:txXfrm>
    </dsp:sp>
    <dsp:sp modelId="{E6F794E3-BB9D-4BA6-8209-21683C105759}">
      <dsp:nvSpPr>
        <dsp:cNvPr id="0" name=""/>
        <dsp:cNvSpPr/>
      </dsp:nvSpPr>
      <dsp:spPr>
        <a:xfrm>
          <a:off x="8976640" y="1305401"/>
          <a:ext cx="153883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5FN</a:t>
          </a:r>
          <a:endParaRPr lang="es-ES" sz="3400" kern="1200" dirty="0"/>
        </a:p>
      </dsp:txBody>
      <dsp:txXfrm>
        <a:off x="9051759" y="1380520"/>
        <a:ext cx="1388592" cy="15902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7E153-56DC-3B35-A5BC-A1FB1A981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504A35-5BFA-BED0-351A-B234AD40F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04E56A-68B6-BA26-5E59-2A1CDF719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8DBCF8-4A80-1460-6E73-5569D2B8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A9BBCE-0D68-8B1D-9A5F-E141C7128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831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A7FDD-BDB0-F20F-29D4-F9D429ED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96EE7D-B36A-802C-F11B-D3D0E56E5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AF4BD8-A731-2443-CB6C-2222DC0DC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DA10F9-BADB-697B-E74F-A6A7CF14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7FFB5D-521D-B1A1-9CCB-7F86B0118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345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39FBC-C7CE-1039-21E6-B77D7B6BB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FEADC4-40BC-B44A-0259-7942A4B50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B0CF80-BD1E-DEF1-42D9-AB4B8D32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9B05A5-ABBA-E81D-E30B-BD49DD126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321082-D73A-159F-A760-7FE73B4C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2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3B1E6-A737-E139-F71B-C97C8D393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EEA70A-7C19-D81F-AAE5-FA78E3CD2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1F143D-8A10-76D6-623D-928F60516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298BD2-AC8B-264E-A541-712BA60E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B306F9-99DE-BFB5-D558-4BB1313A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290908-B00F-14BE-4414-04FE0FA1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575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28FD5-176A-2644-1276-06C03190A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B39D86-FED3-B450-6639-0838EFF37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D7C7B5-7CF0-E2E2-0AF3-1CED78CF7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A3BB79-7556-A572-0D4E-DBF0442F8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F72235-D5C0-A38F-3C1D-595E422CE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A2A32E8-08F0-86A1-2315-D56196A82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D1276AD-3734-F8E1-3333-00F3F4B1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27F485-23DC-85AE-CCE2-FA1A67E52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194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D73AE-7C0A-1A96-0338-901134EF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FAC7DF-4383-B8D4-F284-D1F49D98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19F955-40A0-A83B-F3C4-055B4C46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CD89E8-5190-A3F7-7B6D-B542633D8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7491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CAC806-12A5-995A-B74C-57A58B19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26BC34-719E-AB17-7D5C-ED2439EF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6F6172-BF87-8550-5970-9268747C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067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19C69-9B63-94A4-0162-65A633CD1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139839-FF1C-2C4E-0019-1D1F76D9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AB3297-967B-BCE1-F233-E5CE51FC9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8702A4-4D1F-C4DB-3A5E-4FFD57A5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BF9DC0-0EBA-279A-7B47-874159A1F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3ABF9E-9C94-B0B9-090A-F7059889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9198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66189-9387-1C3A-B4E6-4B8BC980B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659DFE4-6760-767E-F300-838FAF7A7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2992FA-17A9-A5D6-E91C-8EE0E7058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09D1C5-CA2B-5F2A-3CEA-9A2555BD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F11B77-35F4-8513-2E11-46B3C126D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BBF6A9-56DC-9D2F-D7B2-60CA4F59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801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D19BD-AB3B-9929-7E21-84C2C483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4EB196-7CD7-0C3C-507A-01D79FDC4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474EB6-1741-C50A-13AA-37D294848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4E5AAA-23B7-E59D-4B4D-2DA588F4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A1C314-FAC4-B784-8C51-635EBC6D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882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F28FC0E-6335-D9F9-5294-7576C20FE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278B86-EEFF-69F8-9809-3A7CAA21D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C0F16F-F3C5-08DE-7562-84B76B8F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2D1A99-FE10-10D0-6BC5-411BCA83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278F9B-9017-B608-D195-A85AF173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29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DDBF4E9-CFB2-F177-1A99-BDDF6BB6D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BA3E3D-985E-906B-F8D4-D49B70719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70CB4E-D6C6-426F-4E36-657AC9C61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300EC-B0FF-4F8C-9825-E5B2263469AA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507E74-5CB6-C969-2018-8C6F75284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03D692-3397-687F-09DE-C10B86C31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803F3-3A8B-469C-BBA9-D4B6BED479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64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28DAC7-71DF-0F44-060D-82CD2E4B5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/>
            <a:r>
              <a:rPr lang="es-ES"/>
              <a:t>NORMALIZACIÓN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660CB6-8295-761A-3809-122A92D45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1" y="4582814"/>
            <a:ext cx="5925987" cy="1312657"/>
          </a:xfrm>
        </p:spPr>
        <p:txBody>
          <a:bodyPr anchor="t">
            <a:normAutofit/>
          </a:bodyPr>
          <a:lstStyle/>
          <a:p>
            <a:pPr algn="r"/>
            <a:r>
              <a:rPr lang="es-ES" dirty="0"/>
              <a:t>TEMA 2. DISEÑO LÓGICO DE BASES DE DATOS</a:t>
            </a:r>
            <a:endParaRPr lang="es-ES"/>
          </a:p>
        </p:txBody>
      </p:sp>
      <p:pic>
        <p:nvPicPr>
          <p:cNvPr id="25" name="Graphic 24" descr="Nueva consulta de análisis">
            <a:extLst>
              <a:ext uri="{FF2B5EF4-FFF2-40B4-BE49-F238E27FC236}">
                <a16:creationId xmlns:a16="http://schemas.microsoft.com/office/drawing/2014/main" id="{7CBE6800-BB47-ECB7-F242-61B7478EA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3900839F-2397-F212-258C-A83D8DA7BC4C}"/>
              </a:ext>
            </a:extLst>
          </p:cNvPr>
          <p:cNvSpPr/>
          <p:nvPr/>
        </p:nvSpPr>
        <p:spPr>
          <a:xfrm>
            <a:off x="2" y="-750861"/>
            <a:ext cx="12191999" cy="7608861"/>
          </a:xfrm>
          <a:custGeom>
            <a:avLst/>
            <a:gdLst>
              <a:gd name="connsiteX0" fmla="*/ 0 w 12191999"/>
              <a:gd name="connsiteY0" fmla="*/ 707682 h 7608861"/>
              <a:gd name="connsiteX1" fmla="*/ 5989319 w 12191999"/>
              <a:gd name="connsiteY1" fmla="*/ 707682 h 7608861"/>
              <a:gd name="connsiteX2" fmla="*/ 5989319 w 12191999"/>
              <a:gd name="connsiteY2" fmla="*/ 3595658 h 7608861"/>
              <a:gd name="connsiteX3" fmla="*/ 6116322 w 12191999"/>
              <a:gd name="connsiteY3" fmla="*/ 3722662 h 7608861"/>
              <a:gd name="connsiteX4" fmla="*/ 6624316 w 12191999"/>
              <a:gd name="connsiteY4" fmla="*/ 3722662 h 7608861"/>
              <a:gd name="connsiteX5" fmla="*/ 6751319 w 12191999"/>
              <a:gd name="connsiteY5" fmla="*/ 3595658 h 7608861"/>
              <a:gd name="connsiteX6" fmla="*/ 6751319 w 12191999"/>
              <a:gd name="connsiteY6" fmla="*/ 707682 h 7608861"/>
              <a:gd name="connsiteX7" fmla="*/ 6942371 w 12191999"/>
              <a:gd name="connsiteY7" fmla="*/ 707682 h 7608861"/>
              <a:gd name="connsiteX8" fmla="*/ 6935723 w 12191999"/>
              <a:gd name="connsiteY8" fmla="*/ 740608 h 7608861"/>
              <a:gd name="connsiteX9" fmla="*/ 6935723 w 12191999"/>
              <a:gd name="connsiteY9" fmla="*/ 3839401 h 7608861"/>
              <a:gd name="connsiteX10" fmla="*/ 7062726 w 12191999"/>
              <a:gd name="connsiteY10" fmla="*/ 3966404 h 7608861"/>
              <a:gd name="connsiteX11" fmla="*/ 7570720 w 12191999"/>
              <a:gd name="connsiteY11" fmla="*/ 3966404 h 7608861"/>
              <a:gd name="connsiteX12" fmla="*/ 7697723 w 12191999"/>
              <a:gd name="connsiteY12" fmla="*/ 3839401 h 7608861"/>
              <a:gd name="connsiteX13" fmla="*/ 7697723 w 12191999"/>
              <a:gd name="connsiteY13" fmla="*/ 740608 h 7608861"/>
              <a:gd name="connsiteX14" fmla="*/ 7691076 w 12191999"/>
              <a:gd name="connsiteY14" fmla="*/ 707682 h 7608861"/>
              <a:gd name="connsiteX15" fmla="*/ 7882127 w 12191999"/>
              <a:gd name="connsiteY15" fmla="*/ 707682 h 7608861"/>
              <a:gd name="connsiteX16" fmla="*/ 7882127 w 12191999"/>
              <a:gd name="connsiteY16" fmla="*/ 3595658 h 7608861"/>
              <a:gd name="connsiteX17" fmla="*/ 8009130 w 12191999"/>
              <a:gd name="connsiteY17" fmla="*/ 3722662 h 7608861"/>
              <a:gd name="connsiteX18" fmla="*/ 8517124 w 12191999"/>
              <a:gd name="connsiteY18" fmla="*/ 3722662 h 7608861"/>
              <a:gd name="connsiteX19" fmla="*/ 8644127 w 12191999"/>
              <a:gd name="connsiteY19" fmla="*/ 3595658 h 7608861"/>
              <a:gd name="connsiteX20" fmla="*/ 8644127 w 12191999"/>
              <a:gd name="connsiteY20" fmla="*/ 707682 h 7608861"/>
              <a:gd name="connsiteX21" fmla="*/ 8828531 w 12191999"/>
              <a:gd name="connsiteY21" fmla="*/ 707682 h 7608861"/>
              <a:gd name="connsiteX22" fmla="*/ 8828531 w 12191999"/>
              <a:gd name="connsiteY22" fmla="*/ 4196271 h 7608861"/>
              <a:gd name="connsiteX23" fmla="*/ 8955534 w 12191999"/>
              <a:gd name="connsiteY23" fmla="*/ 4323274 h 7608861"/>
              <a:gd name="connsiteX24" fmla="*/ 9463528 w 12191999"/>
              <a:gd name="connsiteY24" fmla="*/ 4323274 h 7608861"/>
              <a:gd name="connsiteX25" fmla="*/ 9590531 w 12191999"/>
              <a:gd name="connsiteY25" fmla="*/ 4196271 h 7608861"/>
              <a:gd name="connsiteX26" fmla="*/ 9590531 w 12191999"/>
              <a:gd name="connsiteY26" fmla="*/ 707682 h 7608861"/>
              <a:gd name="connsiteX27" fmla="*/ 9774935 w 12191999"/>
              <a:gd name="connsiteY27" fmla="*/ 707682 h 7608861"/>
              <a:gd name="connsiteX28" fmla="*/ 9774935 w 12191999"/>
              <a:gd name="connsiteY28" fmla="*/ 3939537 h 7608861"/>
              <a:gd name="connsiteX29" fmla="*/ 9901938 w 12191999"/>
              <a:gd name="connsiteY29" fmla="*/ 4066540 h 7608861"/>
              <a:gd name="connsiteX30" fmla="*/ 10409932 w 12191999"/>
              <a:gd name="connsiteY30" fmla="*/ 4066540 h 7608861"/>
              <a:gd name="connsiteX31" fmla="*/ 10536935 w 12191999"/>
              <a:gd name="connsiteY31" fmla="*/ 3939537 h 7608861"/>
              <a:gd name="connsiteX32" fmla="*/ 10536935 w 12191999"/>
              <a:gd name="connsiteY32" fmla="*/ 707682 h 7608861"/>
              <a:gd name="connsiteX33" fmla="*/ 10848339 w 12191999"/>
              <a:gd name="connsiteY33" fmla="*/ 707682 h 7608861"/>
              <a:gd name="connsiteX34" fmla="*/ 10798907 w 12191999"/>
              <a:gd name="connsiteY34" fmla="*/ 717662 h 7608861"/>
              <a:gd name="connsiteX35" fmla="*/ 10721339 w 12191999"/>
              <a:gd name="connsiteY35" fmla="*/ 834684 h 7608861"/>
              <a:gd name="connsiteX36" fmla="*/ 10721339 w 12191999"/>
              <a:gd name="connsiteY36" fmla="*/ 4647218 h 7608861"/>
              <a:gd name="connsiteX37" fmla="*/ 10848342 w 12191999"/>
              <a:gd name="connsiteY37" fmla="*/ 4774221 h 7608861"/>
              <a:gd name="connsiteX38" fmla="*/ 11356336 w 12191999"/>
              <a:gd name="connsiteY38" fmla="*/ 4774221 h 7608861"/>
              <a:gd name="connsiteX39" fmla="*/ 11483339 w 12191999"/>
              <a:gd name="connsiteY39" fmla="*/ 4647218 h 7608861"/>
              <a:gd name="connsiteX40" fmla="*/ 11483339 w 12191999"/>
              <a:gd name="connsiteY40" fmla="*/ 834684 h 7608861"/>
              <a:gd name="connsiteX41" fmla="*/ 11405771 w 12191999"/>
              <a:gd name="connsiteY41" fmla="*/ 717662 h 7608861"/>
              <a:gd name="connsiteX42" fmla="*/ 11356339 w 12191999"/>
              <a:gd name="connsiteY42" fmla="*/ 707682 h 7608861"/>
              <a:gd name="connsiteX43" fmla="*/ 12191999 w 12191999"/>
              <a:gd name="connsiteY43" fmla="*/ 707682 h 7608861"/>
              <a:gd name="connsiteX44" fmla="*/ 12191999 w 12191999"/>
              <a:gd name="connsiteY44" fmla="*/ 7608861 h 7608861"/>
              <a:gd name="connsiteX45" fmla="*/ 0 w 12191999"/>
              <a:gd name="connsiteY45" fmla="*/ 7608861 h 7608861"/>
              <a:gd name="connsiteX46" fmla="*/ 10848342 w 12191999"/>
              <a:gd name="connsiteY46" fmla="*/ 707681 h 7608861"/>
              <a:gd name="connsiteX47" fmla="*/ 11356336 w 12191999"/>
              <a:gd name="connsiteY47" fmla="*/ 707681 h 7608861"/>
              <a:gd name="connsiteX48" fmla="*/ 11356339 w 12191999"/>
              <a:gd name="connsiteY48" fmla="*/ 707682 h 7608861"/>
              <a:gd name="connsiteX49" fmla="*/ 10848339 w 12191999"/>
              <a:gd name="connsiteY49" fmla="*/ 707682 h 7608861"/>
              <a:gd name="connsiteX50" fmla="*/ 7062726 w 12191999"/>
              <a:gd name="connsiteY50" fmla="*/ 613605 h 7608861"/>
              <a:gd name="connsiteX51" fmla="*/ 7570720 w 12191999"/>
              <a:gd name="connsiteY51" fmla="*/ 613605 h 7608861"/>
              <a:gd name="connsiteX52" fmla="*/ 7687743 w 12191999"/>
              <a:gd name="connsiteY52" fmla="*/ 691172 h 7608861"/>
              <a:gd name="connsiteX53" fmla="*/ 7691076 w 12191999"/>
              <a:gd name="connsiteY53" fmla="*/ 707682 h 7608861"/>
              <a:gd name="connsiteX54" fmla="*/ 6942371 w 12191999"/>
              <a:gd name="connsiteY54" fmla="*/ 707682 h 7608861"/>
              <a:gd name="connsiteX55" fmla="*/ 6945704 w 12191999"/>
              <a:gd name="connsiteY55" fmla="*/ 691172 h 7608861"/>
              <a:gd name="connsiteX56" fmla="*/ 7062726 w 12191999"/>
              <a:gd name="connsiteY56" fmla="*/ 613605 h 7608861"/>
              <a:gd name="connsiteX57" fmla="*/ 6116322 w 12191999"/>
              <a:gd name="connsiteY57" fmla="*/ 369862 h 7608861"/>
              <a:gd name="connsiteX58" fmla="*/ 6624316 w 12191999"/>
              <a:gd name="connsiteY58" fmla="*/ 369862 h 7608861"/>
              <a:gd name="connsiteX59" fmla="*/ 6751319 w 12191999"/>
              <a:gd name="connsiteY59" fmla="*/ 496865 h 7608861"/>
              <a:gd name="connsiteX60" fmla="*/ 6751319 w 12191999"/>
              <a:gd name="connsiteY60" fmla="*/ 707682 h 7608861"/>
              <a:gd name="connsiteX61" fmla="*/ 5989319 w 12191999"/>
              <a:gd name="connsiteY61" fmla="*/ 707682 h 7608861"/>
              <a:gd name="connsiteX62" fmla="*/ 5989319 w 12191999"/>
              <a:gd name="connsiteY62" fmla="*/ 496865 h 7608861"/>
              <a:gd name="connsiteX63" fmla="*/ 6116322 w 12191999"/>
              <a:gd name="connsiteY63" fmla="*/ 369862 h 7608861"/>
              <a:gd name="connsiteX64" fmla="*/ 8009130 w 12191999"/>
              <a:gd name="connsiteY64" fmla="*/ 369861 h 7608861"/>
              <a:gd name="connsiteX65" fmla="*/ 8517124 w 12191999"/>
              <a:gd name="connsiteY65" fmla="*/ 369861 h 7608861"/>
              <a:gd name="connsiteX66" fmla="*/ 8644127 w 12191999"/>
              <a:gd name="connsiteY66" fmla="*/ 496864 h 7608861"/>
              <a:gd name="connsiteX67" fmla="*/ 8644127 w 12191999"/>
              <a:gd name="connsiteY67" fmla="*/ 707682 h 7608861"/>
              <a:gd name="connsiteX68" fmla="*/ 7882127 w 12191999"/>
              <a:gd name="connsiteY68" fmla="*/ 707682 h 7608861"/>
              <a:gd name="connsiteX69" fmla="*/ 7882127 w 12191999"/>
              <a:gd name="connsiteY69" fmla="*/ 496864 h 7608861"/>
              <a:gd name="connsiteX70" fmla="*/ 8009130 w 12191999"/>
              <a:gd name="connsiteY70" fmla="*/ 369861 h 7608861"/>
              <a:gd name="connsiteX71" fmla="*/ 8955534 w 12191999"/>
              <a:gd name="connsiteY71" fmla="*/ 256734 h 7608861"/>
              <a:gd name="connsiteX72" fmla="*/ 9463528 w 12191999"/>
              <a:gd name="connsiteY72" fmla="*/ 256734 h 7608861"/>
              <a:gd name="connsiteX73" fmla="*/ 9590531 w 12191999"/>
              <a:gd name="connsiteY73" fmla="*/ 383737 h 7608861"/>
              <a:gd name="connsiteX74" fmla="*/ 9590531 w 12191999"/>
              <a:gd name="connsiteY74" fmla="*/ 707682 h 7608861"/>
              <a:gd name="connsiteX75" fmla="*/ 8828531 w 12191999"/>
              <a:gd name="connsiteY75" fmla="*/ 707682 h 7608861"/>
              <a:gd name="connsiteX76" fmla="*/ 8828531 w 12191999"/>
              <a:gd name="connsiteY76" fmla="*/ 383737 h 7608861"/>
              <a:gd name="connsiteX77" fmla="*/ 8955534 w 12191999"/>
              <a:gd name="connsiteY77" fmla="*/ 256734 h 7608861"/>
              <a:gd name="connsiteX78" fmla="*/ 9901938 w 12191999"/>
              <a:gd name="connsiteY78" fmla="*/ 0 h 7608861"/>
              <a:gd name="connsiteX79" fmla="*/ 10409932 w 12191999"/>
              <a:gd name="connsiteY79" fmla="*/ 0 h 7608861"/>
              <a:gd name="connsiteX80" fmla="*/ 10536935 w 12191999"/>
              <a:gd name="connsiteY80" fmla="*/ 127003 h 7608861"/>
              <a:gd name="connsiteX81" fmla="*/ 10536935 w 12191999"/>
              <a:gd name="connsiteY81" fmla="*/ 707682 h 7608861"/>
              <a:gd name="connsiteX82" fmla="*/ 9774935 w 12191999"/>
              <a:gd name="connsiteY82" fmla="*/ 707682 h 7608861"/>
              <a:gd name="connsiteX83" fmla="*/ 9774935 w 12191999"/>
              <a:gd name="connsiteY83" fmla="*/ 127003 h 7608861"/>
              <a:gd name="connsiteX84" fmla="*/ 9901938 w 12191999"/>
              <a:gd name="connsiteY84" fmla="*/ 0 h 7608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2191999" h="7608861">
                <a:moveTo>
                  <a:pt x="0" y="707682"/>
                </a:moveTo>
                <a:lnTo>
                  <a:pt x="5989319" y="707682"/>
                </a:lnTo>
                <a:lnTo>
                  <a:pt x="5989319" y="3595658"/>
                </a:lnTo>
                <a:cubicBezTo>
                  <a:pt x="5989319" y="3665801"/>
                  <a:pt x="6046180" y="3722662"/>
                  <a:pt x="6116322" y="3722662"/>
                </a:cubicBezTo>
                <a:lnTo>
                  <a:pt x="6624316" y="3722662"/>
                </a:lnTo>
                <a:cubicBezTo>
                  <a:pt x="6694458" y="3722662"/>
                  <a:pt x="6751319" y="3665801"/>
                  <a:pt x="6751319" y="3595658"/>
                </a:cubicBezTo>
                <a:lnTo>
                  <a:pt x="6751319" y="707682"/>
                </a:lnTo>
                <a:lnTo>
                  <a:pt x="6942371" y="707682"/>
                </a:lnTo>
                <a:lnTo>
                  <a:pt x="6935723" y="740608"/>
                </a:lnTo>
                <a:lnTo>
                  <a:pt x="6935723" y="3839401"/>
                </a:lnTo>
                <a:cubicBezTo>
                  <a:pt x="6935723" y="3909543"/>
                  <a:pt x="6992584" y="3966404"/>
                  <a:pt x="7062726" y="3966404"/>
                </a:cubicBezTo>
                <a:lnTo>
                  <a:pt x="7570720" y="3966404"/>
                </a:lnTo>
                <a:cubicBezTo>
                  <a:pt x="7640862" y="3966404"/>
                  <a:pt x="7697723" y="3909543"/>
                  <a:pt x="7697723" y="3839401"/>
                </a:cubicBezTo>
                <a:lnTo>
                  <a:pt x="7697723" y="740608"/>
                </a:lnTo>
                <a:lnTo>
                  <a:pt x="7691076" y="707682"/>
                </a:lnTo>
                <a:lnTo>
                  <a:pt x="7882127" y="707682"/>
                </a:lnTo>
                <a:lnTo>
                  <a:pt x="7882127" y="3595658"/>
                </a:lnTo>
                <a:cubicBezTo>
                  <a:pt x="7882127" y="3665800"/>
                  <a:pt x="7938988" y="3722662"/>
                  <a:pt x="8009130" y="3722662"/>
                </a:cubicBezTo>
                <a:lnTo>
                  <a:pt x="8517124" y="3722662"/>
                </a:lnTo>
                <a:cubicBezTo>
                  <a:pt x="8587266" y="3722662"/>
                  <a:pt x="8644127" y="3665800"/>
                  <a:pt x="8644127" y="3595658"/>
                </a:cubicBezTo>
                <a:lnTo>
                  <a:pt x="8644127" y="707682"/>
                </a:lnTo>
                <a:lnTo>
                  <a:pt x="8828531" y="707682"/>
                </a:lnTo>
                <a:lnTo>
                  <a:pt x="8828531" y="4196271"/>
                </a:lnTo>
                <a:cubicBezTo>
                  <a:pt x="8828531" y="4266413"/>
                  <a:pt x="8885392" y="4323274"/>
                  <a:pt x="8955534" y="4323274"/>
                </a:cubicBezTo>
                <a:lnTo>
                  <a:pt x="9463528" y="4323274"/>
                </a:lnTo>
                <a:cubicBezTo>
                  <a:pt x="9533670" y="4323274"/>
                  <a:pt x="9590531" y="4266413"/>
                  <a:pt x="9590531" y="4196271"/>
                </a:cubicBezTo>
                <a:lnTo>
                  <a:pt x="9590531" y="707682"/>
                </a:lnTo>
                <a:lnTo>
                  <a:pt x="9774935" y="707682"/>
                </a:lnTo>
                <a:lnTo>
                  <a:pt x="9774935" y="3939537"/>
                </a:lnTo>
                <a:cubicBezTo>
                  <a:pt x="9774935" y="4009679"/>
                  <a:pt x="9831796" y="4066540"/>
                  <a:pt x="9901938" y="4066540"/>
                </a:cubicBezTo>
                <a:lnTo>
                  <a:pt x="10409932" y="4066540"/>
                </a:lnTo>
                <a:cubicBezTo>
                  <a:pt x="10480074" y="4066540"/>
                  <a:pt x="10536935" y="4009679"/>
                  <a:pt x="10536935" y="3939537"/>
                </a:cubicBezTo>
                <a:lnTo>
                  <a:pt x="10536935" y="707682"/>
                </a:lnTo>
                <a:lnTo>
                  <a:pt x="10848339" y="707682"/>
                </a:lnTo>
                <a:lnTo>
                  <a:pt x="10798907" y="717662"/>
                </a:lnTo>
                <a:cubicBezTo>
                  <a:pt x="10753323" y="736942"/>
                  <a:pt x="10721339" y="782078"/>
                  <a:pt x="10721339" y="834684"/>
                </a:cubicBezTo>
                <a:lnTo>
                  <a:pt x="10721339" y="4647218"/>
                </a:lnTo>
                <a:cubicBezTo>
                  <a:pt x="10721339" y="4717360"/>
                  <a:pt x="10778200" y="4774221"/>
                  <a:pt x="10848342" y="4774221"/>
                </a:cubicBezTo>
                <a:lnTo>
                  <a:pt x="11356336" y="4774221"/>
                </a:lnTo>
                <a:cubicBezTo>
                  <a:pt x="11426478" y="4774221"/>
                  <a:pt x="11483339" y="4717360"/>
                  <a:pt x="11483339" y="4647218"/>
                </a:cubicBezTo>
                <a:lnTo>
                  <a:pt x="11483339" y="834684"/>
                </a:lnTo>
                <a:cubicBezTo>
                  <a:pt x="11483339" y="782078"/>
                  <a:pt x="11451355" y="736942"/>
                  <a:pt x="11405771" y="717662"/>
                </a:cubicBezTo>
                <a:lnTo>
                  <a:pt x="11356339" y="707682"/>
                </a:lnTo>
                <a:lnTo>
                  <a:pt x="12191999" y="707682"/>
                </a:lnTo>
                <a:lnTo>
                  <a:pt x="12191999" y="7608861"/>
                </a:lnTo>
                <a:lnTo>
                  <a:pt x="0" y="7608861"/>
                </a:lnTo>
                <a:close/>
                <a:moveTo>
                  <a:pt x="10848342" y="707681"/>
                </a:moveTo>
                <a:lnTo>
                  <a:pt x="11356336" y="707681"/>
                </a:lnTo>
                <a:lnTo>
                  <a:pt x="11356339" y="707682"/>
                </a:lnTo>
                <a:lnTo>
                  <a:pt x="10848339" y="707682"/>
                </a:lnTo>
                <a:close/>
                <a:moveTo>
                  <a:pt x="7062726" y="613605"/>
                </a:moveTo>
                <a:lnTo>
                  <a:pt x="7570720" y="613605"/>
                </a:lnTo>
                <a:cubicBezTo>
                  <a:pt x="7623327" y="613605"/>
                  <a:pt x="7668463" y="645589"/>
                  <a:pt x="7687743" y="691172"/>
                </a:cubicBezTo>
                <a:lnTo>
                  <a:pt x="7691076" y="707682"/>
                </a:lnTo>
                <a:lnTo>
                  <a:pt x="6942371" y="707682"/>
                </a:lnTo>
                <a:lnTo>
                  <a:pt x="6945704" y="691172"/>
                </a:lnTo>
                <a:cubicBezTo>
                  <a:pt x="6964984" y="645589"/>
                  <a:pt x="7010120" y="613605"/>
                  <a:pt x="7062726" y="613605"/>
                </a:cubicBezTo>
                <a:close/>
                <a:moveTo>
                  <a:pt x="6116322" y="369862"/>
                </a:moveTo>
                <a:lnTo>
                  <a:pt x="6624316" y="369862"/>
                </a:lnTo>
                <a:cubicBezTo>
                  <a:pt x="6694458" y="369862"/>
                  <a:pt x="6751319" y="426723"/>
                  <a:pt x="6751319" y="496865"/>
                </a:cubicBezTo>
                <a:lnTo>
                  <a:pt x="6751319" y="707682"/>
                </a:lnTo>
                <a:lnTo>
                  <a:pt x="5989319" y="707682"/>
                </a:lnTo>
                <a:lnTo>
                  <a:pt x="5989319" y="496865"/>
                </a:lnTo>
                <a:cubicBezTo>
                  <a:pt x="5989319" y="426723"/>
                  <a:pt x="6046180" y="369862"/>
                  <a:pt x="6116322" y="369862"/>
                </a:cubicBezTo>
                <a:close/>
                <a:moveTo>
                  <a:pt x="8009130" y="369861"/>
                </a:moveTo>
                <a:lnTo>
                  <a:pt x="8517124" y="369861"/>
                </a:lnTo>
                <a:cubicBezTo>
                  <a:pt x="8587266" y="369861"/>
                  <a:pt x="8644127" y="426722"/>
                  <a:pt x="8644127" y="496864"/>
                </a:cubicBezTo>
                <a:lnTo>
                  <a:pt x="8644127" y="707682"/>
                </a:lnTo>
                <a:lnTo>
                  <a:pt x="7882127" y="707682"/>
                </a:lnTo>
                <a:lnTo>
                  <a:pt x="7882127" y="496864"/>
                </a:lnTo>
                <a:cubicBezTo>
                  <a:pt x="7882127" y="426722"/>
                  <a:pt x="7938988" y="369861"/>
                  <a:pt x="8009130" y="369861"/>
                </a:cubicBezTo>
                <a:close/>
                <a:moveTo>
                  <a:pt x="8955534" y="256734"/>
                </a:moveTo>
                <a:lnTo>
                  <a:pt x="9463528" y="256734"/>
                </a:lnTo>
                <a:cubicBezTo>
                  <a:pt x="9533670" y="256734"/>
                  <a:pt x="9590531" y="313595"/>
                  <a:pt x="9590531" y="383737"/>
                </a:cubicBezTo>
                <a:lnTo>
                  <a:pt x="9590531" y="707682"/>
                </a:lnTo>
                <a:lnTo>
                  <a:pt x="8828531" y="707682"/>
                </a:lnTo>
                <a:lnTo>
                  <a:pt x="8828531" y="383737"/>
                </a:lnTo>
                <a:cubicBezTo>
                  <a:pt x="8828531" y="313595"/>
                  <a:pt x="8885392" y="256734"/>
                  <a:pt x="8955534" y="256734"/>
                </a:cubicBezTo>
                <a:close/>
                <a:moveTo>
                  <a:pt x="9901938" y="0"/>
                </a:moveTo>
                <a:lnTo>
                  <a:pt x="10409932" y="0"/>
                </a:lnTo>
                <a:cubicBezTo>
                  <a:pt x="10480074" y="0"/>
                  <a:pt x="10536935" y="56861"/>
                  <a:pt x="10536935" y="127003"/>
                </a:cubicBezTo>
                <a:lnTo>
                  <a:pt x="10536935" y="707682"/>
                </a:lnTo>
                <a:lnTo>
                  <a:pt x="9774935" y="707682"/>
                </a:lnTo>
                <a:lnTo>
                  <a:pt x="9774935" y="127003"/>
                </a:lnTo>
                <a:cubicBezTo>
                  <a:pt x="9774935" y="56861"/>
                  <a:pt x="9831796" y="0"/>
                  <a:pt x="9901938" y="0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6046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842D5-B3C8-655B-1484-A980A4607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NORMALIZACIÓN. FORMAS NORMALES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CF7AA61-50CC-ED81-5728-E591EAD593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0527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7187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87551A-01E8-B82B-6DA6-A36B46DE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s-ES" sz="3200" dirty="0"/>
              <a:t>EJEMPLO. Tabla de datos sin normalizar.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17C725-3249-7C21-32FE-B9E074B3D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s-ES" sz="2400" dirty="0"/>
              <a:t>Partimos de una tabla de datos que ya tiene información.</a:t>
            </a:r>
          </a:p>
          <a:p>
            <a:r>
              <a:rPr lang="es-ES" sz="2400" dirty="0"/>
              <a:t>Lo primero: localizar la clave principal</a:t>
            </a: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51CCDF57-32F6-21E2-46BF-3228A7CD8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79"/>
          <a:stretch>
            <a:fillRect/>
          </a:stretch>
        </p:blipFill>
        <p:spPr>
          <a:xfrm>
            <a:off x="-183896" y="2684398"/>
            <a:ext cx="14914514" cy="744602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F9A703B-7BEB-AD9A-E821-54E1D1CFD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589847"/>
              </p:ext>
            </p:extLst>
          </p:nvPr>
        </p:nvGraphicFramePr>
        <p:xfrm>
          <a:off x="836468" y="3609687"/>
          <a:ext cx="10517332" cy="243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8001">
                  <a:extLst>
                    <a:ext uri="{9D8B030D-6E8A-4147-A177-3AD203B41FA5}">
                      <a16:colId xmlns:a16="http://schemas.microsoft.com/office/drawing/2014/main" val="2259465545"/>
                    </a:ext>
                  </a:extLst>
                </a:gridCol>
                <a:gridCol w="1371404">
                  <a:extLst>
                    <a:ext uri="{9D8B030D-6E8A-4147-A177-3AD203B41FA5}">
                      <a16:colId xmlns:a16="http://schemas.microsoft.com/office/drawing/2014/main" val="2472711794"/>
                    </a:ext>
                  </a:extLst>
                </a:gridCol>
                <a:gridCol w="1195647">
                  <a:extLst>
                    <a:ext uri="{9D8B030D-6E8A-4147-A177-3AD203B41FA5}">
                      <a16:colId xmlns:a16="http://schemas.microsoft.com/office/drawing/2014/main" val="176430954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621392189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48403268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59781209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655904525"/>
                    </a:ext>
                  </a:extLst>
                </a:gridCol>
                <a:gridCol w="1020999">
                  <a:extLst>
                    <a:ext uri="{9D8B030D-6E8A-4147-A177-3AD203B41FA5}">
                      <a16:colId xmlns:a16="http://schemas.microsoft.com/office/drawing/2014/main" val="1249744813"/>
                    </a:ext>
                  </a:extLst>
                </a:gridCol>
                <a:gridCol w="1138001">
                  <a:extLst>
                    <a:ext uri="{9D8B030D-6E8A-4147-A177-3AD203B41FA5}">
                      <a16:colId xmlns:a16="http://schemas.microsoft.com/office/drawing/2014/main" val="3920795597"/>
                    </a:ext>
                  </a:extLst>
                </a:gridCol>
              </a:tblGrid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>
                          <a:effectLst/>
                        </a:rPr>
                        <a:t>Cantidad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981324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Martín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3786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Red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203680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Martín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270390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Martín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Caracas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9132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8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4,75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76134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25/02/2011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107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Herman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597587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Pedro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Maracay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047369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Pedro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Maracay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179546"/>
                  </a:ext>
                </a:extLst>
              </a:tr>
            </a:tbl>
          </a:graphicData>
        </a:graphic>
      </p:graphicFrame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ED522DE-7ED6-E173-02B1-8C9B890D093B}"/>
              </a:ext>
            </a:extLst>
          </p:cNvPr>
          <p:cNvSpPr/>
          <p:nvPr/>
        </p:nvSpPr>
        <p:spPr>
          <a:xfrm>
            <a:off x="742950" y="3505200"/>
            <a:ext cx="1333500" cy="56197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0150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A4757-3801-D180-AD04-D9EB5902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9BF8A73-212A-B157-AF7F-46CC555DA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1E55CC6-9052-6D73-9F35-012E51521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6D05F0-3D06-2D51-DC93-A8E06406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 fontScale="90000"/>
          </a:bodyPr>
          <a:lstStyle/>
          <a:p>
            <a:r>
              <a:rPr lang="es-ES" sz="3200" dirty="0"/>
              <a:t>1FN: Una relación está en 1FN si cada atributo es atómico, es decir, cada celda contiene un solo valor.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4F864-2DB7-732B-0E10-4162D4255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C2C48E-A245-4B61-5A9C-66A27C604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AB783E-3636-7E51-91EA-98E49C3A7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s-ES" sz="2400" dirty="0"/>
              <a:t>Lo primero que hacemos es, como la clave principal no se puede repetir, juntamos en una sola fila todos los registros correspondientes a cada orden</a:t>
            </a: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D42571A4-22CB-0379-559E-660DCCB69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79"/>
          <a:stretch>
            <a:fillRect/>
          </a:stretch>
        </p:blipFill>
        <p:spPr>
          <a:xfrm>
            <a:off x="-183896" y="2684398"/>
            <a:ext cx="14914514" cy="744602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A83048D-88BF-8002-C1C4-2A385FD25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781271"/>
              </p:ext>
            </p:extLst>
          </p:nvPr>
        </p:nvGraphicFramePr>
        <p:xfrm>
          <a:off x="836468" y="3609687"/>
          <a:ext cx="10517332" cy="243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8001">
                  <a:extLst>
                    <a:ext uri="{9D8B030D-6E8A-4147-A177-3AD203B41FA5}">
                      <a16:colId xmlns:a16="http://schemas.microsoft.com/office/drawing/2014/main" val="2259465545"/>
                    </a:ext>
                  </a:extLst>
                </a:gridCol>
                <a:gridCol w="1371404">
                  <a:extLst>
                    <a:ext uri="{9D8B030D-6E8A-4147-A177-3AD203B41FA5}">
                      <a16:colId xmlns:a16="http://schemas.microsoft.com/office/drawing/2014/main" val="2472711794"/>
                    </a:ext>
                  </a:extLst>
                </a:gridCol>
                <a:gridCol w="1195647">
                  <a:extLst>
                    <a:ext uri="{9D8B030D-6E8A-4147-A177-3AD203B41FA5}">
                      <a16:colId xmlns:a16="http://schemas.microsoft.com/office/drawing/2014/main" val="176430954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621392189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48403268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59781209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655904525"/>
                    </a:ext>
                  </a:extLst>
                </a:gridCol>
                <a:gridCol w="1020999">
                  <a:extLst>
                    <a:ext uri="{9D8B030D-6E8A-4147-A177-3AD203B41FA5}">
                      <a16:colId xmlns:a16="http://schemas.microsoft.com/office/drawing/2014/main" val="1249744813"/>
                    </a:ext>
                  </a:extLst>
                </a:gridCol>
                <a:gridCol w="1138001">
                  <a:extLst>
                    <a:ext uri="{9D8B030D-6E8A-4147-A177-3AD203B41FA5}">
                      <a16:colId xmlns:a16="http://schemas.microsoft.com/office/drawing/2014/main" val="3920795597"/>
                    </a:ext>
                  </a:extLst>
                </a:gridCol>
              </a:tblGrid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>
                          <a:effectLst/>
                        </a:rPr>
                        <a:t>Cantidad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981324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Martín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3786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Red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203680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Martín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270390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Martín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8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4,75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76134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25/02/2011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107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Herman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597587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Pedro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Maracay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047369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Pedro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Maracay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179546"/>
                  </a:ext>
                </a:extLst>
              </a:tr>
            </a:tbl>
          </a:graphicData>
        </a:graphic>
      </p:graphicFrame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B6815CB-F885-E5BD-4082-756F5232BE9B}"/>
              </a:ext>
            </a:extLst>
          </p:cNvPr>
          <p:cNvSpPr/>
          <p:nvPr/>
        </p:nvSpPr>
        <p:spPr>
          <a:xfrm>
            <a:off x="752475" y="3971925"/>
            <a:ext cx="10763250" cy="104775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286DF9E-B487-3E09-016A-B627B282BB20}"/>
              </a:ext>
            </a:extLst>
          </p:cNvPr>
          <p:cNvSpPr/>
          <p:nvPr/>
        </p:nvSpPr>
        <p:spPr>
          <a:xfrm>
            <a:off x="713509" y="5019675"/>
            <a:ext cx="10802216" cy="36223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9AD8E89-CA43-9502-0C52-BC51D9F3A118}"/>
              </a:ext>
            </a:extLst>
          </p:cNvPr>
          <p:cNvSpPr/>
          <p:nvPr/>
        </p:nvSpPr>
        <p:spPr>
          <a:xfrm>
            <a:off x="723034" y="5381625"/>
            <a:ext cx="10802216" cy="6658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409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17F39-28B0-4B13-D99E-CC6C238A8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41B6E21-1A49-FDC1-9F1A-94418D25F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5DCD75E-8369-7EF1-F275-82E17C4A0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1EBFEC-812E-0874-D7E6-EC3BB7797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 fontScale="90000"/>
          </a:bodyPr>
          <a:lstStyle/>
          <a:p>
            <a:r>
              <a:rPr lang="es-ES" sz="3200" dirty="0"/>
              <a:t>1FN: Una relación está en 1FN si cada atributo es atómico, es decir, cada celda contiene un solo valor.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9A35C-E450-752D-3F34-CE27435E8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36EE28-3739-7D0D-2880-BC9C3C458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E5E2BD-A3CD-15C7-97EE-7C92BCC64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s-ES" sz="2400" dirty="0"/>
              <a:t>Lo primero que hacemos es, como la clave principal no se puede repetir, juntamos en una sola fila todos los registros correspondientes a cada orden</a:t>
            </a: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A01F3455-8F7A-0A9A-1AD1-E278BD335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79"/>
          <a:stretch>
            <a:fillRect/>
          </a:stretch>
        </p:blipFill>
        <p:spPr>
          <a:xfrm>
            <a:off x="-183896" y="2684398"/>
            <a:ext cx="14914514" cy="744602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B02CC8B-7544-D370-08DA-7DD4C99EE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212842"/>
              </p:ext>
            </p:extLst>
          </p:nvPr>
        </p:nvGraphicFramePr>
        <p:xfrm>
          <a:off x="836468" y="3609687"/>
          <a:ext cx="10517332" cy="243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8001">
                  <a:extLst>
                    <a:ext uri="{9D8B030D-6E8A-4147-A177-3AD203B41FA5}">
                      <a16:colId xmlns:a16="http://schemas.microsoft.com/office/drawing/2014/main" val="2259465545"/>
                    </a:ext>
                  </a:extLst>
                </a:gridCol>
                <a:gridCol w="1371404">
                  <a:extLst>
                    <a:ext uri="{9D8B030D-6E8A-4147-A177-3AD203B41FA5}">
                      <a16:colId xmlns:a16="http://schemas.microsoft.com/office/drawing/2014/main" val="2472711794"/>
                    </a:ext>
                  </a:extLst>
                </a:gridCol>
                <a:gridCol w="1195647">
                  <a:extLst>
                    <a:ext uri="{9D8B030D-6E8A-4147-A177-3AD203B41FA5}">
                      <a16:colId xmlns:a16="http://schemas.microsoft.com/office/drawing/2014/main" val="176430954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621392189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48403268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59781209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655904525"/>
                    </a:ext>
                  </a:extLst>
                </a:gridCol>
                <a:gridCol w="1020999">
                  <a:extLst>
                    <a:ext uri="{9D8B030D-6E8A-4147-A177-3AD203B41FA5}">
                      <a16:colId xmlns:a16="http://schemas.microsoft.com/office/drawing/2014/main" val="1249744813"/>
                    </a:ext>
                  </a:extLst>
                </a:gridCol>
                <a:gridCol w="1138001">
                  <a:extLst>
                    <a:ext uri="{9D8B030D-6E8A-4147-A177-3AD203B41FA5}">
                      <a16:colId xmlns:a16="http://schemas.microsoft.com/office/drawing/2014/main" val="3920795597"/>
                    </a:ext>
                  </a:extLst>
                </a:gridCol>
              </a:tblGrid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>
                          <a:effectLst/>
                        </a:rPr>
                        <a:t>Cantidad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981324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Martín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3786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Red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203680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270390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8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4,75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76134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25/02/2011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107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Herman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597587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Pedro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Maracay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047369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3141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179546"/>
                  </a:ext>
                </a:extLst>
              </a:tr>
            </a:tbl>
          </a:graphicData>
        </a:graphic>
      </p:graphicFrame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088554A-E45D-5A95-2868-5F323C1E615D}"/>
              </a:ext>
            </a:extLst>
          </p:cNvPr>
          <p:cNvSpPr/>
          <p:nvPr/>
        </p:nvSpPr>
        <p:spPr>
          <a:xfrm>
            <a:off x="752475" y="3971925"/>
            <a:ext cx="10763250" cy="104775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C3C0B27-0551-DECF-4B1D-C8A46D1E88CC}"/>
              </a:ext>
            </a:extLst>
          </p:cNvPr>
          <p:cNvSpPr/>
          <p:nvPr/>
        </p:nvSpPr>
        <p:spPr>
          <a:xfrm>
            <a:off x="713509" y="5019675"/>
            <a:ext cx="10802216" cy="36223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1340DBD-38E6-1918-F226-A142505A7BE7}"/>
              </a:ext>
            </a:extLst>
          </p:cNvPr>
          <p:cNvSpPr/>
          <p:nvPr/>
        </p:nvSpPr>
        <p:spPr>
          <a:xfrm>
            <a:off x="723034" y="5381625"/>
            <a:ext cx="10802216" cy="6658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2786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9BC58-BE18-CBFB-182C-1E28F62A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2FCC5B-A002-CEBA-289C-01B498ED3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54C5621-37E7-5956-9399-A9F908B4D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DA352F-EE13-A89C-9414-1C017DD9B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 fontScale="90000"/>
          </a:bodyPr>
          <a:lstStyle/>
          <a:p>
            <a:r>
              <a:rPr lang="es-ES" sz="3200" dirty="0"/>
              <a:t>1FN: Una relación está en 1FN si cada atributo es atómico, es decir, cada celda contiene un solo valor.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D4FFE5-1884-7389-F7AB-7DB9F930A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445205-9D50-D212-0661-221EEFA97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EBE031-C087-A9B5-5FD5-B1979E0E5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s-ES" sz="2400" dirty="0"/>
              <a:t>PROBLEMA: para el mismo número de orden, hay más de un campo con varios valores. Eso son celdas “multivaluadas”</a:t>
            </a:r>
          </a:p>
          <a:p>
            <a:r>
              <a:rPr lang="es-ES" sz="2400" dirty="0"/>
              <a:t>Por eso no cumple estar en 1FN.</a:t>
            </a: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EA6D695C-9D86-D340-BD58-22D306894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79"/>
          <a:stretch>
            <a:fillRect/>
          </a:stretch>
        </p:blipFill>
        <p:spPr>
          <a:xfrm>
            <a:off x="-183896" y="2684398"/>
            <a:ext cx="14914514" cy="744602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4D12433-C6F1-A69B-7C29-AB7D45371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524280"/>
              </p:ext>
            </p:extLst>
          </p:nvPr>
        </p:nvGraphicFramePr>
        <p:xfrm>
          <a:off x="836468" y="3609687"/>
          <a:ext cx="10517332" cy="243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8001">
                  <a:extLst>
                    <a:ext uri="{9D8B030D-6E8A-4147-A177-3AD203B41FA5}">
                      <a16:colId xmlns:a16="http://schemas.microsoft.com/office/drawing/2014/main" val="2259465545"/>
                    </a:ext>
                  </a:extLst>
                </a:gridCol>
                <a:gridCol w="1371404">
                  <a:extLst>
                    <a:ext uri="{9D8B030D-6E8A-4147-A177-3AD203B41FA5}">
                      <a16:colId xmlns:a16="http://schemas.microsoft.com/office/drawing/2014/main" val="2472711794"/>
                    </a:ext>
                  </a:extLst>
                </a:gridCol>
                <a:gridCol w="1195647">
                  <a:extLst>
                    <a:ext uri="{9D8B030D-6E8A-4147-A177-3AD203B41FA5}">
                      <a16:colId xmlns:a16="http://schemas.microsoft.com/office/drawing/2014/main" val="176430954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621392189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48403268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59781209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655904525"/>
                    </a:ext>
                  </a:extLst>
                </a:gridCol>
                <a:gridCol w="1020999">
                  <a:extLst>
                    <a:ext uri="{9D8B030D-6E8A-4147-A177-3AD203B41FA5}">
                      <a16:colId xmlns:a16="http://schemas.microsoft.com/office/drawing/2014/main" val="1249744813"/>
                    </a:ext>
                  </a:extLst>
                </a:gridCol>
                <a:gridCol w="1138001">
                  <a:extLst>
                    <a:ext uri="{9D8B030D-6E8A-4147-A177-3AD203B41FA5}">
                      <a16:colId xmlns:a16="http://schemas.microsoft.com/office/drawing/2014/main" val="3920795597"/>
                    </a:ext>
                  </a:extLst>
                </a:gridCol>
              </a:tblGrid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>
                          <a:effectLst/>
                        </a:rPr>
                        <a:t>Cantidad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981324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Martín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3786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Red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203680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270390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8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4,75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76134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25/02/2011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107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Herman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597587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Pedro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Maracay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047369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3141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179546"/>
                  </a:ext>
                </a:extLst>
              </a:tr>
            </a:tbl>
          </a:graphicData>
        </a:graphic>
      </p:graphicFrame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396924F-04CA-B463-29D1-366C27878F49}"/>
              </a:ext>
            </a:extLst>
          </p:cNvPr>
          <p:cNvSpPr/>
          <p:nvPr/>
        </p:nvSpPr>
        <p:spPr>
          <a:xfrm>
            <a:off x="7058025" y="3971925"/>
            <a:ext cx="4457700" cy="104775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BE1BA04-C2CB-064F-4503-F5DAC39F500C}"/>
              </a:ext>
            </a:extLst>
          </p:cNvPr>
          <p:cNvSpPr/>
          <p:nvPr/>
        </p:nvSpPr>
        <p:spPr>
          <a:xfrm>
            <a:off x="7041887" y="5019675"/>
            <a:ext cx="4473838" cy="36223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9EB69A1-ECE7-5CCC-E101-0DA1DAA5ECCF}"/>
              </a:ext>
            </a:extLst>
          </p:cNvPr>
          <p:cNvSpPr/>
          <p:nvPr/>
        </p:nvSpPr>
        <p:spPr>
          <a:xfrm>
            <a:off x="7051412" y="5381625"/>
            <a:ext cx="4473838" cy="6658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4208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1EB2D-50E4-40E7-0869-393734B84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A33D350-EC7C-024F-652B-4567D62D4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07121A-D494-E982-8A98-F2FA12916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CEE763-3423-812A-F3D6-3F9CC834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 fontScale="90000"/>
          </a:bodyPr>
          <a:lstStyle/>
          <a:p>
            <a:r>
              <a:rPr lang="es-ES" sz="3200" dirty="0"/>
              <a:t>1FN: Una relación está en 1FN si cada atributo es atómico, es decir, cada celda contiene un solo valor.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814278-6D40-55E8-EAA4-61BC64AC3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18F06C-06F8-8E10-7D45-84E09B670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0C3F86-369C-92C7-BB5E-973EDEE8A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s-ES" sz="2400" dirty="0"/>
              <a:t>Solución: crear una nueva tabla con los campos “multivaluados” y su clave primaria, dejando la tabla original con los campos atómicos.</a:t>
            </a: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8832AF5B-374E-22BA-7EFF-F40ED89A8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79"/>
          <a:stretch>
            <a:fillRect/>
          </a:stretch>
        </p:blipFill>
        <p:spPr>
          <a:xfrm>
            <a:off x="-183896" y="2684398"/>
            <a:ext cx="14914514" cy="744602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AC812C2-1727-031C-E036-7774A1FFA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578774"/>
              </p:ext>
            </p:extLst>
          </p:nvPr>
        </p:nvGraphicFramePr>
        <p:xfrm>
          <a:off x="836468" y="3609687"/>
          <a:ext cx="10517332" cy="243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8001">
                  <a:extLst>
                    <a:ext uri="{9D8B030D-6E8A-4147-A177-3AD203B41FA5}">
                      <a16:colId xmlns:a16="http://schemas.microsoft.com/office/drawing/2014/main" val="2259465545"/>
                    </a:ext>
                  </a:extLst>
                </a:gridCol>
                <a:gridCol w="1371404">
                  <a:extLst>
                    <a:ext uri="{9D8B030D-6E8A-4147-A177-3AD203B41FA5}">
                      <a16:colId xmlns:a16="http://schemas.microsoft.com/office/drawing/2014/main" val="2472711794"/>
                    </a:ext>
                  </a:extLst>
                </a:gridCol>
                <a:gridCol w="1195647">
                  <a:extLst>
                    <a:ext uri="{9D8B030D-6E8A-4147-A177-3AD203B41FA5}">
                      <a16:colId xmlns:a16="http://schemas.microsoft.com/office/drawing/2014/main" val="176430954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621392189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48403268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59781209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655904525"/>
                    </a:ext>
                  </a:extLst>
                </a:gridCol>
                <a:gridCol w="1020999">
                  <a:extLst>
                    <a:ext uri="{9D8B030D-6E8A-4147-A177-3AD203B41FA5}">
                      <a16:colId xmlns:a16="http://schemas.microsoft.com/office/drawing/2014/main" val="1249744813"/>
                    </a:ext>
                  </a:extLst>
                </a:gridCol>
                <a:gridCol w="1138001">
                  <a:extLst>
                    <a:ext uri="{9D8B030D-6E8A-4147-A177-3AD203B41FA5}">
                      <a16:colId xmlns:a16="http://schemas.microsoft.com/office/drawing/2014/main" val="3920795597"/>
                    </a:ext>
                  </a:extLst>
                </a:gridCol>
              </a:tblGrid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>
                          <a:effectLst/>
                        </a:rPr>
                        <a:t>Cantidad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981324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Martín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3786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Red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203680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270390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9132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8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4,75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76134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25/02/2011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107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Herman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597587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Pedro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Maracay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047369"/>
                  </a:ext>
                </a:extLst>
              </a:tr>
              <a:tr h="348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3141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179546"/>
                  </a:ext>
                </a:extLst>
              </a:tr>
            </a:tbl>
          </a:graphicData>
        </a:graphic>
      </p:graphicFrame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DAD8F930-A9B1-4046-630F-39263623380C}"/>
              </a:ext>
            </a:extLst>
          </p:cNvPr>
          <p:cNvSpPr/>
          <p:nvPr/>
        </p:nvSpPr>
        <p:spPr>
          <a:xfrm>
            <a:off x="4484601" y="1267800"/>
            <a:ext cx="1101437" cy="1499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6B9E59D-C216-0B9D-877B-052FC60502C1}"/>
              </a:ext>
            </a:extLst>
          </p:cNvPr>
          <p:cNvSpPr/>
          <p:nvPr/>
        </p:nvSpPr>
        <p:spPr>
          <a:xfrm>
            <a:off x="7058025" y="3971925"/>
            <a:ext cx="4457700" cy="104775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4669A2B-045B-B2FE-12EE-8776D98BB23A}"/>
              </a:ext>
            </a:extLst>
          </p:cNvPr>
          <p:cNvSpPr/>
          <p:nvPr/>
        </p:nvSpPr>
        <p:spPr>
          <a:xfrm>
            <a:off x="7041887" y="5019675"/>
            <a:ext cx="4473838" cy="36223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7E61A38-DC93-5D75-F0BD-9F70DBE0F772}"/>
              </a:ext>
            </a:extLst>
          </p:cNvPr>
          <p:cNvSpPr/>
          <p:nvPr/>
        </p:nvSpPr>
        <p:spPr>
          <a:xfrm>
            <a:off x="7051412" y="5381625"/>
            <a:ext cx="4473838" cy="6658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7371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3BE189-ECBF-857F-D964-C5F2C70D6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511AB5-150B-1A0B-54D4-7A1413005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s-ES" sz="1700" dirty="0"/>
              <a:t>Está en 1FN dividiendo la tabla original en dos tablas:</a:t>
            </a:r>
          </a:p>
          <a:p>
            <a:r>
              <a:rPr lang="es-ES" sz="1700" dirty="0"/>
              <a:t>Una tabla que contiene los datos que se podían agrupar.</a:t>
            </a:r>
          </a:p>
          <a:p>
            <a:r>
              <a:rPr lang="es-ES" sz="1700" dirty="0"/>
              <a:t>Otra tabla que tiene la clave principal de la primera junto con los campos que no podíamos agrupar</a:t>
            </a: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FF8C70DA-0320-86E2-25AA-EDCB7B887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091" b="84575"/>
          <a:stretch>
            <a:fillRect/>
          </a:stretch>
        </p:blipFill>
        <p:spPr>
          <a:xfrm>
            <a:off x="4455671" y="538269"/>
            <a:ext cx="7365235" cy="88827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C6BE751-5E39-D974-353C-EBC79D3C0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59528"/>
              </p:ext>
            </p:extLst>
          </p:nvPr>
        </p:nvGraphicFramePr>
        <p:xfrm>
          <a:off x="4817622" y="1780794"/>
          <a:ext cx="6290260" cy="1762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988">
                  <a:extLst>
                    <a:ext uri="{9D8B030D-6E8A-4147-A177-3AD203B41FA5}">
                      <a16:colId xmlns:a16="http://schemas.microsoft.com/office/drawing/2014/main" val="2632368281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3623627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720714064"/>
                    </a:ext>
                  </a:extLst>
                </a:gridCol>
                <a:gridCol w="1490308">
                  <a:extLst>
                    <a:ext uri="{9D8B030D-6E8A-4147-A177-3AD203B41FA5}">
                      <a16:colId xmlns:a16="http://schemas.microsoft.com/office/drawing/2014/main" val="2600986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532243091"/>
                    </a:ext>
                  </a:extLst>
                </a:gridCol>
              </a:tblGrid>
              <a:tr h="4406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85520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Martín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868334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25/02/2011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107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Herman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165396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Pedro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Maracay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0945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F111C64-8695-6445-7FB5-DF9212734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891445"/>
              </p:ext>
            </p:extLst>
          </p:nvPr>
        </p:nvGraphicFramePr>
        <p:xfrm>
          <a:off x="4826766" y="3897550"/>
          <a:ext cx="6281117" cy="2398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8244">
                  <a:extLst>
                    <a:ext uri="{9D8B030D-6E8A-4147-A177-3AD203B41FA5}">
                      <a16:colId xmlns:a16="http://schemas.microsoft.com/office/drawing/2014/main" val="1902094914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46414445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427166548"/>
                    </a:ext>
                  </a:extLst>
                </a:gridCol>
                <a:gridCol w="1488141">
                  <a:extLst>
                    <a:ext uri="{9D8B030D-6E8A-4147-A177-3AD203B41FA5}">
                      <a16:colId xmlns:a16="http://schemas.microsoft.com/office/drawing/2014/main" val="508670700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6833431"/>
                    </a:ext>
                  </a:extLst>
                </a:gridCol>
              </a:tblGrid>
              <a:tr h="3426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Cantidad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799947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3786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Red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84709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13493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8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4,75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97429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356598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2348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831280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8E36F345-E0FA-B948-A6E2-C2A8504393DF}"/>
              </a:ext>
            </a:extLst>
          </p:cNvPr>
          <p:cNvSpPr txBox="1"/>
          <p:nvPr/>
        </p:nvSpPr>
        <p:spPr>
          <a:xfrm>
            <a:off x="1320770" y="538269"/>
            <a:ext cx="1533526" cy="1533526"/>
          </a:xfrm>
          <a:custGeom>
            <a:avLst/>
            <a:gdLst/>
            <a:ahLst/>
            <a:cxnLst/>
            <a:rect l="l" t="t" r="r" b="b"/>
            <a:pathLst>
              <a:path w="1533526" h="1533526">
                <a:moveTo>
                  <a:pt x="370498" y="582096"/>
                </a:moveTo>
                <a:cubicBezTo>
                  <a:pt x="362997" y="591974"/>
                  <a:pt x="354445" y="601075"/>
                  <a:pt x="344841" y="609399"/>
                </a:cubicBezTo>
                <a:cubicBezTo>
                  <a:pt x="335237" y="617722"/>
                  <a:pt x="324078" y="624994"/>
                  <a:pt x="311364" y="631214"/>
                </a:cubicBezTo>
                <a:cubicBezTo>
                  <a:pt x="298650" y="637433"/>
                  <a:pt x="283878" y="642373"/>
                  <a:pt x="267048" y="646031"/>
                </a:cubicBezTo>
                <a:lnTo>
                  <a:pt x="267048" y="713534"/>
                </a:lnTo>
                <a:cubicBezTo>
                  <a:pt x="283695" y="711156"/>
                  <a:pt x="298101" y="707635"/>
                  <a:pt x="310266" y="702970"/>
                </a:cubicBezTo>
                <a:cubicBezTo>
                  <a:pt x="322431" y="698305"/>
                  <a:pt x="332813" y="692908"/>
                  <a:pt x="341411" y="686780"/>
                </a:cubicBezTo>
                <a:cubicBezTo>
                  <a:pt x="350009" y="680652"/>
                  <a:pt x="357235" y="674203"/>
                  <a:pt x="363089" y="667435"/>
                </a:cubicBezTo>
                <a:lnTo>
                  <a:pt x="363089" y="942111"/>
                </a:lnTo>
                <a:lnTo>
                  <a:pt x="439647" y="942111"/>
                </a:lnTo>
                <a:lnTo>
                  <a:pt x="439647" y="582096"/>
                </a:lnTo>
                <a:close/>
                <a:moveTo>
                  <a:pt x="878569" y="572766"/>
                </a:moveTo>
                <a:lnTo>
                  <a:pt x="878569" y="942111"/>
                </a:lnTo>
                <a:lnTo>
                  <a:pt x="950737" y="942111"/>
                </a:lnTo>
                <a:lnTo>
                  <a:pt x="950737" y="691582"/>
                </a:lnTo>
                <a:lnTo>
                  <a:pt x="1120866" y="942111"/>
                </a:lnTo>
                <a:lnTo>
                  <a:pt x="1196601" y="942111"/>
                </a:lnTo>
                <a:lnTo>
                  <a:pt x="1196601" y="572766"/>
                </a:lnTo>
                <a:lnTo>
                  <a:pt x="1123884" y="572766"/>
                </a:lnTo>
                <a:lnTo>
                  <a:pt x="1123884" y="821649"/>
                </a:lnTo>
                <a:lnTo>
                  <a:pt x="954029" y="572766"/>
                </a:lnTo>
                <a:close/>
                <a:moveTo>
                  <a:pt x="573769" y="572766"/>
                </a:moveTo>
                <a:lnTo>
                  <a:pt x="573769" y="942111"/>
                </a:lnTo>
                <a:lnTo>
                  <a:pt x="650876" y="942111"/>
                </a:lnTo>
                <a:lnTo>
                  <a:pt x="650876" y="784330"/>
                </a:lnTo>
                <a:lnTo>
                  <a:pt x="798230" y="784330"/>
                </a:lnTo>
                <a:lnTo>
                  <a:pt x="798230" y="723138"/>
                </a:lnTo>
                <a:lnTo>
                  <a:pt x="650876" y="723138"/>
                </a:lnTo>
                <a:lnTo>
                  <a:pt x="650876" y="636702"/>
                </a:lnTo>
                <a:lnTo>
                  <a:pt x="815243" y="636702"/>
                </a:lnTo>
                <a:lnTo>
                  <a:pt x="815243" y="572766"/>
                </a:lnTo>
                <a:close/>
                <a:moveTo>
                  <a:pt x="766763" y="0"/>
                </a:moveTo>
                <a:cubicBezTo>
                  <a:pt x="1190235" y="0"/>
                  <a:pt x="1533526" y="343291"/>
                  <a:pt x="1533526" y="766763"/>
                </a:cubicBezTo>
                <a:cubicBezTo>
                  <a:pt x="1533526" y="1190235"/>
                  <a:pt x="1190235" y="1533526"/>
                  <a:pt x="766763" y="1533526"/>
                </a:cubicBezTo>
                <a:cubicBezTo>
                  <a:pt x="343291" y="1533526"/>
                  <a:pt x="0" y="1190235"/>
                  <a:pt x="0" y="766763"/>
                </a:cubicBezTo>
                <a:cubicBezTo>
                  <a:pt x="0" y="343291"/>
                  <a:pt x="343291" y="0"/>
                  <a:pt x="766763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s-ES" sz="2000" b="1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2F944BA-2A79-9C2B-B150-0124755922C8}"/>
              </a:ext>
            </a:extLst>
          </p:cNvPr>
          <p:cNvSpPr/>
          <p:nvPr/>
        </p:nvSpPr>
        <p:spPr>
          <a:xfrm>
            <a:off x="4455671" y="1578429"/>
            <a:ext cx="7050529" cy="49530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160462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FC536-17A9-8683-7818-C59237470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3D530D-C2D7-D5A6-DD89-A5E09336D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6C62A8A6-66E5-F0B5-D5BF-CA87F2480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9AC427DF-4F8D-D30C-CC44-E5E2FECED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006B19-C369-7CE7-1741-31EAF49B5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D80562-01DA-BA3D-3060-3AD8F0968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7E4E36-42C3-987E-742C-923CBE654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s-ES" sz="1600" dirty="0"/>
              <a:t>Identificar columnas que dependen solo de parte de la clave primaria.</a:t>
            </a:r>
          </a:p>
          <a:p>
            <a:r>
              <a:rPr lang="es-ES" sz="1600" dirty="0"/>
              <a:t>Crear una nueva tabla con estas columnas, usando como clave primaria la de la que dependen.</a:t>
            </a: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97F937AF-D373-F113-4213-F278AE8D5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091" b="84575"/>
          <a:stretch>
            <a:fillRect/>
          </a:stretch>
        </p:blipFill>
        <p:spPr>
          <a:xfrm>
            <a:off x="4455671" y="538269"/>
            <a:ext cx="7365235" cy="88827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2A126AB-FB64-8649-0866-4A7ED8D3A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448371"/>
              </p:ext>
            </p:extLst>
          </p:nvPr>
        </p:nvGraphicFramePr>
        <p:xfrm>
          <a:off x="4817622" y="1780794"/>
          <a:ext cx="6290260" cy="1762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988">
                  <a:extLst>
                    <a:ext uri="{9D8B030D-6E8A-4147-A177-3AD203B41FA5}">
                      <a16:colId xmlns:a16="http://schemas.microsoft.com/office/drawing/2014/main" val="2632368281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3623627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720714064"/>
                    </a:ext>
                  </a:extLst>
                </a:gridCol>
                <a:gridCol w="1490308">
                  <a:extLst>
                    <a:ext uri="{9D8B030D-6E8A-4147-A177-3AD203B41FA5}">
                      <a16:colId xmlns:a16="http://schemas.microsoft.com/office/drawing/2014/main" val="2600986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532243091"/>
                    </a:ext>
                  </a:extLst>
                </a:gridCol>
              </a:tblGrid>
              <a:tr h="4406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85520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Martín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868334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25/02/2011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107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Herman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165396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Pedro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Maracay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0945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6C336EA-B3F8-1D64-3B4A-F86268745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846996"/>
              </p:ext>
            </p:extLst>
          </p:nvPr>
        </p:nvGraphicFramePr>
        <p:xfrm>
          <a:off x="4826766" y="3897550"/>
          <a:ext cx="6281117" cy="2398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8244">
                  <a:extLst>
                    <a:ext uri="{9D8B030D-6E8A-4147-A177-3AD203B41FA5}">
                      <a16:colId xmlns:a16="http://schemas.microsoft.com/office/drawing/2014/main" val="1902094914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46414445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427166548"/>
                    </a:ext>
                  </a:extLst>
                </a:gridCol>
                <a:gridCol w="1488141">
                  <a:extLst>
                    <a:ext uri="{9D8B030D-6E8A-4147-A177-3AD203B41FA5}">
                      <a16:colId xmlns:a16="http://schemas.microsoft.com/office/drawing/2014/main" val="508670700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6833431"/>
                    </a:ext>
                  </a:extLst>
                </a:gridCol>
              </a:tblGrid>
              <a:tr h="3426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Cantidad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799947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3786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Red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84709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13493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8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4,75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97429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356598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2348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831280"/>
                  </a:ext>
                </a:extLst>
              </a:tr>
            </a:tbl>
          </a:graphicData>
        </a:graphic>
      </p:graphicFrame>
      <p:sp>
        <p:nvSpPr>
          <p:cNvPr id="10" name="Título 1">
            <a:extLst>
              <a:ext uri="{FF2B5EF4-FFF2-40B4-BE49-F238E27FC236}">
                <a16:creationId xmlns:a16="http://schemas.microsoft.com/office/drawing/2014/main" id="{4C281D0B-71C2-A47B-6406-BAA5332C9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381000"/>
            <a:ext cx="3852563" cy="2008414"/>
          </a:xfrm>
        </p:spPr>
        <p:txBody>
          <a:bodyPr anchor="ctr">
            <a:normAutofit/>
          </a:bodyPr>
          <a:lstStyle/>
          <a:p>
            <a:r>
              <a:rPr lang="es-ES" sz="2000" dirty="0"/>
              <a:t>2FN: Una relación está en 2FN si está en 1FN y todos los atributos no clave dependen funcionalmente de la </a:t>
            </a:r>
            <a:r>
              <a:rPr lang="es-ES" sz="2000" b="1" dirty="0"/>
              <a:t>clave completa</a:t>
            </a:r>
            <a:r>
              <a:rPr lang="es-E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313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754F9-E719-00B5-86FE-10321C8D4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910CFA-B2A7-72A0-31E5-E93C54A94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E380E7D-EBC7-B21C-7557-D747227F3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94A51013-116E-2A27-931F-ED201D288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E88ED0-48A4-9609-A15C-588DE2C8E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79CB15-E012-232F-83C7-DA04300E6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D0EF2A-CD94-B789-5013-C52B83499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s-ES" sz="1600" dirty="0"/>
              <a:t>Tabla </a:t>
            </a:r>
            <a:r>
              <a:rPr lang="es-ES" sz="1600" b="1" dirty="0"/>
              <a:t>Ordenes</a:t>
            </a:r>
            <a:r>
              <a:rPr lang="es-ES" sz="1600" dirty="0"/>
              <a:t> → clave principal </a:t>
            </a:r>
            <a:r>
              <a:rPr lang="es-ES" sz="1600" dirty="0" err="1"/>
              <a:t>Id_orden</a:t>
            </a:r>
            <a:r>
              <a:rPr lang="es-ES" sz="1600" dirty="0"/>
              <a:t> (ya está en 2FN).</a:t>
            </a:r>
          </a:p>
          <a:p>
            <a:r>
              <a:rPr lang="es-ES" sz="1600" dirty="0"/>
              <a:t>Tabla </a:t>
            </a:r>
            <a:r>
              <a:rPr lang="es-ES" sz="1600" b="1" dirty="0" err="1"/>
              <a:t>Articulos_Ordenes</a:t>
            </a:r>
            <a:r>
              <a:rPr lang="es-ES" sz="1600" dirty="0"/>
              <a:t> → </a:t>
            </a:r>
            <a:r>
              <a:rPr lang="es-ES" sz="1600" dirty="0" err="1"/>
              <a:t>Nom_art</a:t>
            </a:r>
            <a:r>
              <a:rPr lang="es-ES" sz="1600" dirty="0"/>
              <a:t> y Precio dependen solo de </a:t>
            </a:r>
            <a:r>
              <a:rPr lang="es-ES" sz="1600" dirty="0" err="1"/>
              <a:t>Num_art</a:t>
            </a:r>
            <a:r>
              <a:rPr lang="es-ES" sz="1600" dirty="0"/>
              <a:t> → se crean tabla </a:t>
            </a:r>
            <a:r>
              <a:rPr lang="es-ES" sz="1600" b="1" dirty="0" err="1"/>
              <a:t>Articulos</a:t>
            </a:r>
            <a:r>
              <a:rPr lang="es-ES" sz="1600" dirty="0"/>
              <a:t> con estas columnas + </a:t>
            </a:r>
            <a:r>
              <a:rPr lang="es-ES" sz="1600" dirty="0" err="1"/>
              <a:t>Num_art</a:t>
            </a:r>
            <a:r>
              <a:rPr lang="es-ES" sz="1600" dirty="0"/>
              <a:t> como clave primaria.</a:t>
            </a: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5B3A346E-E977-8113-1DB5-F3597F483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091" b="84575"/>
          <a:stretch>
            <a:fillRect/>
          </a:stretch>
        </p:blipFill>
        <p:spPr>
          <a:xfrm>
            <a:off x="4455671" y="538269"/>
            <a:ext cx="7365235" cy="88827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C546EAE-97D6-C584-14F8-BFEB48B85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466678"/>
              </p:ext>
            </p:extLst>
          </p:nvPr>
        </p:nvGraphicFramePr>
        <p:xfrm>
          <a:off x="4817622" y="1780794"/>
          <a:ext cx="6290260" cy="1762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988">
                  <a:extLst>
                    <a:ext uri="{9D8B030D-6E8A-4147-A177-3AD203B41FA5}">
                      <a16:colId xmlns:a16="http://schemas.microsoft.com/office/drawing/2014/main" val="2632368281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3623627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720714064"/>
                    </a:ext>
                  </a:extLst>
                </a:gridCol>
                <a:gridCol w="1490308">
                  <a:extLst>
                    <a:ext uri="{9D8B030D-6E8A-4147-A177-3AD203B41FA5}">
                      <a16:colId xmlns:a16="http://schemas.microsoft.com/office/drawing/2014/main" val="2600986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532243091"/>
                    </a:ext>
                  </a:extLst>
                </a:gridCol>
              </a:tblGrid>
              <a:tr h="4406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85520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Martín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868334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25/02/2011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107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Herman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165396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Pedro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Maracay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0945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EA0D3B2-804B-9873-E32B-58898B30D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177087"/>
              </p:ext>
            </p:extLst>
          </p:nvPr>
        </p:nvGraphicFramePr>
        <p:xfrm>
          <a:off x="4826766" y="3897550"/>
          <a:ext cx="6281117" cy="2398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8244">
                  <a:extLst>
                    <a:ext uri="{9D8B030D-6E8A-4147-A177-3AD203B41FA5}">
                      <a16:colId xmlns:a16="http://schemas.microsoft.com/office/drawing/2014/main" val="1902094914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46414445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427166548"/>
                    </a:ext>
                  </a:extLst>
                </a:gridCol>
                <a:gridCol w="1488141">
                  <a:extLst>
                    <a:ext uri="{9D8B030D-6E8A-4147-A177-3AD203B41FA5}">
                      <a16:colId xmlns:a16="http://schemas.microsoft.com/office/drawing/2014/main" val="508670700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6833431"/>
                    </a:ext>
                  </a:extLst>
                </a:gridCol>
              </a:tblGrid>
              <a:tr h="3426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Cantidad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799947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3786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Red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84709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13493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8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4,75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97429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356598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2348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831280"/>
                  </a:ext>
                </a:extLst>
              </a:tr>
            </a:tbl>
          </a:graphicData>
        </a:graphic>
      </p:graphicFrame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517AAD9-CAB3-F66F-7919-822CA870E7F3}"/>
              </a:ext>
            </a:extLst>
          </p:cNvPr>
          <p:cNvSpPr/>
          <p:nvPr/>
        </p:nvSpPr>
        <p:spPr>
          <a:xfrm>
            <a:off x="4593771" y="1676399"/>
            <a:ext cx="6694715" cy="195942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7D06CEA-F3AE-1203-6587-3AEB82E138B9}"/>
              </a:ext>
            </a:extLst>
          </p:cNvPr>
          <p:cNvCxnSpPr>
            <a:endCxn id="8" idx="1"/>
          </p:cNvCxnSpPr>
          <p:nvPr/>
        </p:nvCxnSpPr>
        <p:spPr>
          <a:xfrm flipV="1">
            <a:off x="3080657" y="2656114"/>
            <a:ext cx="1513114" cy="3918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ítulo 1">
            <a:extLst>
              <a:ext uri="{FF2B5EF4-FFF2-40B4-BE49-F238E27FC236}">
                <a16:creationId xmlns:a16="http://schemas.microsoft.com/office/drawing/2014/main" id="{A71D0DAF-7C8A-9251-E454-53A37EC29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391886"/>
            <a:ext cx="3852563" cy="2008414"/>
          </a:xfrm>
        </p:spPr>
        <p:txBody>
          <a:bodyPr anchor="ctr">
            <a:normAutofit/>
          </a:bodyPr>
          <a:lstStyle/>
          <a:p>
            <a:r>
              <a:rPr lang="es-ES" sz="2000" dirty="0"/>
              <a:t>2FN: Una relación está en 2FN si está en 1FN y todos los atributos no clave dependen funcionalmente de la </a:t>
            </a:r>
            <a:r>
              <a:rPr lang="es-ES" sz="2000" b="1" dirty="0"/>
              <a:t>clave completa</a:t>
            </a:r>
            <a:r>
              <a:rPr lang="es-E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7228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1B518-C65D-4C27-64B4-A05CB605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9FEE4E6-F932-2C7B-DE7A-93C5EC978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BBBCE9CD-8771-FC29-DF7B-26317552E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E353B058-CDA4-3172-40E9-8E25F28C8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1EA99C-9798-3723-07E5-52BBD62A9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DF3C86-83E2-8AC6-17D6-12336A0A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EA19E-EB96-44B7-A8F9-B81E78621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s-ES" sz="1600" dirty="0"/>
              <a:t>Tabla </a:t>
            </a:r>
            <a:r>
              <a:rPr lang="es-ES" sz="1600" b="1" dirty="0"/>
              <a:t>Ordenes</a:t>
            </a:r>
            <a:r>
              <a:rPr lang="es-ES" sz="1600" dirty="0"/>
              <a:t> → clave principal </a:t>
            </a:r>
            <a:r>
              <a:rPr lang="es-ES" sz="1600" dirty="0" err="1"/>
              <a:t>Id_orden</a:t>
            </a:r>
            <a:r>
              <a:rPr lang="es-ES" sz="1600" dirty="0"/>
              <a:t> (ya está en 2FN).</a:t>
            </a:r>
          </a:p>
          <a:p>
            <a:r>
              <a:rPr lang="es-ES" sz="1600" dirty="0"/>
              <a:t>Tabla </a:t>
            </a:r>
            <a:r>
              <a:rPr lang="es-ES" sz="1600" b="1" dirty="0" err="1"/>
              <a:t>Articulos_Ordenes</a:t>
            </a:r>
            <a:r>
              <a:rPr lang="es-ES" sz="1600" dirty="0"/>
              <a:t> → </a:t>
            </a:r>
            <a:r>
              <a:rPr lang="es-ES" sz="1600" dirty="0" err="1"/>
              <a:t>Nom_art</a:t>
            </a:r>
            <a:r>
              <a:rPr lang="es-ES" sz="1600" dirty="0"/>
              <a:t> y Precio dependen solo de </a:t>
            </a:r>
            <a:r>
              <a:rPr lang="es-ES" sz="1600" dirty="0" err="1"/>
              <a:t>Num_art</a:t>
            </a:r>
            <a:r>
              <a:rPr lang="es-ES" sz="1600" dirty="0"/>
              <a:t> → se crean tabla </a:t>
            </a:r>
            <a:r>
              <a:rPr lang="es-ES" sz="1600" b="1" dirty="0" err="1"/>
              <a:t>Articulos</a:t>
            </a:r>
            <a:r>
              <a:rPr lang="es-ES" sz="1600" dirty="0"/>
              <a:t> con estas columnas + </a:t>
            </a:r>
            <a:r>
              <a:rPr lang="es-ES" sz="1600" dirty="0" err="1"/>
              <a:t>Num_art</a:t>
            </a:r>
            <a:r>
              <a:rPr lang="es-ES" sz="1600" dirty="0"/>
              <a:t> como clave primaria.</a:t>
            </a: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B7E185FB-FEB3-C00C-DE08-81CBA54C3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091" b="84575"/>
          <a:stretch>
            <a:fillRect/>
          </a:stretch>
        </p:blipFill>
        <p:spPr>
          <a:xfrm>
            <a:off x="4455671" y="538269"/>
            <a:ext cx="7365235" cy="88827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794B382-88C7-A6AB-2C9B-F32B8CD37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849891"/>
              </p:ext>
            </p:extLst>
          </p:nvPr>
        </p:nvGraphicFramePr>
        <p:xfrm>
          <a:off x="4817622" y="1780794"/>
          <a:ext cx="6290260" cy="1762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988">
                  <a:extLst>
                    <a:ext uri="{9D8B030D-6E8A-4147-A177-3AD203B41FA5}">
                      <a16:colId xmlns:a16="http://schemas.microsoft.com/office/drawing/2014/main" val="2632368281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3623627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720714064"/>
                    </a:ext>
                  </a:extLst>
                </a:gridCol>
                <a:gridCol w="1490308">
                  <a:extLst>
                    <a:ext uri="{9D8B030D-6E8A-4147-A177-3AD203B41FA5}">
                      <a16:colId xmlns:a16="http://schemas.microsoft.com/office/drawing/2014/main" val="2600986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532243091"/>
                    </a:ext>
                  </a:extLst>
                </a:gridCol>
              </a:tblGrid>
              <a:tr h="4406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85520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Martín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868334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25/02/2011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107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Herman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165396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Pedro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Maracay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0945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BC2A6A0-5FC4-E561-B795-26640653D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904153"/>
              </p:ext>
            </p:extLst>
          </p:nvPr>
        </p:nvGraphicFramePr>
        <p:xfrm>
          <a:off x="4826766" y="3897550"/>
          <a:ext cx="6281117" cy="2398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8244">
                  <a:extLst>
                    <a:ext uri="{9D8B030D-6E8A-4147-A177-3AD203B41FA5}">
                      <a16:colId xmlns:a16="http://schemas.microsoft.com/office/drawing/2014/main" val="1902094914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46414445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427166548"/>
                    </a:ext>
                  </a:extLst>
                </a:gridCol>
                <a:gridCol w="1488141">
                  <a:extLst>
                    <a:ext uri="{9D8B030D-6E8A-4147-A177-3AD203B41FA5}">
                      <a16:colId xmlns:a16="http://schemas.microsoft.com/office/drawing/2014/main" val="508670700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6833431"/>
                    </a:ext>
                  </a:extLst>
                </a:gridCol>
              </a:tblGrid>
              <a:tr h="3426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Cantidad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799947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3786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Red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84709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13493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8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4,75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97429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356598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2348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831280"/>
                  </a:ext>
                </a:extLst>
              </a:tr>
            </a:tbl>
          </a:graphicData>
        </a:graphic>
      </p:graphicFrame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8E7C691-4F08-5FFF-29EA-E936D86D8C9A}"/>
              </a:ext>
            </a:extLst>
          </p:cNvPr>
          <p:cNvSpPr/>
          <p:nvPr/>
        </p:nvSpPr>
        <p:spPr>
          <a:xfrm>
            <a:off x="4593771" y="3810003"/>
            <a:ext cx="6694715" cy="259079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4A89262-9D2E-3673-7899-4ADA8F41AC6D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418114" y="3897550"/>
            <a:ext cx="1175657" cy="120785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ítulo 1">
            <a:extLst>
              <a:ext uri="{FF2B5EF4-FFF2-40B4-BE49-F238E27FC236}">
                <a16:creationId xmlns:a16="http://schemas.microsoft.com/office/drawing/2014/main" id="{42D12AB8-F0FB-09C4-3AFB-BB1AFEB865A1}"/>
              </a:ext>
            </a:extLst>
          </p:cNvPr>
          <p:cNvSpPr txBox="1">
            <a:spLocks/>
          </p:cNvSpPr>
          <p:nvPr/>
        </p:nvSpPr>
        <p:spPr>
          <a:xfrm>
            <a:off x="371093" y="391886"/>
            <a:ext cx="3852563" cy="2008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/>
              <a:t>2FN: Una relación está en 2FN si está en 1FN y todos los atributos no clave dependen funcionalmente de la </a:t>
            </a:r>
            <a:r>
              <a:rPr lang="es-ES" sz="2000" b="1"/>
              <a:t>clave completa</a:t>
            </a:r>
            <a:r>
              <a:rPr lang="es-ES" sz="2000"/>
              <a:t>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682323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B0290-B412-1F5E-D4B4-A1CD1752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DD7E7EE-2B61-EDB1-527E-9FE5F6DAF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2600E8F9-4DC5-7EDA-3989-3743B9717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315D73B4-3CBF-2C75-AACB-44D487BD7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449BF8-8CFE-CFCC-0A89-574C7D8FD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391886"/>
            <a:ext cx="3852563" cy="2008414"/>
          </a:xfrm>
        </p:spPr>
        <p:txBody>
          <a:bodyPr anchor="ctr">
            <a:normAutofit/>
          </a:bodyPr>
          <a:lstStyle/>
          <a:p>
            <a:r>
              <a:rPr lang="es-ES" sz="2000" dirty="0"/>
              <a:t>2FN: Una relación está en 2FN si está en 1FN y todos los atributos no clave dependen funcionalmente de la </a:t>
            </a:r>
            <a:r>
              <a:rPr lang="es-ES" sz="2000" b="1" dirty="0"/>
              <a:t>clave completa</a:t>
            </a:r>
            <a:r>
              <a:rPr lang="es-ES" sz="2000" dirty="0"/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24E3C3-7884-7843-54A5-38301BC52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CB2C37-5BD0-AC15-2424-BFFDFC89C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73443F-D897-7218-DDF7-DC43DC769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s-ES" sz="1600" dirty="0"/>
              <a:t>Tabla </a:t>
            </a:r>
            <a:r>
              <a:rPr lang="es-ES" sz="1600" b="1" dirty="0"/>
              <a:t>Ordenes</a:t>
            </a:r>
            <a:r>
              <a:rPr lang="es-ES" sz="1600" dirty="0"/>
              <a:t> → clave principal </a:t>
            </a:r>
            <a:r>
              <a:rPr lang="es-ES" sz="1600" dirty="0" err="1"/>
              <a:t>Id_orden</a:t>
            </a:r>
            <a:r>
              <a:rPr lang="es-ES" sz="1600" dirty="0"/>
              <a:t> (ya está en 2FN).</a:t>
            </a:r>
          </a:p>
          <a:p>
            <a:r>
              <a:rPr lang="es-ES" sz="1600" dirty="0"/>
              <a:t>Tabla </a:t>
            </a:r>
            <a:r>
              <a:rPr lang="es-ES" sz="1600" b="1" dirty="0" err="1"/>
              <a:t>Articulos_Ordenes</a:t>
            </a:r>
            <a:r>
              <a:rPr lang="es-ES" sz="1600" dirty="0"/>
              <a:t> → </a:t>
            </a:r>
            <a:r>
              <a:rPr lang="es-ES" sz="1600" dirty="0" err="1"/>
              <a:t>Nom_art</a:t>
            </a:r>
            <a:r>
              <a:rPr lang="es-ES" sz="1600" dirty="0"/>
              <a:t> y Precio dependen solo de </a:t>
            </a:r>
            <a:r>
              <a:rPr lang="es-ES" sz="1600" dirty="0" err="1"/>
              <a:t>Num_art</a:t>
            </a:r>
            <a:r>
              <a:rPr lang="es-ES" sz="1600" dirty="0"/>
              <a:t> → se crean tabla </a:t>
            </a:r>
            <a:r>
              <a:rPr lang="es-ES" sz="1600" b="1" dirty="0" err="1"/>
              <a:t>Articulos</a:t>
            </a:r>
            <a:r>
              <a:rPr lang="es-ES" sz="1600" dirty="0"/>
              <a:t> con estas columnas + </a:t>
            </a:r>
            <a:r>
              <a:rPr lang="es-ES" sz="1600" dirty="0" err="1"/>
              <a:t>Num_art</a:t>
            </a:r>
            <a:r>
              <a:rPr lang="es-ES" sz="1600" dirty="0"/>
              <a:t> como clave primaria.</a:t>
            </a: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A2A7961B-69BB-B6DF-9958-F10BCCB02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091" b="84575"/>
          <a:stretch>
            <a:fillRect/>
          </a:stretch>
        </p:blipFill>
        <p:spPr>
          <a:xfrm>
            <a:off x="4455671" y="538269"/>
            <a:ext cx="7365235" cy="88827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654F40E-4914-769E-262E-6A6F74B64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580197"/>
              </p:ext>
            </p:extLst>
          </p:nvPr>
        </p:nvGraphicFramePr>
        <p:xfrm>
          <a:off x="4817622" y="1780794"/>
          <a:ext cx="6290260" cy="1762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988">
                  <a:extLst>
                    <a:ext uri="{9D8B030D-6E8A-4147-A177-3AD203B41FA5}">
                      <a16:colId xmlns:a16="http://schemas.microsoft.com/office/drawing/2014/main" val="2632368281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3623627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720714064"/>
                    </a:ext>
                  </a:extLst>
                </a:gridCol>
                <a:gridCol w="1490308">
                  <a:extLst>
                    <a:ext uri="{9D8B030D-6E8A-4147-A177-3AD203B41FA5}">
                      <a16:colId xmlns:a16="http://schemas.microsoft.com/office/drawing/2014/main" val="2600986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532243091"/>
                    </a:ext>
                  </a:extLst>
                </a:gridCol>
              </a:tblGrid>
              <a:tr h="4406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85520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Martín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868334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25/02/2011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107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Herman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165396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Pedro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Maracay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0945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8339057-5271-83B4-FAFF-AE263B905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474831"/>
              </p:ext>
            </p:extLst>
          </p:nvPr>
        </p:nvGraphicFramePr>
        <p:xfrm>
          <a:off x="4826766" y="3897550"/>
          <a:ext cx="6281117" cy="2398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8244">
                  <a:extLst>
                    <a:ext uri="{9D8B030D-6E8A-4147-A177-3AD203B41FA5}">
                      <a16:colId xmlns:a16="http://schemas.microsoft.com/office/drawing/2014/main" val="1902094914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46414445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427166548"/>
                    </a:ext>
                  </a:extLst>
                </a:gridCol>
                <a:gridCol w="1488141">
                  <a:extLst>
                    <a:ext uri="{9D8B030D-6E8A-4147-A177-3AD203B41FA5}">
                      <a16:colId xmlns:a16="http://schemas.microsoft.com/office/drawing/2014/main" val="508670700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6833431"/>
                    </a:ext>
                  </a:extLst>
                </a:gridCol>
              </a:tblGrid>
              <a:tr h="3426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Cantidad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799947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3786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Red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84709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13493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8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4,75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97429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356598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2348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831280"/>
                  </a:ext>
                </a:extLst>
              </a:tr>
            </a:tbl>
          </a:graphicData>
        </a:graphic>
      </p:graphicFrame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6BB853E-52C5-5A69-9F5D-B37E624C40E2}"/>
              </a:ext>
            </a:extLst>
          </p:cNvPr>
          <p:cNvSpPr/>
          <p:nvPr/>
        </p:nvSpPr>
        <p:spPr>
          <a:xfrm>
            <a:off x="6008914" y="3810003"/>
            <a:ext cx="2416630" cy="260168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75EE48A-ADE2-71A2-0ACE-A8FC65BB8367}"/>
              </a:ext>
            </a:extLst>
          </p:cNvPr>
          <p:cNvSpPr/>
          <p:nvPr/>
        </p:nvSpPr>
        <p:spPr>
          <a:xfrm>
            <a:off x="9927777" y="3809999"/>
            <a:ext cx="1284509" cy="260168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0987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55EED-760C-5CCD-7F3D-C32A6A1E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918788D-17EB-9555-45AF-CA595AE1C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ABFF878-0E70-4819-8C88-3CA0D87E1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E88BD225-D328-AA16-AE5B-81EAF556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724AC7-C723-D087-E700-DE58B6B5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3736BF-1048-98C6-AC41-B83969302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943DBC-D4B1-07A3-0F88-482EF0C97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s-ES" sz="1600" dirty="0"/>
              <a:t>Las tablas en 1FN y clave principal de un campo, ya están en 2FN.</a:t>
            </a:r>
          </a:p>
          <a:p>
            <a:r>
              <a:rPr lang="es-ES" sz="1600" dirty="0"/>
              <a:t>Si la clave principal tiene más de un campo, buscamos en el resto de los campos si dependen de la clave concreta o solo de uno de los campos.</a:t>
            </a: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CF70E4C4-3A53-A0F7-9FB4-8C2A427F1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091" b="84575"/>
          <a:stretch>
            <a:fillRect/>
          </a:stretch>
        </p:blipFill>
        <p:spPr>
          <a:xfrm>
            <a:off x="4455671" y="538269"/>
            <a:ext cx="7365235" cy="88827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2138523-5E59-CF44-A3B2-71CF1589F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414574"/>
              </p:ext>
            </p:extLst>
          </p:nvPr>
        </p:nvGraphicFramePr>
        <p:xfrm>
          <a:off x="4817622" y="1780794"/>
          <a:ext cx="6290260" cy="1762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988">
                  <a:extLst>
                    <a:ext uri="{9D8B030D-6E8A-4147-A177-3AD203B41FA5}">
                      <a16:colId xmlns:a16="http://schemas.microsoft.com/office/drawing/2014/main" val="2632368281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3623627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720714064"/>
                    </a:ext>
                  </a:extLst>
                </a:gridCol>
                <a:gridCol w="1490308">
                  <a:extLst>
                    <a:ext uri="{9D8B030D-6E8A-4147-A177-3AD203B41FA5}">
                      <a16:colId xmlns:a16="http://schemas.microsoft.com/office/drawing/2014/main" val="2600986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532243091"/>
                    </a:ext>
                  </a:extLst>
                </a:gridCol>
              </a:tblGrid>
              <a:tr h="4406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85520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Martín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868334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25/02/2011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107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Herman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165396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Pedro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Maracay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0945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13EC44B-841E-E34F-DC9D-E033C54CC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070291"/>
              </p:ext>
            </p:extLst>
          </p:nvPr>
        </p:nvGraphicFramePr>
        <p:xfrm>
          <a:off x="4826766" y="3897550"/>
          <a:ext cx="6281117" cy="2398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8244">
                  <a:extLst>
                    <a:ext uri="{9D8B030D-6E8A-4147-A177-3AD203B41FA5}">
                      <a16:colId xmlns:a16="http://schemas.microsoft.com/office/drawing/2014/main" val="1902094914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46414445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427166548"/>
                    </a:ext>
                  </a:extLst>
                </a:gridCol>
                <a:gridCol w="1488141">
                  <a:extLst>
                    <a:ext uri="{9D8B030D-6E8A-4147-A177-3AD203B41FA5}">
                      <a16:colId xmlns:a16="http://schemas.microsoft.com/office/drawing/2014/main" val="508670700"/>
                    </a:ext>
                  </a:extLst>
                </a:gridCol>
                <a:gridCol w="1198244">
                  <a:extLst>
                    <a:ext uri="{9D8B030D-6E8A-4147-A177-3AD203B41FA5}">
                      <a16:colId xmlns:a16="http://schemas.microsoft.com/office/drawing/2014/main" val="386833431"/>
                    </a:ext>
                  </a:extLst>
                </a:gridCol>
              </a:tblGrid>
              <a:tr h="3426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Cantidad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799947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3786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Red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84709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13493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8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4,75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97429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Paquete 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356598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Raqueta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23486"/>
                  </a:ext>
                </a:extLst>
              </a:tr>
              <a:tr h="34263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831280"/>
                  </a:ext>
                </a:extLst>
              </a:tr>
            </a:tbl>
          </a:graphicData>
        </a:graphic>
      </p:graphicFrame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58EFA042-7BA4-E549-D4ED-A4312B59FEC1}"/>
              </a:ext>
            </a:extLst>
          </p:cNvPr>
          <p:cNvSpPr/>
          <p:nvPr/>
        </p:nvSpPr>
        <p:spPr>
          <a:xfrm>
            <a:off x="3345092" y="4796237"/>
            <a:ext cx="1101437" cy="1499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D662FA1-D430-411B-60F5-2433AC3F96EE}"/>
              </a:ext>
            </a:extLst>
          </p:cNvPr>
          <p:cNvSpPr/>
          <p:nvPr/>
        </p:nvSpPr>
        <p:spPr>
          <a:xfrm>
            <a:off x="557368" y="2614677"/>
            <a:ext cx="3251870" cy="66148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648D8B8-902D-8DF5-E3EB-2FA8DD52ED9F}"/>
              </a:ext>
            </a:extLst>
          </p:cNvPr>
          <p:cNvSpPr/>
          <p:nvPr/>
        </p:nvSpPr>
        <p:spPr>
          <a:xfrm>
            <a:off x="548225" y="3276166"/>
            <a:ext cx="3261013" cy="126378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2354D3C-5F07-5C13-0CF2-BEBD6577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391886"/>
            <a:ext cx="3852563" cy="2008414"/>
          </a:xfrm>
        </p:spPr>
        <p:txBody>
          <a:bodyPr anchor="ctr">
            <a:normAutofit/>
          </a:bodyPr>
          <a:lstStyle/>
          <a:p>
            <a:r>
              <a:rPr lang="es-ES" sz="2000" dirty="0"/>
              <a:t>2FN: Una relación está en 2FN si está en 1FN y todos los atributos no clave dependen funcionalmente de la </a:t>
            </a:r>
            <a:r>
              <a:rPr lang="es-ES" sz="2000" b="1" dirty="0"/>
              <a:t>clave completa</a:t>
            </a:r>
            <a:r>
              <a:rPr lang="es-E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5233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761B8-875B-04D4-8322-CC47EAB0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CDBA1-5A76-EA9C-2406-9F11CA5C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795662" cy="3207258"/>
          </a:xfrm>
        </p:spPr>
        <p:txBody>
          <a:bodyPr anchor="t">
            <a:normAutofit/>
          </a:bodyPr>
          <a:lstStyle/>
          <a:p>
            <a:r>
              <a:rPr lang="es-ES" sz="1800" dirty="0"/>
              <a:t>Tablas en 2FN:</a:t>
            </a:r>
          </a:p>
        </p:txBody>
      </p:sp>
      <p:pic>
        <p:nvPicPr>
          <p:cNvPr id="6" name="Imagen 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9C438BBD-00A1-E747-1C8B-792994DEE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20"/>
          <a:stretch>
            <a:fillRect/>
          </a:stretch>
        </p:blipFill>
        <p:spPr>
          <a:xfrm>
            <a:off x="319532" y="3406013"/>
            <a:ext cx="6003964" cy="1831340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C936F18-923A-91C2-020B-914FF8395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246838"/>
              </p:ext>
            </p:extLst>
          </p:nvPr>
        </p:nvGraphicFramePr>
        <p:xfrm>
          <a:off x="5530646" y="105026"/>
          <a:ext cx="6290260" cy="1762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988">
                  <a:extLst>
                    <a:ext uri="{9D8B030D-6E8A-4147-A177-3AD203B41FA5}">
                      <a16:colId xmlns:a16="http://schemas.microsoft.com/office/drawing/2014/main" val="2632368281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3623627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720714064"/>
                    </a:ext>
                  </a:extLst>
                </a:gridCol>
                <a:gridCol w="1490308">
                  <a:extLst>
                    <a:ext uri="{9D8B030D-6E8A-4147-A177-3AD203B41FA5}">
                      <a16:colId xmlns:a16="http://schemas.microsoft.com/office/drawing/2014/main" val="2600986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532243091"/>
                    </a:ext>
                  </a:extLst>
                </a:gridCol>
              </a:tblGrid>
              <a:tr h="4406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85520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Martín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868334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25/02/2011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107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Herman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165396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Pedro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Maracay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09454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60C0AA91-250C-CAC2-5D5E-3773A3BC0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194380"/>
              </p:ext>
            </p:extLst>
          </p:nvPr>
        </p:nvGraphicFramePr>
        <p:xfrm>
          <a:off x="8160765" y="1972560"/>
          <a:ext cx="3660141" cy="2186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0047">
                  <a:extLst>
                    <a:ext uri="{9D8B030D-6E8A-4147-A177-3AD203B41FA5}">
                      <a16:colId xmlns:a16="http://schemas.microsoft.com/office/drawing/2014/main" val="2648084753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1227919391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583753147"/>
                    </a:ext>
                  </a:extLst>
                </a:gridCol>
              </a:tblGrid>
              <a:tr h="2517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 err="1">
                          <a:effectLst/>
                        </a:rPr>
                        <a:t>Id_orden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 err="1">
                          <a:effectLst/>
                        </a:rPr>
                        <a:t>Num_art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>
                          <a:effectLst/>
                        </a:rPr>
                        <a:t>Cantidad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982121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2301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3786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3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75620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4011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6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377357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9132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8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269481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2302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5794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4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630489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2303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4011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460288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2303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3141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784621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0FF20D53-742D-DEA0-EE9E-8C392353F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268351"/>
              </p:ext>
            </p:extLst>
          </p:nvPr>
        </p:nvGraphicFramePr>
        <p:xfrm>
          <a:off x="7405623" y="4321683"/>
          <a:ext cx="4415283" cy="20608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1761">
                  <a:extLst>
                    <a:ext uri="{9D8B030D-6E8A-4147-A177-3AD203B41FA5}">
                      <a16:colId xmlns:a16="http://schemas.microsoft.com/office/drawing/2014/main" val="1833956076"/>
                    </a:ext>
                  </a:extLst>
                </a:gridCol>
                <a:gridCol w="1471761">
                  <a:extLst>
                    <a:ext uri="{9D8B030D-6E8A-4147-A177-3AD203B41FA5}">
                      <a16:colId xmlns:a16="http://schemas.microsoft.com/office/drawing/2014/main" val="2982598239"/>
                    </a:ext>
                  </a:extLst>
                </a:gridCol>
                <a:gridCol w="1471761">
                  <a:extLst>
                    <a:ext uri="{9D8B030D-6E8A-4147-A177-3AD203B41FA5}">
                      <a16:colId xmlns:a16="http://schemas.microsoft.com/office/drawing/2014/main" val="3645659637"/>
                    </a:ext>
                  </a:extLst>
                </a:gridCol>
              </a:tblGrid>
              <a:tr h="3434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705042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3786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Red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790520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Raqueta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085305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4,75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123549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192262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422136"/>
                  </a:ext>
                </a:extLst>
              </a:tr>
            </a:tbl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58152F69-C968-3592-4209-846D5E33EA90}"/>
              </a:ext>
            </a:extLst>
          </p:cNvPr>
          <p:cNvSpPr txBox="1"/>
          <p:nvPr/>
        </p:nvSpPr>
        <p:spPr>
          <a:xfrm>
            <a:off x="735399" y="546923"/>
            <a:ext cx="1533526" cy="1533526"/>
          </a:xfrm>
          <a:custGeom>
            <a:avLst/>
            <a:gdLst/>
            <a:ahLst/>
            <a:cxnLst/>
            <a:rect l="l" t="t" r="r" b="b"/>
            <a:pathLst>
              <a:path w="1533526" h="1533526">
                <a:moveTo>
                  <a:pt x="375711" y="577706"/>
                </a:moveTo>
                <a:cubicBezTo>
                  <a:pt x="349734" y="577706"/>
                  <a:pt x="327599" y="582691"/>
                  <a:pt x="309306" y="592660"/>
                </a:cubicBezTo>
                <a:cubicBezTo>
                  <a:pt x="291012" y="602630"/>
                  <a:pt x="277109" y="617037"/>
                  <a:pt x="267597" y="635879"/>
                </a:cubicBezTo>
                <a:cubicBezTo>
                  <a:pt x="258084" y="654721"/>
                  <a:pt x="253328" y="677313"/>
                  <a:pt x="253328" y="703656"/>
                </a:cubicBezTo>
                <a:lnTo>
                  <a:pt x="323026" y="703656"/>
                </a:lnTo>
                <a:cubicBezTo>
                  <a:pt x="323026" y="685363"/>
                  <a:pt x="327096" y="670453"/>
                  <a:pt x="335237" y="658929"/>
                </a:cubicBezTo>
                <a:cubicBezTo>
                  <a:pt x="343377" y="647404"/>
                  <a:pt x="356869" y="641641"/>
                  <a:pt x="375711" y="641641"/>
                </a:cubicBezTo>
                <a:cubicBezTo>
                  <a:pt x="392358" y="641641"/>
                  <a:pt x="404066" y="646398"/>
                  <a:pt x="410835" y="655910"/>
                </a:cubicBezTo>
                <a:cubicBezTo>
                  <a:pt x="417603" y="665423"/>
                  <a:pt x="420987" y="677313"/>
                  <a:pt x="420987" y="691582"/>
                </a:cubicBezTo>
                <a:cubicBezTo>
                  <a:pt x="420987" y="705302"/>
                  <a:pt x="417283" y="718657"/>
                  <a:pt x="409874" y="731645"/>
                </a:cubicBezTo>
                <a:cubicBezTo>
                  <a:pt x="402465" y="744633"/>
                  <a:pt x="391169" y="758079"/>
                  <a:pt x="375985" y="771982"/>
                </a:cubicBezTo>
                <a:lnTo>
                  <a:pt x="244547" y="891621"/>
                </a:lnTo>
                <a:lnTo>
                  <a:pt x="244547" y="942111"/>
                </a:lnTo>
                <a:lnTo>
                  <a:pt x="504954" y="942111"/>
                </a:lnTo>
                <a:lnTo>
                  <a:pt x="504954" y="880371"/>
                </a:lnTo>
                <a:lnTo>
                  <a:pt x="346350" y="880371"/>
                </a:lnTo>
                <a:lnTo>
                  <a:pt x="417420" y="817533"/>
                </a:lnTo>
                <a:cubicBezTo>
                  <a:pt x="432055" y="804544"/>
                  <a:pt x="445272" y="791693"/>
                  <a:pt x="457071" y="778979"/>
                </a:cubicBezTo>
                <a:cubicBezTo>
                  <a:pt x="468870" y="766265"/>
                  <a:pt x="478200" y="752454"/>
                  <a:pt x="485060" y="737545"/>
                </a:cubicBezTo>
                <a:cubicBezTo>
                  <a:pt x="491920" y="722635"/>
                  <a:pt x="495350" y="705577"/>
                  <a:pt x="495350" y="686369"/>
                </a:cubicBezTo>
                <a:cubicBezTo>
                  <a:pt x="495350" y="663319"/>
                  <a:pt x="490411" y="643745"/>
                  <a:pt x="480533" y="627647"/>
                </a:cubicBezTo>
                <a:cubicBezTo>
                  <a:pt x="470654" y="611548"/>
                  <a:pt x="456751" y="599200"/>
                  <a:pt x="438824" y="590602"/>
                </a:cubicBezTo>
                <a:cubicBezTo>
                  <a:pt x="420896" y="582005"/>
                  <a:pt x="399858" y="577706"/>
                  <a:pt x="375711" y="577706"/>
                </a:cubicBezTo>
                <a:close/>
                <a:moveTo>
                  <a:pt x="878569" y="572766"/>
                </a:moveTo>
                <a:lnTo>
                  <a:pt x="878569" y="942111"/>
                </a:lnTo>
                <a:lnTo>
                  <a:pt x="950736" y="942111"/>
                </a:lnTo>
                <a:lnTo>
                  <a:pt x="950736" y="691582"/>
                </a:lnTo>
                <a:lnTo>
                  <a:pt x="1120866" y="942111"/>
                </a:lnTo>
                <a:lnTo>
                  <a:pt x="1196600" y="942111"/>
                </a:lnTo>
                <a:lnTo>
                  <a:pt x="1196600" y="572766"/>
                </a:lnTo>
                <a:lnTo>
                  <a:pt x="1123884" y="572766"/>
                </a:lnTo>
                <a:lnTo>
                  <a:pt x="1123884" y="821649"/>
                </a:lnTo>
                <a:lnTo>
                  <a:pt x="954029" y="572766"/>
                </a:lnTo>
                <a:close/>
                <a:moveTo>
                  <a:pt x="573769" y="572766"/>
                </a:moveTo>
                <a:lnTo>
                  <a:pt x="573769" y="942111"/>
                </a:lnTo>
                <a:lnTo>
                  <a:pt x="650876" y="942111"/>
                </a:lnTo>
                <a:lnTo>
                  <a:pt x="650876" y="784330"/>
                </a:lnTo>
                <a:lnTo>
                  <a:pt x="798229" y="784330"/>
                </a:lnTo>
                <a:lnTo>
                  <a:pt x="798229" y="723139"/>
                </a:lnTo>
                <a:lnTo>
                  <a:pt x="650876" y="723139"/>
                </a:lnTo>
                <a:lnTo>
                  <a:pt x="650876" y="636702"/>
                </a:lnTo>
                <a:lnTo>
                  <a:pt x="815242" y="636702"/>
                </a:lnTo>
                <a:lnTo>
                  <a:pt x="815242" y="572766"/>
                </a:lnTo>
                <a:close/>
                <a:moveTo>
                  <a:pt x="766763" y="0"/>
                </a:moveTo>
                <a:cubicBezTo>
                  <a:pt x="1190235" y="0"/>
                  <a:pt x="1533526" y="343291"/>
                  <a:pt x="1533526" y="766763"/>
                </a:cubicBezTo>
                <a:cubicBezTo>
                  <a:pt x="1533526" y="1190235"/>
                  <a:pt x="1190235" y="1533526"/>
                  <a:pt x="766763" y="1533526"/>
                </a:cubicBezTo>
                <a:cubicBezTo>
                  <a:pt x="343291" y="1533526"/>
                  <a:pt x="0" y="1190235"/>
                  <a:pt x="0" y="766763"/>
                </a:cubicBezTo>
                <a:cubicBezTo>
                  <a:pt x="0" y="343291"/>
                  <a:pt x="343291" y="0"/>
                  <a:pt x="76676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s-ES" sz="2000" b="1" dirty="0"/>
          </a:p>
        </p:txBody>
      </p:sp>
    </p:spTree>
    <p:extLst>
      <p:ext uri="{BB962C8B-B14F-4D97-AF65-F5344CB8AC3E}">
        <p14:creationId xmlns:p14="http://schemas.microsoft.com/office/powerpoint/2010/main" val="351186745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1EC3F-87C3-ED2F-8AF7-F153D86F5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7D486D-FAE7-65BD-848E-4E16FB331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E2479A4-0245-DDC4-EA38-75D814E03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B4BC037-6E4A-E19F-B2B0-40B484B30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E6B52D-E0D3-88F5-70FA-5A94B3A8F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239776"/>
            <a:ext cx="4886706" cy="2160524"/>
          </a:xfrm>
        </p:spPr>
        <p:txBody>
          <a:bodyPr anchor="ctr">
            <a:normAutofit/>
          </a:bodyPr>
          <a:lstStyle/>
          <a:p>
            <a:r>
              <a:rPr lang="es-ES" sz="2000" dirty="0"/>
              <a:t>Una relación está en 3FN si y solo si está en 2FN y no existen </a:t>
            </a:r>
            <a:r>
              <a:rPr lang="es-ES" sz="2000" b="1" dirty="0"/>
              <a:t>dependencias transitivas</a:t>
            </a:r>
            <a:r>
              <a:rPr lang="es-ES" sz="2000" dirty="0"/>
              <a:t>.</a:t>
            </a:r>
            <a:br>
              <a:rPr lang="es-ES" sz="2000" dirty="0"/>
            </a:br>
            <a:br>
              <a:rPr lang="es-ES" sz="2000" dirty="0"/>
            </a:br>
            <a:r>
              <a:rPr lang="es-ES" sz="2000" dirty="0"/>
              <a:t>Todas las dependencias funcionales deben ser respecto a la clave principal.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34936F-F52B-6BB7-F0F6-4677E1E76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FB11FA-B070-4F3B-777D-EA5E66A35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710BD8-0BC5-3BEA-0203-B0EB4ED34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5013706" cy="3207258"/>
          </a:xfrm>
        </p:spPr>
        <p:txBody>
          <a:bodyPr anchor="t">
            <a:normAutofit/>
          </a:bodyPr>
          <a:lstStyle/>
          <a:p>
            <a:r>
              <a:rPr lang="es-ES" sz="1800" dirty="0"/>
              <a:t>Determinar columnas dependientes de atributos que no son clave.</a:t>
            </a:r>
          </a:p>
          <a:p>
            <a:r>
              <a:rPr lang="es-ES" sz="1800" dirty="0"/>
              <a:t>Eliminar esas columnas de la tabla base.</a:t>
            </a:r>
          </a:p>
          <a:p>
            <a:r>
              <a:rPr lang="es-ES" sz="1800" dirty="0"/>
              <a:t>Crear una nueva tabla con esas columnas y la columna no clave de la cual dependen.</a:t>
            </a:r>
          </a:p>
        </p:txBody>
      </p:sp>
      <p:pic>
        <p:nvPicPr>
          <p:cNvPr id="6" name="Imagen 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D6386F05-6916-B7F1-D1C3-FB968FA59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20"/>
          <a:stretch>
            <a:fillRect/>
          </a:stretch>
        </p:blipFill>
        <p:spPr>
          <a:xfrm>
            <a:off x="304255" y="4786884"/>
            <a:ext cx="6003964" cy="1831340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E95F3D5-350E-4BC5-9477-BB46EF9B2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592105"/>
              </p:ext>
            </p:extLst>
          </p:nvPr>
        </p:nvGraphicFramePr>
        <p:xfrm>
          <a:off x="5530646" y="105026"/>
          <a:ext cx="6290260" cy="1762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988">
                  <a:extLst>
                    <a:ext uri="{9D8B030D-6E8A-4147-A177-3AD203B41FA5}">
                      <a16:colId xmlns:a16="http://schemas.microsoft.com/office/drawing/2014/main" val="2632368281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3623627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720714064"/>
                    </a:ext>
                  </a:extLst>
                </a:gridCol>
                <a:gridCol w="1490308">
                  <a:extLst>
                    <a:ext uri="{9D8B030D-6E8A-4147-A177-3AD203B41FA5}">
                      <a16:colId xmlns:a16="http://schemas.microsoft.com/office/drawing/2014/main" val="2600986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532243091"/>
                    </a:ext>
                  </a:extLst>
                </a:gridCol>
              </a:tblGrid>
              <a:tr h="4406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85520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Martín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868334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25/02/2011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107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Herman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165396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Pedro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Maracay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09454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CBE9792C-A24E-466D-EF42-06EADF252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677885"/>
              </p:ext>
            </p:extLst>
          </p:nvPr>
        </p:nvGraphicFramePr>
        <p:xfrm>
          <a:off x="8160765" y="1972560"/>
          <a:ext cx="3660141" cy="2186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0047">
                  <a:extLst>
                    <a:ext uri="{9D8B030D-6E8A-4147-A177-3AD203B41FA5}">
                      <a16:colId xmlns:a16="http://schemas.microsoft.com/office/drawing/2014/main" val="2648084753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1227919391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583753147"/>
                    </a:ext>
                  </a:extLst>
                </a:gridCol>
              </a:tblGrid>
              <a:tr h="2517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 err="1">
                          <a:effectLst/>
                        </a:rPr>
                        <a:t>Id_orden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 err="1">
                          <a:effectLst/>
                        </a:rPr>
                        <a:t>Num_art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>
                          <a:effectLst/>
                        </a:rPr>
                        <a:t>Cantidad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982121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2301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3786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3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75620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4011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6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377357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9132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8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269481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2302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5794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4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630489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2303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4011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460288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2303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3141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784621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2567F2C-5D30-BD72-5199-76F2A089A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617838"/>
              </p:ext>
            </p:extLst>
          </p:nvPr>
        </p:nvGraphicFramePr>
        <p:xfrm>
          <a:off x="7405623" y="4321683"/>
          <a:ext cx="4415283" cy="20608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1761">
                  <a:extLst>
                    <a:ext uri="{9D8B030D-6E8A-4147-A177-3AD203B41FA5}">
                      <a16:colId xmlns:a16="http://schemas.microsoft.com/office/drawing/2014/main" val="1833956076"/>
                    </a:ext>
                  </a:extLst>
                </a:gridCol>
                <a:gridCol w="1471761">
                  <a:extLst>
                    <a:ext uri="{9D8B030D-6E8A-4147-A177-3AD203B41FA5}">
                      <a16:colId xmlns:a16="http://schemas.microsoft.com/office/drawing/2014/main" val="2982598239"/>
                    </a:ext>
                  </a:extLst>
                </a:gridCol>
                <a:gridCol w="1471761">
                  <a:extLst>
                    <a:ext uri="{9D8B030D-6E8A-4147-A177-3AD203B41FA5}">
                      <a16:colId xmlns:a16="http://schemas.microsoft.com/office/drawing/2014/main" val="3645659637"/>
                    </a:ext>
                  </a:extLst>
                </a:gridCol>
              </a:tblGrid>
              <a:tr h="3434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705042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3786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Red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790520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Raqueta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085305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4,75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123549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192262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422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006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D480B-7354-FD89-888B-C32B1D89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F1AC1D-1EF7-4A78-9D79-6B0D0F850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023882F-6CEC-BDB9-5EED-860C5732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1D6A55BD-32CA-BB31-3F39-57C73D9E3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FA5441-221F-0B50-7EE2-8772A348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239776"/>
            <a:ext cx="3438144" cy="2160524"/>
          </a:xfrm>
        </p:spPr>
        <p:txBody>
          <a:bodyPr anchor="ctr">
            <a:normAutofit/>
          </a:bodyPr>
          <a:lstStyle/>
          <a:p>
            <a:r>
              <a:rPr lang="es-ES" sz="1800" dirty="0"/>
              <a:t>Una relación está en 3FN si y solo si está en 2FN y no existen </a:t>
            </a:r>
            <a:r>
              <a:rPr lang="es-ES" sz="1800" b="1" dirty="0"/>
              <a:t>dependencias transitivas</a:t>
            </a:r>
            <a:r>
              <a:rPr lang="es-ES" sz="1800" dirty="0"/>
              <a:t>.</a:t>
            </a:r>
            <a:br>
              <a:rPr lang="es-ES" sz="1800" dirty="0"/>
            </a:br>
            <a:r>
              <a:rPr lang="es-ES" sz="1800" dirty="0"/>
              <a:t>Todas las dependencias funcionales deben ser respecto a la clave principal.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6741CC-9AFB-F0A6-9353-A6C9D9D66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622131-D711-794F-33B0-41F1190C0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EFDEBF-77C5-F8A4-91DF-C4B9A0D7C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5013706" cy="3207258"/>
          </a:xfrm>
        </p:spPr>
        <p:txBody>
          <a:bodyPr anchor="t">
            <a:normAutofit/>
          </a:bodyPr>
          <a:lstStyle/>
          <a:p>
            <a:r>
              <a:rPr lang="es-ES" sz="1800" dirty="0"/>
              <a:t>Tabla </a:t>
            </a:r>
            <a:r>
              <a:rPr lang="es-ES" sz="1800" b="1" dirty="0"/>
              <a:t>Ordenes</a:t>
            </a:r>
            <a:r>
              <a:rPr lang="es-ES" sz="1800" dirty="0"/>
              <a:t> → </a:t>
            </a:r>
            <a:r>
              <a:rPr lang="es-ES" sz="1800" b="1" dirty="0"/>
              <a:t>no está</a:t>
            </a:r>
            <a:r>
              <a:rPr lang="es-ES" sz="1800" dirty="0"/>
              <a:t> en 3FN, porque </a:t>
            </a:r>
            <a:r>
              <a:rPr lang="es-ES" sz="1800" dirty="0" err="1"/>
              <a:t>nom_cliente</a:t>
            </a:r>
            <a:r>
              <a:rPr lang="es-ES" sz="1800" dirty="0"/>
              <a:t> y estado dependen de </a:t>
            </a:r>
            <a:r>
              <a:rPr lang="es-ES" sz="1800" dirty="0" err="1"/>
              <a:t>Id_cliente</a:t>
            </a:r>
            <a:r>
              <a:rPr lang="es-ES" sz="1800" dirty="0"/>
              <a:t>, que no es clave primaria.</a:t>
            </a:r>
          </a:p>
          <a:p>
            <a:r>
              <a:rPr lang="es-ES" sz="1800" dirty="0"/>
              <a:t>Tabla </a:t>
            </a:r>
            <a:r>
              <a:rPr lang="es-ES" sz="1800" b="1" dirty="0" err="1"/>
              <a:t>Articulos</a:t>
            </a:r>
            <a:r>
              <a:rPr lang="es-ES" sz="1800" dirty="0"/>
              <a:t> → ya está en 3FN.</a:t>
            </a:r>
          </a:p>
          <a:p>
            <a:r>
              <a:rPr lang="es-ES" sz="1800" dirty="0"/>
              <a:t>Tabla </a:t>
            </a:r>
            <a:r>
              <a:rPr lang="es-ES" sz="1800" b="1" dirty="0" err="1"/>
              <a:t>Articulos_Ordenes</a:t>
            </a:r>
            <a:r>
              <a:rPr lang="es-ES" sz="1800" dirty="0"/>
              <a:t> → ya está en 3FN.</a:t>
            </a:r>
          </a:p>
        </p:txBody>
      </p:sp>
      <p:pic>
        <p:nvPicPr>
          <p:cNvPr id="6" name="Imagen 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8F41BA00-26B0-D067-9E3E-622B2F913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20"/>
          <a:stretch>
            <a:fillRect/>
          </a:stretch>
        </p:blipFill>
        <p:spPr>
          <a:xfrm>
            <a:off x="128016" y="4411726"/>
            <a:ext cx="6003964" cy="1831340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065DE85-94DF-5B14-95B3-34CF5B7AB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931198"/>
              </p:ext>
            </p:extLst>
          </p:nvPr>
        </p:nvGraphicFramePr>
        <p:xfrm>
          <a:off x="5530646" y="105026"/>
          <a:ext cx="6290260" cy="1762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9988">
                  <a:extLst>
                    <a:ext uri="{9D8B030D-6E8A-4147-A177-3AD203B41FA5}">
                      <a16:colId xmlns:a16="http://schemas.microsoft.com/office/drawing/2014/main" val="2632368281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3623627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720714064"/>
                    </a:ext>
                  </a:extLst>
                </a:gridCol>
                <a:gridCol w="1490308">
                  <a:extLst>
                    <a:ext uri="{9D8B030D-6E8A-4147-A177-3AD203B41FA5}">
                      <a16:colId xmlns:a16="http://schemas.microsoft.com/office/drawing/2014/main" val="2600986240"/>
                    </a:ext>
                  </a:extLst>
                </a:gridCol>
                <a:gridCol w="1199988">
                  <a:extLst>
                    <a:ext uri="{9D8B030D-6E8A-4147-A177-3AD203B41FA5}">
                      <a16:colId xmlns:a16="http://schemas.microsoft.com/office/drawing/2014/main" val="1532243091"/>
                    </a:ext>
                  </a:extLst>
                </a:gridCol>
              </a:tblGrid>
              <a:tr h="4406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85520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Martín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868334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25/02/2011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107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Herman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Coro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165396"/>
                  </a:ext>
                </a:extLst>
              </a:tr>
              <a:tr h="4406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Pedro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Maracay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09454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CC594078-FEF1-981D-85E4-38A08699D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334049"/>
              </p:ext>
            </p:extLst>
          </p:nvPr>
        </p:nvGraphicFramePr>
        <p:xfrm>
          <a:off x="8160765" y="2001138"/>
          <a:ext cx="3660141" cy="2186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0047">
                  <a:extLst>
                    <a:ext uri="{9D8B030D-6E8A-4147-A177-3AD203B41FA5}">
                      <a16:colId xmlns:a16="http://schemas.microsoft.com/office/drawing/2014/main" val="2648084753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1227919391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583753147"/>
                    </a:ext>
                  </a:extLst>
                </a:gridCol>
              </a:tblGrid>
              <a:tr h="2517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 err="1">
                          <a:effectLst/>
                        </a:rPr>
                        <a:t>Id_orden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 err="1">
                          <a:effectLst/>
                        </a:rPr>
                        <a:t>Num_art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>
                          <a:effectLst/>
                        </a:rPr>
                        <a:t>Cantidad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982121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2301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3786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3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75620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4011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6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377357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9132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8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269481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2302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5794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4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630489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2303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4011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460288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2303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3141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784621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4DA5189-6D20-0452-D4D8-DA0EBE8EB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245492"/>
              </p:ext>
            </p:extLst>
          </p:nvPr>
        </p:nvGraphicFramePr>
        <p:xfrm>
          <a:off x="7405623" y="4310797"/>
          <a:ext cx="4415283" cy="20608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1761">
                  <a:extLst>
                    <a:ext uri="{9D8B030D-6E8A-4147-A177-3AD203B41FA5}">
                      <a16:colId xmlns:a16="http://schemas.microsoft.com/office/drawing/2014/main" val="1833956076"/>
                    </a:ext>
                  </a:extLst>
                </a:gridCol>
                <a:gridCol w="1471761">
                  <a:extLst>
                    <a:ext uri="{9D8B030D-6E8A-4147-A177-3AD203B41FA5}">
                      <a16:colId xmlns:a16="http://schemas.microsoft.com/office/drawing/2014/main" val="2982598239"/>
                    </a:ext>
                  </a:extLst>
                </a:gridCol>
                <a:gridCol w="1471761">
                  <a:extLst>
                    <a:ext uri="{9D8B030D-6E8A-4147-A177-3AD203B41FA5}">
                      <a16:colId xmlns:a16="http://schemas.microsoft.com/office/drawing/2014/main" val="3645659637"/>
                    </a:ext>
                  </a:extLst>
                </a:gridCol>
              </a:tblGrid>
              <a:tr h="3434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705042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3786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Red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790520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Raqueta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085305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4,75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123549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192262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422136"/>
                  </a:ext>
                </a:extLst>
              </a:tr>
            </a:tbl>
          </a:graphicData>
        </a:graphic>
      </p:graphicFrame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B4CF1482-F933-DD5B-CC74-22D0E3EB1869}"/>
              </a:ext>
            </a:extLst>
          </p:cNvPr>
          <p:cNvSpPr/>
          <p:nvPr/>
        </p:nvSpPr>
        <p:spPr>
          <a:xfrm>
            <a:off x="5116646" y="5050754"/>
            <a:ext cx="1101437" cy="1499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D70C990-F87F-5C4A-3C60-234C72D9532E}"/>
              </a:ext>
            </a:extLst>
          </p:cNvPr>
          <p:cNvSpPr/>
          <p:nvPr/>
        </p:nvSpPr>
        <p:spPr>
          <a:xfrm>
            <a:off x="548225" y="2614195"/>
            <a:ext cx="4836575" cy="9227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6EF7A81-4397-2CDA-241E-153DA47093F1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384800" y="1867534"/>
            <a:ext cx="2659743" cy="120805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59AD401-3FEC-F63B-DAC7-265406730B4B}"/>
              </a:ext>
            </a:extLst>
          </p:cNvPr>
          <p:cNvSpPr/>
          <p:nvPr/>
        </p:nvSpPr>
        <p:spPr>
          <a:xfrm>
            <a:off x="7903028" y="0"/>
            <a:ext cx="3917877" cy="200113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4092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76EBC2-42F6-E2D4-032C-D625D77A9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RESULTADO FINAL: 3FN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D52FEE2-E64A-753C-8A6B-72193D09C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36" y="4953843"/>
            <a:ext cx="5934434" cy="1903171"/>
          </a:xfrm>
          <a:prstGeom prst="rect">
            <a:avLst/>
          </a:prstGeom>
        </p:spPr>
      </p:pic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56FE90CA-ED6F-DFEA-F84E-4AF104617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7270455"/>
              </p:ext>
            </p:extLst>
          </p:nvPr>
        </p:nvGraphicFramePr>
        <p:xfrm>
          <a:off x="840236" y="1828800"/>
          <a:ext cx="3660141" cy="1257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0047">
                  <a:extLst>
                    <a:ext uri="{9D8B030D-6E8A-4147-A177-3AD203B41FA5}">
                      <a16:colId xmlns:a16="http://schemas.microsoft.com/office/drawing/2014/main" val="1900011022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763807015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1602128184"/>
                    </a:ext>
                  </a:extLst>
                </a:gridCol>
              </a:tblGrid>
              <a:tr h="3143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Id_orden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Fecha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33790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2301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163218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25/02/2011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107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2100720"/>
                  </a:ext>
                </a:extLst>
              </a:tr>
              <a:tr h="3143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2303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27/02/2011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363558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2BD65EE-06FA-F7AC-8804-0D68BD4B0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392198"/>
              </p:ext>
            </p:extLst>
          </p:nvPr>
        </p:nvGraphicFramePr>
        <p:xfrm>
          <a:off x="8160765" y="1972560"/>
          <a:ext cx="3660141" cy="2186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0047">
                  <a:extLst>
                    <a:ext uri="{9D8B030D-6E8A-4147-A177-3AD203B41FA5}">
                      <a16:colId xmlns:a16="http://schemas.microsoft.com/office/drawing/2014/main" val="2648084753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1227919391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583753147"/>
                    </a:ext>
                  </a:extLst>
                </a:gridCol>
              </a:tblGrid>
              <a:tr h="2517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 err="1">
                          <a:effectLst/>
                        </a:rPr>
                        <a:t>Id_orden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 err="1">
                          <a:effectLst/>
                        </a:rPr>
                        <a:t>Num_art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2000" b="1" u="none" strike="noStrike" dirty="0">
                          <a:effectLst/>
                        </a:rPr>
                        <a:t>Cantidad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982121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2301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3786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3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75620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4011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6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377357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9132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8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269481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2302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5794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4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630489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2303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>
                          <a:effectLst/>
                        </a:rPr>
                        <a:t>4011</a:t>
                      </a:r>
                      <a:endParaRPr lang="es-E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460288"/>
                  </a:ext>
                </a:extLst>
              </a:tr>
              <a:tr h="2517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2303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3141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2000" u="none" strike="noStrike" dirty="0">
                          <a:effectLst/>
                        </a:rPr>
                        <a:t>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784621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7F0E031-61F0-11C3-7209-178E1506C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899523"/>
              </p:ext>
            </p:extLst>
          </p:nvPr>
        </p:nvGraphicFramePr>
        <p:xfrm>
          <a:off x="7405623" y="4321683"/>
          <a:ext cx="4415283" cy="20608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1761">
                  <a:extLst>
                    <a:ext uri="{9D8B030D-6E8A-4147-A177-3AD203B41FA5}">
                      <a16:colId xmlns:a16="http://schemas.microsoft.com/office/drawing/2014/main" val="1833956076"/>
                    </a:ext>
                  </a:extLst>
                </a:gridCol>
                <a:gridCol w="1471761">
                  <a:extLst>
                    <a:ext uri="{9D8B030D-6E8A-4147-A177-3AD203B41FA5}">
                      <a16:colId xmlns:a16="http://schemas.microsoft.com/office/drawing/2014/main" val="2982598239"/>
                    </a:ext>
                  </a:extLst>
                </a:gridCol>
                <a:gridCol w="1471761">
                  <a:extLst>
                    <a:ext uri="{9D8B030D-6E8A-4147-A177-3AD203B41FA5}">
                      <a16:colId xmlns:a16="http://schemas.microsoft.com/office/drawing/2014/main" val="3645659637"/>
                    </a:ext>
                  </a:extLst>
                </a:gridCol>
              </a:tblGrid>
              <a:tr h="3434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Num_art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Nom_art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Precio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705042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3786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Red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35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790520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4011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Raqueta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65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085305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9132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4,75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123549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5794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Paquete 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5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192262"/>
                  </a:ext>
                </a:extLst>
              </a:tr>
              <a:tr h="3434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3141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Funda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422136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B460A679-8AB7-232B-42B9-93C72E367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245359"/>
              </p:ext>
            </p:extLst>
          </p:nvPr>
        </p:nvGraphicFramePr>
        <p:xfrm>
          <a:off x="840236" y="3525911"/>
          <a:ext cx="4198617" cy="1382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9539">
                  <a:extLst>
                    <a:ext uri="{9D8B030D-6E8A-4147-A177-3AD203B41FA5}">
                      <a16:colId xmlns:a16="http://schemas.microsoft.com/office/drawing/2014/main" val="572798201"/>
                    </a:ext>
                  </a:extLst>
                </a:gridCol>
                <a:gridCol w="1399539">
                  <a:extLst>
                    <a:ext uri="{9D8B030D-6E8A-4147-A177-3AD203B41FA5}">
                      <a16:colId xmlns:a16="http://schemas.microsoft.com/office/drawing/2014/main" val="933899015"/>
                    </a:ext>
                  </a:extLst>
                </a:gridCol>
                <a:gridCol w="1399539">
                  <a:extLst>
                    <a:ext uri="{9D8B030D-6E8A-4147-A177-3AD203B41FA5}">
                      <a16:colId xmlns:a16="http://schemas.microsoft.com/office/drawing/2014/main" val="386666423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Id_cliente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 err="1">
                          <a:effectLst/>
                        </a:rPr>
                        <a:t>Nom_cliente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b="1" u="none" strike="noStrike" dirty="0">
                          <a:effectLst/>
                        </a:rPr>
                        <a:t>Estado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72101"/>
                  </a:ext>
                </a:extLst>
              </a:tr>
              <a:tr h="34911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101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Martín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Caracas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314401"/>
                  </a:ext>
                </a:extLst>
              </a:tr>
              <a:tr h="34911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107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Herman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Coro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407789"/>
                  </a:ext>
                </a:extLst>
              </a:tr>
              <a:tr h="34911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110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>
                          <a:effectLst/>
                        </a:rPr>
                        <a:t>Pedro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Maracay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78631"/>
                  </a:ext>
                </a:extLst>
              </a:tr>
            </a:tbl>
          </a:graphicData>
        </a:graphic>
      </p:graphicFrame>
      <p:sp>
        <p:nvSpPr>
          <p:cNvPr id="24" name="CuadroTexto 23">
            <a:extLst>
              <a:ext uri="{FF2B5EF4-FFF2-40B4-BE49-F238E27FC236}">
                <a16:creationId xmlns:a16="http://schemas.microsoft.com/office/drawing/2014/main" id="{580081FC-70B9-50DA-8AE2-3A60AC32847D}"/>
              </a:ext>
            </a:extLst>
          </p:cNvPr>
          <p:cNvSpPr txBox="1"/>
          <p:nvPr/>
        </p:nvSpPr>
        <p:spPr>
          <a:xfrm>
            <a:off x="5619623" y="2182302"/>
            <a:ext cx="1533526" cy="1533526"/>
          </a:xfrm>
          <a:custGeom>
            <a:avLst/>
            <a:gdLst/>
            <a:ahLst/>
            <a:cxnLst/>
            <a:rect l="l" t="t" r="r" b="b"/>
            <a:pathLst>
              <a:path w="1533526" h="1533526">
                <a:moveTo>
                  <a:pt x="375711" y="577706"/>
                </a:moveTo>
                <a:cubicBezTo>
                  <a:pt x="352661" y="577706"/>
                  <a:pt x="331898" y="581639"/>
                  <a:pt x="313422" y="589505"/>
                </a:cubicBezTo>
                <a:cubicBezTo>
                  <a:pt x="294946" y="597371"/>
                  <a:pt x="280265" y="609307"/>
                  <a:pt x="269380" y="625314"/>
                </a:cubicBezTo>
                <a:cubicBezTo>
                  <a:pt x="258496" y="641321"/>
                  <a:pt x="253054" y="661764"/>
                  <a:pt x="253054" y="686643"/>
                </a:cubicBezTo>
                <a:lnTo>
                  <a:pt x="322752" y="686643"/>
                </a:lnTo>
                <a:cubicBezTo>
                  <a:pt x="322752" y="671277"/>
                  <a:pt x="327371" y="659249"/>
                  <a:pt x="336609" y="650559"/>
                </a:cubicBezTo>
                <a:cubicBezTo>
                  <a:pt x="345847" y="641870"/>
                  <a:pt x="358973" y="637525"/>
                  <a:pt x="375986" y="637525"/>
                </a:cubicBezTo>
                <a:cubicBezTo>
                  <a:pt x="391718" y="637525"/>
                  <a:pt x="404020" y="640909"/>
                  <a:pt x="412893" y="647678"/>
                </a:cubicBezTo>
                <a:cubicBezTo>
                  <a:pt x="421765" y="654447"/>
                  <a:pt x="426201" y="664965"/>
                  <a:pt x="426201" y="679234"/>
                </a:cubicBezTo>
                <a:cubicBezTo>
                  <a:pt x="426201" y="693137"/>
                  <a:pt x="421170" y="704342"/>
                  <a:pt x="411109" y="712848"/>
                </a:cubicBezTo>
                <a:cubicBezTo>
                  <a:pt x="401048" y="721355"/>
                  <a:pt x="387785" y="725608"/>
                  <a:pt x="371321" y="725608"/>
                </a:cubicBezTo>
                <a:lnTo>
                  <a:pt x="346899" y="725608"/>
                </a:lnTo>
                <a:lnTo>
                  <a:pt x="346899" y="782684"/>
                </a:lnTo>
                <a:lnTo>
                  <a:pt x="369126" y="782684"/>
                </a:lnTo>
                <a:cubicBezTo>
                  <a:pt x="387419" y="782684"/>
                  <a:pt x="402420" y="786708"/>
                  <a:pt x="414127" y="794757"/>
                </a:cubicBezTo>
                <a:cubicBezTo>
                  <a:pt x="425835" y="802807"/>
                  <a:pt x="431689" y="815795"/>
                  <a:pt x="431689" y="833722"/>
                </a:cubicBezTo>
                <a:cubicBezTo>
                  <a:pt x="431689" y="852199"/>
                  <a:pt x="426979" y="865736"/>
                  <a:pt x="417557" y="874334"/>
                </a:cubicBezTo>
                <a:cubicBezTo>
                  <a:pt x="408136" y="882932"/>
                  <a:pt x="394370" y="887231"/>
                  <a:pt x="376260" y="887231"/>
                </a:cubicBezTo>
                <a:cubicBezTo>
                  <a:pt x="356320" y="887231"/>
                  <a:pt x="340816" y="882154"/>
                  <a:pt x="329749" y="872002"/>
                </a:cubicBezTo>
                <a:cubicBezTo>
                  <a:pt x="318681" y="861849"/>
                  <a:pt x="313148" y="847717"/>
                  <a:pt x="313148" y="829606"/>
                </a:cubicBezTo>
                <a:lnTo>
                  <a:pt x="243449" y="829606"/>
                </a:lnTo>
                <a:cubicBezTo>
                  <a:pt x="243449" y="868937"/>
                  <a:pt x="255066" y="898298"/>
                  <a:pt x="278298" y="917689"/>
                </a:cubicBezTo>
                <a:cubicBezTo>
                  <a:pt x="301531" y="937081"/>
                  <a:pt x="334276" y="946776"/>
                  <a:pt x="376534" y="946776"/>
                </a:cubicBezTo>
                <a:cubicBezTo>
                  <a:pt x="403243" y="946776"/>
                  <a:pt x="426247" y="942660"/>
                  <a:pt x="445546" y="934428"/>
                </a:cubicBezTo>
                <a:cubicBezTo>
                  <a:pt x="464846" y="926196"/>
                  <a:pt x="479755" y="914077"/>
                  <a:pt x="490274" y="898070"/>
                </a:cubicBezTo>
                <a:cubicBezTo>
                  <a:pt x="500793" y="882063"/>
                  <a:pt x="506052" y="862443"/>
                  <a:pt x="506052" y="839211"/>
                </a:cubicBezTo>
                <a:cubicBezTo>
                  <a:pt x="506052" y="813600"/>
                  <a:pt x="499283" y="793797"/>
                  <a:pt x="485746" y="779803"/>
                </a:cubicBezTo>
                <a:cubicBezTo>
                  <a:pt x="472209" y="765808"/>
                  <a:pt x="455196" y="756707"/>
                  <a:pt x="434708" y="752500"/>
                </a:cubicBezTo>
                <a:cubicBezTo>
                  <a:pt x="453550" y="747194"/>
                  <a:pt x="468505" y="738093"/>
                  <a:pt x="479572" y="725197"/>
                </a:cubicBezTo>
                <a:cubicBezTo>
                  <a:pt x="490640" y="712300"/>
                  <a:pt x="496174" y="694784"/>
                  <a:pt x="496174" y="672649"/>
                </a:cubicBezTo>
                <a:cubicBezTo>
                  <a:pt x="496174" y="650696"/>
                  <a:pt x="490640" y="632723"/>
                  <a:pt x="479572" y="618729"/>
                </a:cubicBezTo>
                <a:cubicBezTo>
                  <a:pt x="468505" y="604734"/>
                  <a:pt x="453824" y="594398"/>
                  <a:pt x="435531" y="587721"/>
                </a:cubicBezTo>
                <a:cubicBezTo>
                  <a:pt x="417237" y="581044"/>
                  <a:pt x="397297" y="577706"/>
                  <a:pt x="375711" y="577706"/>
                </a:cubicBezTo>
                <a:close/>
                <a:moveTo>
                  <a:pt x="878569" y="572766"/>
                </a:moveTo>
                <a:lnTo>
                  <a:pt x="878569" y="942111"/>
                </a:lnTo>
                <a:lnTo>
                  <a:pt x="950737" y="942111"/>
                </a:lnTo>
                <a:lnTo>
                  <a:pt x="950737" y="691582"/>
                </a:lnTo>
                <a:lnTo>
                  <a:pt x="1120866" y="942111"/>
                </a:lnTo>
                <a:lnTo>
                  <a:pt x="1196601" y="942111"/>
                </a:lnTo>
                <a:lnTo>
                  <a:pt x="1196601" y="572766"/>
                </a:lnTo>
                <a:lnTo>
                  <a:pt x="1123884" y="572766"/>
                </a:lnTo>
                <a:lnTo>
                  <a:pt x="1123884" y="821649"/>
                </a:lnTo>
                <a:lnTo>
                  <a:pt x="954029" y="572766"/>
                </a:lnTo>
                <a:close/>
                <a:moveTo>
                  <a:pt x="573769" y="572766"/>
                </a:moveTo>
                <a:lnTo>
                  <a:pt x="573769" y="942111"/>
                </a:lnTo>
                <a:lnTo>
                  <a:pt x="650876" y="942111"/>
                </a:lnTo>
                <a:lnTo>
                  <a:pt x="650876" y="784330"/>
                </a:lnTo>
                <a:lnTo>
                  <a:pt x="798230" y="784330"/>
                </a:lnTo>
                <a:lnTo>
                  <a:pt x="798230" y="723139"/>
                </a:lnTo>
                <a:lnTo>
                  <a:pt x="650876" y="723139"/>
                </a:lnTo>
                <a:lnTo>
                  <a:pt x="650876" y="636702"/>
                </a:lnTo>
                <a:lnTo>
                  <a:pt x="815242" y="636702"/>
                </a:lnTo>
                <a:lnTo>
                  <a:pt x="815242" y="572766"/>
                </a:lnTo>
                <a:close/>
                <a:moveTo>
                  <a:pt x="766763" y="0"/>
                </a:moveTo>
                <a:cubicBezTo>
                  <a:pt x="1190235" y="0"/>
                  <a:pt x="1533526" y="343291"/>
                  <a:pt x="1533526" y="766763"/>
                </a:cubicBezTo>
                <a:cubicBezTo>
                  <a:pt x="1533526" y="1190235"/>
                  <a:pt x="1190235" y="1533526"/>
                  <a:pt x="766763" y="1533526"/>
                </a:cubicBezTo>
                <a:cubicBezTo>
                  <a:pt x="343291" y="1533526"/>
                  <a:pt x="0" y="1190235"/>
                  <a:pt x="0" y="766763"/>
                </a:cubicBezTo>
                <a:cubicBezTo>
                  <a:pt x="0" y="343291"/>
                  <a:pt x="343291" y="0"/>
                  <a:pt x="76676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s-ES" sz="2000" b="1" dirty="0"/>
          </a:p>
        </p:txBody>
      </p:sp>
    </p:spTree>
    <p:extLst>
      <p:ext uri="{BB962C8B-B14F-4D97-AF65-F5344CB8AC3E}">
        <p14:creationId xmlns:p14="http://schemas.microsoft.com/office/powerpoint/2010/main" val="132364860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e Office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1825</Words>
  <Application>Microsoft Office PowerPoint</Application>
  <PresentationFormat>Panorámica</PresentationFormat>
  <Paragraphs>889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Tema de Office</vt:lpstr>
      <vt:lpstr>NORMALIZACIÓN</vt:lpstr>
      <vt:lpstr>NORMALIZACIÓN. FORMAS NORMALES</vt:lpstr>
      <vt:lpstr>EJEMPLO. Tabla de datos sin normalizar.</vt:lpstr>
      <vt:lpstr>1FN: Una relación está en 1FN si cada atributo es atómico, es decir, cada celda contiene un solo valor.</vt:lpstr>
      <vt:lpstr>1FN: Una relación está en 1FN si cada atributo es atómico, es decir, cada celda contiene un solo valor.</vt:lpstr>
      <vt:lpstr>1FN: Una relación está en 1FN si cada atributo es atómico, es decir, cada celda contiene un solo valor.</vt:lpstr>
      <vt:lpstr>1FN: Una relación está en 1FN si cada atributo es atómico, es decir, cada celda contiene un solo valor.</vt:lpstr>
      <vt:lpstr>Presentación de PowerPoint</vt:lpstr>
      <vt:lpstr>2FN: Una relación está en 2FN si está en 1FN y todos los atributos no clave dependen funcionalmente de la clave completa.</vt:lpstr>
      <vt:lpstr>2FN: Una relación está en 2FN si está en 1FN y todos los atributos no clave dependen funcionalmente de la clave completa.</vt:lpstr>
      <vt:lpstr>Presentación de PowerPoint</vt:lpstr>
      <vt:lpstr>2FN: Una relación está en 2FN si está en 1FN y todos los atributos no clave dependen funcionalmente de la clave completa.</vt:lpstr>
      <vt:lpstr>2FN: Una relación está en 2FN si está en 1FN y todos los atributos no clave dependen funcionalmente de la clave completa.</vt:lpstr>
      <vt:lpstr>Presentación de PowerPoint</vt:lpstr>
      <vt:lpstr>Una relación está en 3FN si y solo si está en 2FN y no existen dependencias transitivas.  Todas las dependencias funcionales deben ser respecto a la clave principal.</vt:lpstr>
      <vt:lpstr>Una relación está en 3FN si y solo si está en 2FN y no existen dependencias transitivas. Todas las dependencias funcionales deben ser respecto a la clave principal.</vt:lpstr>
      <vt:lpstr>RESULTADO FINAL: 3FN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Nuria Celis Nieto</dc:creator>
  <cp:lastModifiedBy>Nuria Celis Nieto</cp:lastModifiedBy>
  <cp:revision>2</cp:revision>
  <dcterms:created xsi:type="dcterms:W3CDTF">2025-11-05T08:02:34Z</dcterms:created>
  <dcterms:modified xsi:type="dcterms:W3CDTF">2025-11-07T08:59:29Z</dcterms:modified>
</cp:coreProperties>
</file>